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057"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0000"/>
    <a:srgbClr val="FF6600"/>
    <a:srgbClr val="003366"/>
    <a:srgbClr val="1C40A4"/>
    <a:srgbClr val="B481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0538" autoAdjust="0"/>
  </p:normalViewPr>
  <p:slideViewPr>
    <p:cSldViewPr>
      <p:cViewPr varScale="1">
        <p:scale>
          <a:sx n="140" d="100"/>
          <a:sy n="140" d="100"/>
        </p:scale>
        <p:origin x="294" y="108"/>
      </p:cViewPr>
      <p:guideLst>
        <p:guide orient="horz" pos="2160"/>
        <p:guide pos="2880"/>
      </p:guideLst>
    </p:cSldViewPr>
  </p:slideViewPr>
  <p:notesTextViewPr>
    <p:cViewPr>
      <p:scale>
        <a:sx n="100" d="100"/>
        <a:sy n="100" d="100"/>
      </p:scale>
      <p:origin x="0" y="0"/>
    </p:cViewPr>
  </p:notesTextViewPr>
  <p:notesViewPr>
    <p:cSldViewPr>
      <p:cViewPr varScale="1">
        <p:scale>
          <a:sx n="71" d="100"/>
          <a:sy n="71" d="100"/>
        </p:scale>
        <p:origin x="322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B37F6F-E004-4414-8178-04C7568A565A}" type="datetimeFigureOut">
              <a:rPr lang="fr-FR" smtClean="0"/>
              <a:pPr/>
              <a:t>24/09/2026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1274BD-2225-430E-B195-718FE1CD5BBA}" type="slidenum">
              <a:rPr lang="fr-FR" smtClean="0"/>
              <a:pPr/>
              <a:t>‹N°›</a:t>
            </a:fld>
            <a:endParaRPr lang="fr-FR"/>
          </a:p>
        </p:txBody>
      </p:sp>
    </p:spTree>
    <p:extLst>
      <p:ext uri="{BB962C8B-B14F-4D97-AF65-F5344CB8AC3E}">
        <p14:creationId xmlns:p14="http://schemas.microsoft.com/office/powerpoint/2010/main" val="377654560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 VDI répond à des besoins que les sessions partagées ne couvrent pas. Ce module montre comment l’intégrer au déploiement existant d’Avaedos.</a:t>
            </a:r>
          </a:p>
        </p:txBody>
      </p:sp>
      <p:sp>
        <p:nvSpPr>
          <p:cNvPr id="4" name="Slide Number Placeholder 3"/>
          <p:cNvSpPr>
            <a:spLocks noGrp="1"/>
          </p:cNvSpPr>
          <p:nvPr>
            <p:ph type="sldNum" sz="quarter" idx="10"/>
          </p:nvPr>
        </p:nvSpPr>
        <p:spPr/>
        <p:txBody>
          <a:bodyPr/>
          <a:lstStyle/>
          <a:p>
            <a:fld id="{D61274BD-2225-430E-B195-718FE1CD5BBA}"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Pour l’utilisateur, la différence est invisible au quotidien : il se connecte depuis le même portail. Pour l’administrateur, il gère des machines virtuelles au lieu de sessions sur un serveur partagé.</a:t>
            </a:r>
          </a:p>
        </p:txBody>
      </p:sp>
      <p:sp>
        <p:nvSpPr>
          <p:cNvPr id="4" name="Slide Number Placeholder 3"/>
          <p:cNvSpPr>
            <a:spLocks noGrp="1"/>
          </p:cNvSpPr>
          <p:nvPr>
            <p:ph type="sldNum" sz="quarter" idx="10"/>
          </p:nvPr>
        </p:nvSpPr>
        <p:spPr/>
        <p:txBody>
          <a:bodyPr/>
          <a:lstStyle/>
          <a:p>
            <a:fld id="{D61274BD-2225-430E-B195-718FE1CD5BBA}"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Schéma : à gauche, un hôte de session partagé par plusieurs utilisateurs ; à droite, un hôte de virtualisation exécutant une machine virtuelle par utilisateur.</a:t>
            </a:r>
          </a:p>
        </p:txBody>
      </p:sp>
      <p:sp>
        <p:nvSpPr>
          <p:cNvPr id="4" name="Slide Number Placeholder 3"/>
          <p:cNvSpPr>
            <a:spLocks noGrp="1"/>
          </p:cNvSpPr>
          <p:nvPr>
            <p:ph type="sldNum" sz="quarter" idx="10"/>
          </p:nvPr>
        </p:nvSpPr>
        <p:spPr/>
        <p:txBody>
          <a:bodyPr/>
          <a:lstStyle/>
          <a:p>
            <a:fld id="{D61274BD-2225-430E-B195-718FE1CD5BBA}"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Les bureaux de session personnels apportent une réponse intermédiaire : chaque utilisateur reçoit un hôte de session dédié comme bureau, sur Windows Server, sans licence Windows client pour le VDI.</a:t>
            </a:r>
          </a:p>
        </p:txBody>
      </p:sp>
      <p:sp>
        <p:nvSpPr>
          <p:cNvPr id="4" name="Slide Number Placeholder 3"/>
          <p:cNvSpPr>
            <a:spLocks noGrp="1"/>
          </p:cNvSpPr>
          <p:nvPr>
            <p:ph type="sldNum" sz="quarter" idx="10"/>
          </p:nvPr>
        </p:nvSpPr>
        <p:spPr/>
        <p:txBody>
          <a:bodyPr/>
          <a:lstStyle/>
          <a:p>
            <a:fld id="{D61274BD-2225-430E-B195-718FE1CD5BBA}"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 VDI se justifie par un besoin qu’une session partagée ne couvre pas : application qui refuse Windows Server, logiciel installé par l’utilisateur, isolation forte, ressources dédiées. Chez Avaedos, le bureau d’études a besoin d’outils de conception certifiés sur Windows 11 uniquement.</a:t>
            </a:r>
          </a:p>
        </p:txBody>
      </p:sp>
      <p:sp>
        <p:nvSpPr>
          <p:cNvPr id="4" name="Slide Number Placeholder 3"/>
          <p:cNvSpPr>
            <a:spLocks noGrp="1"/>
          </p:cNvSpPr>
          <p:nvPr>
            <p:ph type="sldNum" sz="quarter" idx="10"/>
          </p:nvPr>
        </p:nvSpPr>
        <p:spPr/>
        <p:txBody>
          <a:bodyPr/>
          <a:lstStyle/>
          <a:p>
            <a:fld id="{D61274BD-2225-430E-B195-718FE1CD5BBA}"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Faire comparer le coût d’un poste virtuel à celui d’une session partagée pour le même utilisateur : l’écart justifie de réserver le VDI aux populations qui en ont réellement besoin.</a:t>
            </a:r>
          </a:p>
          <a:p>
            <a:pPr marL="0" lvl="0" indent="0">
              <a:buNone/>
            </a:pPr>
            <a:endParaRPr/>
          </a:p>
          <a:p>
            <a:pPr marL="0" lvl="0" indent="0">
              <a:buNone/>
            </a:pPr>
            <a:r>
              <a:t>Le droit d’accès à Windows client en VDI dépend du contrat (Software Assurance, abonnements Windows Enterprise, licence VDA) : à valider avec le service achats.</a:t>
            </a:r>
          </a:p>
        </p:txBody>
      </p:sp>
      <p:sp>
        <p:nvSpPr>
          <p:cNvPr id="4" name="Slide Number Placeholder 3"/>
          <p:cNvSpPr>
            <a:spLocks noGrp="1"/>
          </p:cNvSpPr>
          <p:nvPr>
            <p:ph type="sldNum" sz="quarter" idx="10"/>
          </p:nvPr>
        </p:nvSpPr>
        <p:spPr/>
        <p:txBody>
          <a:bodyPr/>
          <a:lstStyle/>
          <a:p>
            <a:fld id="{D61274BD-2225-430E-B195-718FE1CD5BBA}"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L’intérêt principal est la continuité : les rôles déployés pour les sessions (accès Web, passerelle, Connection Broker, licences) servent aussi au VDI. Seul l’hôte de virtualisation s’ajoute.</a:t>
            </a:r>
          </a:p>
        </p:txBody>
      </p:sp>
      <p:sp>
        <p:nvSpPr>
          <p:cNvPr id="4" name="Slide Number Placeholder 3"/>
          <p:cNvSpPr>
            <a:spLocks noGrp="1"/>
          </p:cNvSpPr>
          <p:nvPr>
            <p:ph type="sldNum" sz="quarter" idx="10"/>
          </p:nvPr>
        </p:nvSpPr>
        <p:spPr/>
        <p:txBody>
          <a:bodyPr/>
          <a:lstStyle/>
          <a:p>
            <a:fld id="{D61274BD-2225-430E-B195-718FE1CD5BBA}"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 schéma de la diapositive suivante illustre ces composants.</a:t>
            </a:r>
          </a:p>
        </p:txBody>
      </p:sp>
      <p:sp>
        <p:nvSpPr>
          <p:cNvPr id="4" name="Slide Number Placeholder 3"/>
          <p:cNvSpPr>
            <a:spLocks noGrp="1"/>
          </p:cNvSpPr>
          <p:nvPr>
            <p:ph type="sldNum" sz="quarter" idx="10"/>
          </p:nvPr>
        </p:nvSpPr>
        <p:spPr/>
        <p:txBody>
          <a:bodyPr/>
          <a:lstStyle/>
          <a:p>
            <a:fld id="{D61274BD-2225-430E-B195-718FE1CD5BBA}"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Schéma : le client passe par l’accès Web et la passerelle ; le Connection Broker démarre et désigne un poste virtuel sur RDS-HYPERV1, créé à partir du modèle W11-GOLD.</a:t>
            </a:r>
          </a:p>
          <a:p>
            <a:pPr marL="0" lvl="0" indent="0">
              <a:buNone/>
            </a:pPr>
            <a:endParaRPr/>
          </a:p>
          <a:p>
            <a:pPr marL="0" lvl="0" indent="0">
              <a:buNone/>
            </a:pPr>
            <a:r>
              <a:t>Seul l’hôte de virtualisation s’ajoute au déploiement existant : accès Web, passerelle, Connection Broker et licences sont partagés avec les sessions.</a:t>
            </a:r>
          </a:p>
        </p:txBody>
      </p:sp>
      <p:sp>
        <p:nvSpPr>
          <p:cNvPr id="4" name="Slide Number Placeholder 3"/>
          <p:cNvSpPr>
            <a:spLocks noGrp="1"/>
          </p:cNvSpPr>
          <p:nvPr>
            <p:ph type="sldNum" sz="quarter" idx="10"/>
          </p:nvPr>
        </p:nvSpPr>
        <p:spPr/>
        <p:txBody>
          <a:bodyPr/>
          <a:lstStyle/>
          <a:p>
            <a:fld id="{D61274BD-2225-430E-B195-718FE1CD5BBA}"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Schéma : les étapes numérotées entre le client, le Connection Broker, l’hôte de virtualisation et le poste virtuel.</a:t>
            </a:r>
          </a:p>
          <a:p>
            <a:pPr marL="0" lvl="0" indent="0">
              <a:buNone/>
            </a:pPr>
            <a:endParaRPr/>
          </a:p>
          <a:p>
            <a:pPr marL="0" lvl="0" indent="0">
              <a:buNone/>
            </a:pPr>
            <a:r>
              <a:t>Le démarrage à la demande explique le délai parfois observé à la première connexion : la machine virtuelle doit démarrer avant l’ouverture de session.</a:t>
            </a:r>
          </a:p>
        </p:txBody>
      </p:sp>
      <p:sp>
        <p:nvSpPr>
          <p:cNvPr id="4" name="Slide Number Placeholder 3"/>
          <p:cNvSpPr>
            <a:spLocks noGrp="1"/>
          </p:cNvSpPr>
          <p:nvPr>
            <p:ph type="sldNum" sz="quarter" idx="10"/>
          </p:nvPr>
        </p:nvSpPr>
        <p:spPr/>
        <p:txBody>
          <a:bodyPr/>
          <a:lstStyle/>
          <a:p>
            <a:fld id="{D61274BD-2225-430E-B195-718FE1CD5BBA}"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La collection regroupée gérée est la plus économique à exploiter : on met à jour un seul modèle et on recrée les machines. La collection personnelle se gère comme un parc de postes : outil de déploiement de mises à jour, inventaire, sauvegarde.</a:t>
            </a:r>
          </a:p>
        </p:txBody>
      </p:sp>
      <p:sp>
        <p:nvSpPr>
          <p:cNvPr id="4" name="Slide Number Placeholder 3"/>
          <p:cNvSpPr>
            <a:spLocks noGrp="1"/>
          </p:cNvSpPr>
          <p:nvPr>
            <p:ph type="sldNum" sz="quarter" idx="10"/>
          </p:nvPr>
        </p:nvSpPr>
        <p:spPr/>
        <p:txBody>
          <a:bodyPr/>
          <a:lstStyle/>
          <a:p>
            <a:fld id="{D61274BD-2225-430E-B195-718FE1CD5BBA}"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 TPM virtuel est exigé par Windows 11 : sans lui, l’installation échoue.</a:t>
            </a:r>
          </a:p>
          <a:p>
            <a:pPr marL="0" lvl="0" indent="0">
              <a:buNone/>
            </a:pPr>
            <a:endParaRPr/>
          </a:p>
          <a:p>
            <a:pPr marL="0" lvl="0" indent="0">
              <a:buNone/>
            </a:pPr>
            <a:r>
              <a:t>L’hôte Hyper-V qui exécute les machines doit être de la même version que celui qui a créé le modèle. En atelier, le modèle </a:t>
            </a:r>
            <a:r>
              <a:rPr>
                <a:latin typeface="Courier"/>
              </a:rPr>
              <a:t>W11-GOLD</a:t>
            </a:r>
            <a:r>
              <a:t> est fourni prêt à l’emploi pour éviter une préparation longue.</a:t>
            </a:r>
          </a:p>
        </p:txBody>
      </p:sp>
      <p:sp>
        <p:nvSpPr>
          <p:cNvPr id="4" name="Slide Number Placeholder 3"/>
          <p:cNvSpPr>
            <a:spLocks noGrp="1"/>
          </p:cNvSpPr>
          <p:nvPr>
            <p:ph type="sldNum" sz="quarter" idx="10"/>
          </p:nvPr>
        </p:nvSpPr>
        <p:spPr/>
        <p:txBody>
          <a:bodyPr/>
          <a:lstStyle/>
          <a:p>
            <a:fld id="{D61274BD-2225-430E-B195-718FE1CD5BBA}"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Dans l’environnement de formation, RDS-HYPERV1 est une machine virtuelle : la virtualisation imbriquée doit être activée sur l’hôte physique (</a:t>
            </a:r>
            <a:r>
              <a:rPr>
                <a:latin typeface="Courier"/>
              </a:rPr>
              <a:t>Set-VMProcessor -ExposeVirtualizationExtensions $true</a:t>
            </a:r>
            <a:r>
              <a:t>), machine arrêtée.</a:t>
            </a:r>
          </a:p>
        </p:txBody>
      </p:sp>
      <p:sp>
        <p:nvSpPr>
          <p:cNvPr id="4" name="Slide Number Placeholder 3"/>
          <p:cNvSpPr>
            <a:spLocks noGrp="1"/>
          </p:cNvSpPr>
          <p:nvPr>
            <p:ph type="sldNum" sz="quarter" idx="10"/>
          </p:nvPr>
        </p:nvSpPr>
        <p:spPr/>
        <p:txBody>
          <a:bodyPr/>
          <a:lstStyle/>
          <a:p>
            <a:fld id="{D61274BD-2225-430E-B195-718FE1CD5BBA}" type="slidenum">
              <a:rPr lang="en-US"/>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Schéma : du modèle W11-GOLD aux postes VDI-0 et VDI-1, joints au domaine dans l’UO RD VDI.</a:t>
            </a:r>
          </a:p>
          <a:p>
            <a:pPr marL="0" lvl="0" indent="0">
              <a:buNone/>
            </a:pPr>
            <a:endParaRPr/>
          </a:p>
          <a:p>
            <a:pPr marL="0" lvl="0" indent="0">
              <a:buNone/>
            </a:pPr>
            <a:r>
              <a:t>L’assistant de Server Manager propose les mêmes choix : modèle, nombre de machines, préfixe de nom, unité d’organisation, stockage, groupes d’utilisateurs et gestion des profils.</a:t>
            </a:r>
          </a:p>
        </p:txBody>
      </p:sp>
      <p:sp>
        <p:nvSpPr>
          <p:cNvPr id="4" name="Slide Number Placeholder 3"/>
          <p:cNvSpPr>
            <a:spLocks noGrp="1"/>
          </p:cNvSpPr>
          <p:nvPr>
            <p:ph type="sldNum" sz="quarter" idx="10"/>
          </p:nvPr>
        </p:nvSpPr>
        <p:spPr/>
        <p:txBody>
          <a:bodyPr/>
          <a:lstStyle/>
          <a:p>
            <a:fld id="{D61274BD-2225-430E-B195-718FE1CD5BBA}" type="slidenum">
              <a:rPr lang="en-US"/>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Syntaxe à revalider lors de la préparation de l’atelier.</a:t>
            </a:r>
          </a:p>
        </p:txBody>
      </p:sp>
      <p:sp>
        <p:nvSpPr>
          <p:cNvPr id="4" name="Slide Number Placeholder 3"/>
          <p:cNvSpPr>
            <a:spLocks noGrp="1"/>
          </p:cNvSpPr>
          <p:nvPr>
            <p:ph type="sldNum" sz="quarter" idx="10"/>
          </p:nvPr>
        </p:nvSpPr>
        <p:spPr/>
        <p:txBody>
          <a:bodyPr/>
          <a:lstStyle/>
          <a:p>
            <a:fld id="{D61274BD-2225-430E-B195-718FE1CD5BBA}" type="slidenum">
              <a:rPr lang="en-US"/>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C’est l’avantage principal de la collection regroupée gérée : un seul modèle à maintenir.</a:t>
            </a:r>
          </a:p>
          <a:p>
            <a:pPr marL="0" lvl="0" indent="0">
              <a:buNone/>
            </a:pPr>
            <a:endParaRPr/>
          </a:p>
          <a:p>
            <a:pPr marL="0" lvl="0" indent="0">
              <a:buNone/>
            </a:pPr>
            <a:r>
              <a:t>Conserver la version précédente du modèle jusqu’à la validation de la nouvelle, pour pouvoir revenir en arrière.</a:t>
            </a:r>
          </a:p>
        </p:txBody>
      </p:sp>
      <p:sp>
        <p:nvSpPr>
          <p:cNvPr id="4" name="Slide Number Placeholder 3"/>
          <p:cNvSpPr>
            <a:spLocks noGrp="1"/>
          </p:cNvSpPr>
          <p:nvPr>
            <p:ph type="sldNum" sz="quarter" idx="10"/>
          </p:nvPr>
        </p:nvSpPr>
        <p:spPr/>
        <p:txBody>
          <a:bodyPr/>
          <a:lstStyle/>
          <a:p>
            <a:fld id="{D61274BD-2225-430E-B195-718FE1CD5BBA}" type="slidenum">
              <a:rPr lang="en-US"/>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Tous ces composants de Windows Server profitent indirectement à la solution VDI : ils sont déjà connus des administrateurs Windows.</a:t>
            </a:r>
          </a:p>
        </p:txBody>
      </p:sp>
      <p:sp>
        <p:nvSpPr>
          <p:cNvPr id="4" name="Slide Number Placeholder 3"/>
          <p:cNvSpPr>
            <a:spLocks noGrp="1"/>
          </p:cNvSpPr>
          <p:nvPr>
            <p:ph type="sldNum" sz="quarter" idx="10"/>
          </p:nvPr>
        </p:nvSpPr>
        <p:spPr/>
        <p:txBody>
          <a:bodyPr/>
          <a:lstStyle/>
          <a:p>
            <a:fld id="{D61274BD-2225-430E-B195-718FE1CD5BBA}" type="slidenum">
              <a:rPr lang="en-US"/>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Capture à refaire sous Windows Server 2025.</a:t>
            </a:r>
          </a:p>
        </p:txBody>
      </p:sp>
      <p:sp>
        <p:nvSpPr>
          <p:cNvPr id="4" name="Slide Number Placeholder 3"/>
          <p:cNvSpPr>
            <a:spLocks noGrp="1"/>
          </p:cNvSpPr>
          <p:nvPr>
            <p:ph type="sldNum" sz="quarter" idx="10"/>
          </p:nvPr>
        </p:nvSpPr>
        <p:spPr/>
        <p:txBody>
          <a:bodyPr/>
          <a:lstStyle/>
          <a:p>
            <a:fld id="{D61274BD-2225-430E-B195-718FE1CD5BBA}" type="slidenum">
              <a:rPr lang="en-US"/>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Les pics d’entrées-sorties, quand tous les utilisateurs se connectent en même temps, sont la cause principale des lenteurs en VDI. Le démarrage anticipé des machines et un stockage adapté les absorbent.</a:t>
            </a:r>
          </a:p>
          <a:p>
            <a:pPr marL="0" lvl="0" indent="0">
              <a:buNone/>
            </a:pPr>
            <a:endParaRPr/>
          </a:p>
          <a:p>
            <a:pPr marL="0" lvl="0" indent="0">
              <a:buNone/>
            </a:pPr>
            <a:r>
              <a:t>Microsoft publie des recommandations d’optimisation de l’image Windows pour le VDI : les appliquer au modèle avant la généralisation.</a:t>
            </a:r>
          </a:p>
        </p:txBody>
      </p:sp>
      <p:sp>
        <p:nvSpPr>
          <p:cNvPr id="4" name="Slide Number Placeholder 3"/>
          <p:cNvSpPr>
            <a:spLocks noGrp="1"/>
          </p:cNvSpPr>
          <p:nvPr>
            <p:ph type="sldNum" sz="quarter" idx="10"/>
          </p:nvPr>
        </p:nvSpPr>
        <p:spPr/>
        <p:txBody>
          <a:bodyPr/>
          <a:lstStyle/>
          <a:p>
            <a:fld id="{D61274BD-2225-430E-B195-718FE1CD5BBA}" type="slidenum">
              <a:rPr lang="en-US"/>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 VDI RDS reste pertinent pour un nombre limité de postes, sur site, avec des besoins stables. Pour un grand nombre d’utilisateurs, des réunions Teams intensives ou Windows 11 multisession, orienter vers Azure Virtual Desktop.</a:t>
            </a:r>
          </a:p>
        </p:txBody>
      </p:sp>
      <p:sp>
        <p:nvSpPr>
          <p:cNvPr id="4" name="Slide Number Placeholder 3"/>
          <p:cNvSpPr>
            <a:spLocks noGrp="1"/>
          </p:cNvSpPr>
          <p:nvPr>
            <p:ph type="sldNum" sz="quarter" idx="10"/>
          </p:nvPr>
        </p:nvSpPr>
        <p:spPr/>
        <p:txBody>
          <a:bodyPr/>
          <a:lstStyle/>
          <a:p>
            <a:fld id="{D61274BD-2225-430E-B195-718FE1CD5BBA}" type="slidenum">
              <a:rPr lang="en-US"/>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Résultat attendu : Brahim NEDJIMI obtient un poste </a:t>
            </a:r>
            <a:r>
              <a:rPr>
                <a:latin typeface="Courier"/>
              </a:rPr>
              <a:t>VDI</a:t>
            </a:r>
            <a:r>
              <a:t> Windows 11 depuis le même portail que les sessions, et une modification faite dans la machine disparaît après la déconnexion si le retour à l’état initial est activé.</a:t>
            </a:r>
          </a:p>
          <a:p>
            <a:pPr marL="0" lvl="0" indent="0">
              <a:buNone/>
            </a:pPr>
            <a:endParaRPr/>
          </a:p>
          <a:p>
            <a:pPr marL="0" lvl="0" indent="0">
              <a:buNone/>
            </a:pPr>
            <a:r>
              <a:t>Si l’environnement ne permet pas la virtualisation imbriquée, réaliser l’atelier en démonstration formateur.</a:t>
            </a:r>
          </a:p>
        </p:txBody>
      </p:sp>
      <p:sp>
        <p:nvSpPr>
          <p:cNvPr id="4" name="Slide Number Placeholder 3"/>
          <p:cNvSpPr>
            <a:spLocks noGrp="1"/>
          </p:cNvSpPr>
          <p:nvPr>
            <p:ph type="sldNum" sz="quarter" idx="10"/>
          </p:nvPr>
        </p:nvSpPr>
        <p:spPr/>
        <p:txBody>
          <a:bodyPr/>
          <a:lstStyle/>
          <a:p>
            <a:fld id="{D61274BD-2225-430E-B195-718FE1CD5BBA}" type="slidenum">
              <a:rPr lang="en-US"/>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Faire la transition vers la clôture : la plateforme Avaedos est complète, des sessions partagées au VDI.</a:t>
            </a:r>
          </a:p>
        </p:txBody>
      </p:sp>
      <p:sp>
        <p:nvSpPr>
          <p:cNvPr id="4" name="Slide Number Placeholder 3"/>
          <p:cNvSpPr>
            <a:spLocks noGrp="1"/>
          </p:cNvSpPr>
          <p:nvPr>
            <p:ph type="sldNum" sz="quarter" idx="10"/>
          </p:nvPr>
        </p:nvSpPr>
        <p:spPr/>
        <p:txBody>
          <a:bodyPr/>
          <a:lstStyle/>
          <a:p>
            <a:fld id="{D61274BD-2225-430E-B195-718FE1CD5BBA}" type="slidenum">
              <a:rPr lang="en-US"/>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Ref idx="1001">
        <a:schemeClr val="bg1"/>
      </p:bgRef>
    </p:bg>
    <p:spTree>
      <p:nvGrpSpPr>
        <p:cNvPr id="1" name=""/>
        <p:cNvGrpSpPr/>
        <p:nvPr/>
      </p:nvGrpSpPr>
      <p:grpSpPr>
        <a:xfrm>
          <a:off x="0" y="0"/>
          <a:ext cx="0" cy="0"/>
          <a:chOff x="0" y="0"/>
          <a:chExt cx="0" cy="0"/>
        </a:xfrm>
      </p:grpSpPr>
      <p:sp>
        <p:nvSpPr>
          <p:cNvPr id="19" name="Titre 18"/>
          <p:cNvSpPr>
            <a:spLocks noGrp="1"/>
          </p:cNvSpPr>
          <p:nvPr>
            <p:ph type="title" hasCustomPrompt="1"/>
          </p:nvPr>
        </p:nvSpPr>
        <p:spPr>
          <a:xfrm>
            <a:off x="71406" y="5286388"/>
            <a:ext cx="9001188" cy="571504"/>
          </a:xfrm>
          <a:noFill/>
          <a:ln w="9525">
            <a:noFill/>
            <a:miter lim="800000"/>
            <a:headEnd/>
            <a:tailEnd/>
          </a:ln>
        </p:spPr>
        <p:txBody>
          <a:bodyPr anchor="ctr"/>
          <a:lstStyle>
            <a:lvl1pPr marL="0" algn="r" defTabSz="914400" rtl="0" eaLnBrk="1" latinLnBrk="0" hangingPunct="1">
              <a:defRPr lang="fr-FR" sz="2800" b="0" kern="1200" cap="none" spc="0" baseline="0" dirty="0">
                <a:ln>
                  <a:noFill/>
                </a:ln>
                <a:solidFill>
                  <a:srgbClr val="000000"/>
                </a:solidFill>
                <a:effectLst/>
                <a:latin typeface="Arial" pitchFamily="34" charset="0"/>
                <a:ea typeface="+mn-ea"/>
                <a:cs typeface="Arial" pitchFamily="34" charset="0"/>
              </a:defRPr>
            </a:lvl1pPr>
          </a:lstStyle>
          <a:p>
            <a:r>
              <a:rPr lang="fr-FR" dirty="0"/>
              <a:t>MODULE : Titre du module</a:t>
            </a:r>
          </a:p>
        </p:txBody>
      </p:sp>
      <p:sp>
        <p:nvSpPr>
          <p:cNvPr id="7" name="Espace réservé du pied de page 13"/>
          <p:cNvSpPr txBox="1">
            <a:spLocks/>
          </p:cNvSpPr>
          <p:nvPr userDrawn="1"/>
        </p:nvSpPr>
        <p:spPr>
          <a:xfrm>
            <a:off x="6000728" y="6476998"/>
            <a:ext cx="3070678" cy="381002"/>
          </a:xfrm>
          <a:prstGeom prst="rect">
            <a:avLst/>
          </a:prstGeom>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effectLst/>
                <a:uLnTx/>
                <a:uFillTx/>
                <a:latin typeface="Arial" pitchFamily="34" charset="0"/>
                <a:cs typeface="Arial" pitchFamily="34" charset="0"/>
              </a:rPr>
              <a:t>Copyright © AVAEDOS. All rights reserved</a:t>
            </a:r>
            <a:endParaRPr kumimoji="0" lang="fr-BE" sz="1000" b="1" i="0" u="none" strike="noStrike" kern="1200" cap="none" spc="0" normalizeH="0" baseline="0" noProof="0" dirty="0">
              <a:ln>
                <a:noFill/>
              </a:ln>
              <a:effectLst/>
              <a:uLnTx/>
              <a:uFillTx/>
              <a:latin typeface="Arial" pitchFamily="34" charset="0"/>
              <a:cs typeface="Arial" pitchFamily="34" charset="0"/>
            </a:endParaRPr>
          </a:p>
        </p:txBody>
      </p:sp>
      <p:sp>
        <p:nvSpPr>
          <p:cNvPr id="4" name="Text Placeholder 3"/>
          <p:cNvSpPr>
            <a:spLocks noGrp="1"/>
          </p:cNvSpPr>
          <p:nvPr>
            <p:ph type="body" sz="quarter" idx="10" hasCustomPrompt="1"/>
          </p:nvPr>
        </p:nvSpPr>
        <p:spPr>
          <a:xfrm>
            <a:off x="71406" y="5893635"/>
            <a:ext cx="9000000" cy="360000"/>
          </a:xfrm>
        </p:spPr>
        <p:txBody>
          <a:bodyPr>
            <a:noAutofit/>
          </a:bodyPr>
          <a:lstStyle>
            <a:lvl1pPr marL="0" indent="0" algn="r" defTabSz="900000">
              <a:buNone/>
              <a:defRPr lang="en-US" sz="1600" b="1" kern="1200" dirty="0" smtClean="0">
                <a:solidFill>
                  <a:srgbClr val="FF9900"/>
                </a:solidFill>
                <a:latin typeface="Arial" pitchFamily="34" charset="0"/>
                <a:ea typeface="+mn-ea"/>
                <a:cs typeface="Arial" pitchFamily="34" charset="0"/>
              </a:defRPr>
            </a:lvl1pPr>
            <a:lvl2pPr>
              <a:defRPr sz="1100" b="1"/>
            </a:lvl2pPr>
            <a:lvl3pPr>
              <a:defRPr sz="1050" b="1"/>
            </a:lvl3pPr>
            <a:lvl4pPr>
              <a:defRPr sz="1000" b="1"/>
            </a:lvl4pPr>
            <a:lvl5pPr>
              <a:defRPr sz="1000" b="1"/>
            </a:lvl5pPr>
          </a:lstStyle>
          <a:p>
            <a:pPr lvl="0"/>
            <a:r>
              <a:rPr lang="fr-FR" noProof="0" dirty="0"/>
              <a:t>Titre de la formation</a:t>
            </a:r>
          </a:p>
        </p:txBody>
      </p:sp>
      <p:sp>
        <p:nvSpPr>
          <p:cNvPr id="10" name="Rectangle 9"/>
          <p:cNvSpPr/>
          <p:nvPr userDrawn="1"/>
        </p:nvSpPr>
        <p:spPr>
          <a:xfrm>
            <a:off x="0" y="5759"/>
            <a:ext cx="9144000" cy="5057265"/>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54588" y="1635622"/>
            <a:ext cx="4033636" cy="1498988"/>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 grpId="0" build="p">
        <p:tmplLst>
          <p:tmpl lvl="1">
            <p:tnLst>
              <p:par>
                <p:cTn presetID="2" presetClass="entr" presetSubtype="2" fill="hold" nodeType="after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1+#ppt_w/2"/>
                          </p:val>
                        </p:tav>
                        <p:tav tm="100000">
                          <p:val>
                            <p:strVal val="#ppt_x"/>
                          </p:val>
                        </p:tav>
                      </p:tavLst>
                    </p:anim>
                    <p:anim calcmode="lin" valueType="num">
                      <p:cBhvr additive="base">
                        <p:cTn dur="500" fill="hold"/>
                        <p:tgtEl>
                          <p:spTgt spid="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Espace réservé du numéro de diapositive 11"/>
          <p:cNvSpPr>
            <a:spLocks noGrp="1"/>
          </p:cNvSpPr>
          <p:nvPr>
            <p:ph type="sldNum" sz="quarter" idx="10"/>
          </p:nvPr>
        </p:nvSpPr>
        <p:spPr/>
        <p:txBody>
          <a:bodyPr/>
          <a:lstStyle/>
          <a:p>
            <a:fld id="{CF4668DC-857F-487D-BFFA-8C0CA5037977}" type="slidenum">
              <a:rPr lang="fr-BE" smtClean="0"/>
              <a:pPr/>
              <a:t>‹N°›</a:t>
            </a:fld>
            <a:endParaRPr lang="fr-BE"/>
          </a:p>
        </p:txBody>
      </p:sp>
      <p:sp>
        <p:nvSpPr>
          <p:cNvPr id="6" name="Espace réservé du contenu 2"/>
          <p:cNvSpPr>
            <a:spLocks noGrp="1"/>
          </p:cNvSpPr>
          <p:nvPr>
            <p:ph idx="1"/>
          </p:nvPr>
        </p:nvSpPr>
        <p:spPr>
          <a:xfrm>
            <a:off x="71406" y="1500174"/>
            <a:ext cx="9001188" cy="4929221"/>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p:txBody>
          <a:bodyPr/>
          <a:lstStyle/>
          <a:p>
            <a:r>
              <a:rPr lang="en-US"/>
              <a:t>Click to edit Master title style</a:t>
            </a:r>
            <a:endParaRPr lang="fr-F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71406" y="1500174"/>
            <a:ext cx="4320000" cy="492922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Espace réservé du contenu 3"/>
          <p:cNvSpPr>
            <a:spLocks noGrp="1"/>
          </p:cNvSpPr>
          <p:nvPr>
            <p:ph sz="half" idx="2"/>
          </p:nvPr>
        </p:nvSpPr>
        <p:spPr>
          <a:xfrm>
            <a:off x="4750388" y="1500174"/>
            <a:ext cx="4320000" cy="49292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
        <p:nvSpPr>
          <p:cNvPr id="8" name="Titre 7"/>
          <p:cNvSpPr>
            <a:spLocks noGrp="1"/>
          </p:cNvSpPr>
          <p:nvPr>
            <p:ph type="title"/>
          </p:nvPr>
        </p:nvSpPr>
        <p:spPr/>
        <p:txBody>
          <a:bodyPr/>
          <a:lstStyle/>
          <a:p>
            <a:r>
              <a:rPr lang="en-US"/>
              <a:t>Click to edit Master title style</a:t>
            </a:r>
            <a:endParaRPr lang="fr-F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1 colonne à gauche et 2 blocs à droit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en-US"/>
              <a:t>Click to edit Master title style</a:t>
            </a:r>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‹N°›</a:t>
            </a:fld>
            <a:endParaRPr lang="fr-BE"/>
          </a:p>
        </p:txBody>
      </p:sp>
      <p:sp>
        <p:nvSpPr>
          <p:cNvPr id="6" name="Espace réservé du contenu 2"/>
          <p:cNvSpPr>
            <a:spLocks noGrp="1"/>
          </p:cNvSpPr>
          <p:nvPr>
            <p:ph sz="half" idx="1"/>
          </p:nvPr>
        </p:nvSpPr>
        <p:spPr>
          <a:xfrm>
            <a:off x="71406" y="1500174"/>
            <a:ext cx="4320000" cy="492922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3"/>
          <p:cNvSpPr>
            <a:spLocks noGrp="1"/>
          </p:cNvSpPr>
          <p:nvPr>
            <p:ph sz="half" idx="2"/>
          </p:nvPr>
        </p:nvSpPr>
        <p:spPr>
          <a:xfrm>
            <a:off x="4750388" y="150017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8" name="Espace réservé du contenu 3"/>
          <p:cNvSpPr>
            <a:spLocks noGrp="1"/>
          </p:cNvSpPr>
          <p:nvPr>
            <p:ph sz="half" idx="14"/>
          </p:nvPr>
        </p:nvSpPr>
        <p:spPr>
          <a:xfrm>
            <a:off x="4750388" y="400050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1 colonne à droite et 2 blocs à gauch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4" name="Espace réservé du numéro de diapositive 3"/>
          <p:cNvSpPr>
            <a:spLocks noGrp="1"/>
          </p:cNvSpPr>
          <p:nvPr>
            <p:ph type="sldNum" sz="quarter" idx="11"/>
          </p:nvPr>
        </p:nvSpPr>
        <p:spPr/>
        <p:txBody>
          <a:bodyPr/>
          <a:lstStyle/>
          <a:p>
            <a:fld id="{CF4668DC-857F-487D-BFFA-8C0CA5037977}" type="slidenum">
              <a:rPr lang="fr-BE" smtClean="0"/>
              <a:pPr/>
              <a:t>‹N°›</a:t>
            </a:fld>
            <a:endParaRPr lang="fr-BE"/>
          </a:p>
        </p:txBody>
      </p:sp>
      <p:sp>
        <p:nvSpPr>
          <p:cNvPr id="5" name="Espace réservé du contenu 3"/>
          <p:cNvSpPr>
            <a:spLocks noGrp="1"/>
          </p:cNvSpPr>
          <p:nvPr>
            <p:ph sz="half" idx="2"/>
          </p:nvPr>
        </p:nvSpPr>
        <p:spPr>
          <a:xfrm>
            <a:off x="4750388" y="1500174"/>
            <a:ext cx="4320000" cy="49292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6" name="Espace réservé du contenu 2"/>
          <p:cNvSpPr>
            <a:spLocks noGrp="1"/>
          </p:cNvSpPr>
          <p:nvPr>
            <p:ph sz="half" idx="1"/>
          </p:nvPr>
        </p:nvSpPr>
        <p:spPr>
          <a:xfrm>
            <a:off x="71406" y="150017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2"/>
          <p:cNvSpPr>
            <a:spLocks noGrp="1"/>
          </p:cNvSpPr>
          <p:nvPr>
            <p:ph sz="half" idx="13"/>
          </p:nvPr>
        </p:nvSpPr>
        <p:spPr>
          <a:xfrm>
            <a:off x="71406" y="400050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extLst/>
          </a:lstStyle>
          <a:p>
            <a:r>
              <a:rPr kumimoji="0" lang="en-US"/>
              <a:t>Click to edit Master title style</a:t>
            </a:r>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‹N°›</a:t>
            </a:fld>
            <a:endParaRPr lang="fr-BE"/>
          </a:p>
        </p:txBody>
      </p:sp>
      <p:sp>
        <p:nvSpPr>
          <p:cNvPr id="10" name="Espace réservé du contenu 2"/>
          <p:cNvSpPr>
            <a:spLocks noGrp="1"/>
          </p:cNvSpPr>
          <p:nvPr>
            <p:ph sz="half" idx="1"/>
          </p:nvPr>
        </p:nvSpPr>
        <p:spPr>
          <a:xfrm>
            <a:off x="71406" y="150017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11" name="Espace réservé du contenu 3"/>
          <p:cNvSpPr>
            <a:spLocks noGrp="1"/>
          </p:cNvSpPr>
          <p:nvPr>
            <p:ph sz="half" idx="2"/>
          </p:nvPr>
        </p:nvSpPr>
        <p:spPr>
          <a:xfrm>
            <a:off x="4750388" y="150017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12" name="Espace réservé du contenu 2"/>
          <p:cNvSpPr>
            <a:spLocks noGrp="1"/>
          </p:cNvSpPr>
          <p:nvPr>
            <p:ph sz="half" idx="13"/>
          </p:nvPr>
        </p:nvSpPr>
        <p:spPr>
          <a:xfrm>
            <a:off x="71406" y="400050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13" name="Espace réservé du contenu 3"/>
          <p:cNvSpPr>
            <a:spLocks noGrp="1"/>
          </p:cNvSpPr>
          <p:nvPr>
            <p:ph sz="half" idx="14"/>
          </p:nvPr>
        </p:nvSpPr>
        <p:spPr>
          <a:xfrm>
            <a:off x="4750388" y="400050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4" name="Espace réservé du numéro de diapositive 3"/>
          <p:cNvSpPr>
            <a:spLocks noGrp="1"/>
          </p:cNvSpPr>
          <p:nvPr>
            <p:ph type="sldNum" sz="quarter" idx="11"/>
          </p:nvPr>
        </p:nvSpPr>
        <p:spPr/>
        <p:txBody>
          <a:bodyPr/>
          <a:lstStyle/>
          <a:p>
            <a:fld id="{CF4668DC-857F-487D-BFFA-8C0CA5037977}" type="slidenum">
              <a:rPr lang="fr-BE" smtClean="0"/>
              <a:pPr/>
              <a:t>‹N°›</a:t>
            </a:fld>
            <a:endParaRPr lang="fr-BE"/>
          </a:p>
        </p:txBody>
      </p:sp>
      <p:sp>
        <p:nvSpPr>
          <p:cNvPr id="5" name="Espace réservé du contenu 2"/>
          <p:cNvSpPr>
            <a:spLocks noGrp="1"/>
          </p:cNvSpPr>
          <p:nvPr>
            <p:ph sz="half" idx="1"/>
          </p:nvPr>
        </p:nvSpPr>
        <p:spPr>
          <a:xfrm>
            <a:off x="71406" y="1500174"/>
            <a:ext cx="9001188"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2"/>
          <p:cNvSpPr>
            <a:spLocks noGrp="1"/>
          </p:cNvSpPr>
          <p:nvPr>
            <p:ph sz="half" idx="13"/>
          </p:nvPr>
        </p:nvSpPr>
        <p:spPr>
          <a:xfrm>
            <a:off x="71406" y="4000504"/>
            <a:ext cx="9001188"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1 ligne en haut et 2 blocs en ba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4" name="Espace réservé du numéro de diapositive 3"/>
          <p:cNvSpPr>
            <a:spLocks noGrp="1"/>
          </p:cNvSpPr>
          <p:nvPr>
            <p:ph type="sldNum" sz="quarter" idx="11"/>
          </p:nvPr>
        </p:nvSpPr>
        <p:spPr/>
        <p:txBody>
          <a:bodyPr/>
          <a:lstStyle/>
          <a:p>
            <a:fld id="{CF4668DC-857F-487D-BFFA-8C0CA5037977}" type="slidenum">
              <a:rPr lang="fr-BE" smtClean="0"/>
              <a:pPr/>
              <a:t>‹N°›</a:t>
            </a:fld>
            <a:endParaRPr lang="fr-BE"/>
          </a:p>
        </p:txBody>
      </p:sp>
      <p:sp>
        <p:nvSpPr>
          <p:cNvPr id="5" name="Espace réservé du contenu 2"/>
          <p:cNvSpPr>
            <a:spLocks noGrp="1"/>
          </p:cNvSpPr>
          <p:nvPr>
            <p:ph sz="half" idx="1"/>
          </p:nvPr>
        </p:nvSpPr>
        <p:spPr>
          <a:xfrm>
            <a:off x="71406" y="1500174"/>
            <a:ext cx="9001188"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6" name="Espace réservé du contenu 2"/>
          <p:cNvSpPr>
            <a:spLocks noGrp="1"/>
          </p:cNvSpPr>
          <p:nvPr>
            <p:ph sz="half" idx="13"/>
          </p:nvPr>
        </p:nvSpPr>
        <p:spPr>
          <a:xfrm>
            <a:off x="71406" y="400050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3"/>
          <p:cNvSpPr>
            <a:spLocks noGrp="1"/>
          </p:cNvSpPr>
          <p:nvPr>
            <p:ph sz="half" idx="14"/>
          </p:nvPr>
        </p:nvSpPr>
        <p:spPr>
          <a:xfrm>
            <a:off x="4750388" y="400050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1 ligne en bas et 2 blocs en haut">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4" name="Espace réservé du numéro de diapositive 3"/>
          <p:cNvSpPr>
            <a:spLocks noGrp="1"/>
          </p:cNvSpPr>
          <p:nvPr>
            <p:ph type="sldNum" sz="quarter" idx="11"/>
          </p:nvPr>
        </p:nvSpPr>
        <p:spPr/>
        <p:txBody>
          <a:bodyPr/>
          <a:lstStyle/>
          <a:p>
            <a:fld id="{CF4668DC-857F-487D-BFFA-8C0CA5037977}" type="slidenum">
              <a:rPr lang="fr-BE" smtClean="0"/>
              <a:pPr/>
              <a:t>‹N°›</a:t>
            </a:fld>
            <a:endParaRPr lang="fr-BE"/>
          </a:p>
        </p:txBody>
      </p:sp>
      <p:sp>
        <p:nvSpPr>
          <p:cNvPr id="5" name="Espace réservé du contenu 2"/>
          <p:cNvSpPr>
            <a:spLocks noGrp="1"/>
          </p:cNvSpPr>
          <p:nvPr>
            <p:ph sz="half" idx="13"/>
          </p:nvPr>
        </p:nvSpPr>
        <p:spPr>
          <a:xfrm>
            <a:off x="71406" y="4000504"/>
            <a:ext cx="9001188"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6" name="Espace réservé du contenu 2"/>
          <p:cNvSpPr>
            <a:spLocks noGrp="1"/>
          </p:cNvSpPr>
          <p:nvPr>
            <p:ph sz="half" idx="1"/>
          </p:nvPr>
        </p:nvSpPr>
        <p:spPr>
          <a:xfrm>
            <a:off x="71406" y="150017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3"/>
          <p:cNvSpPr>
            <a:spLocks noGrp="1"/>
          </p:cNvSpPr>
          <p:nvPr>
            <p:ph sz="half" idx="2"/>
          </p:nvPr>
        </p:nvSpPr>
        <p:spPr>
          <a:xfrm>
            <a:off x="4750388" y="150017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Slide Number Placeholder 2"/>
          <p:cNvSpPr>
            <a:spLocks noGrp="1"/>
          </p:cNvSpPr>
          <p:nvPr>
            <p:ph type="sldNum" sz="quarter" idx="10"/>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262755647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fr-FR" noProof="0" dirty="0"/>
              <a:t>Avez-vous des questions ?</a:t>
            </a:r>
          </a:p>
        </p:txBody>
      </p:sp>
      <p:pic>
        <p:nvPicPr>
          <p:cNvPr id="4" name="Picture 5" descr="questionmark"/>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07407" y="1500188"/>
            <a:ext cx="4929187" cy="4929187"/>
          </a:xfrm>
          <a:prstGeom prst="rect">
            <a:avLst/>
          </a:prstGeom>
        </p:spPr>
      </p:pic>
    </p:spTree>
    <p:extLst>
      <p:ext uri="{BB962C8B-B14F-4D97-AF65-F5344CB8AC3E}">
        <p14:creationId xmlns:p14="http://schemas.microsoft.com/office/powerpoint/2010/main" val="2027132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4" name="Groupe 9"/>
          <p:cNvGrpSpPr/>
          <p:nvPr userDrawn="1"/>
        </p:nvGrpSpPr>
        <p:grpSpPr>
          <a:xfrm>
            <a:off x="285720" y="428604"/>
            <a:ext cx="8643998" cy="5929354"/>
            <a:chOff x="285720" y="428604"/>
            <a:chExt cx="8643998" cy="5929354"/>
          </a:xfrm>
        </p:grpSpPr>
        <p:pic>
          <p:nvPicPr>
            <p:cNvPr id="5" name="Picture 4" descr="C:\Users\EGILIAlearning\Desktop\EGILIA ACADEMY Marie\LOGOS\fond diplome.jpg"/>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285720" y="428604"/>
              <a:ext cx="8643998" cy="5929354"/>
            </a:xfrm>
            <a:prstGeom prst="rect">
              <a:avLst/>
            </a:prstGeom>
            <a:noFill/>
            <a:ln>
              <a:noFill/>
            </a:ln>
          </p:spPr>
        </p:pic>
        <p:sp>
          <p:nvSpPr>
            <p:cNvPr id="6" name="Rectangle 71"/>
            <p:cNvSpPr>
              <a:spLocks noChangeArrowheads="1"/>
            </p:cNvSpPr>
            <p:nvPr/>
          </p:nvSpPr>
          <p:spPr bwMode="auto">
            <a:xfrm>
              <a:off x="1285853" y="1214422"/>
              <a:ext cx="6715172" cy="4429156"/>
            </a:xfrm>
            <a:prstGeom prst="rect">
              <a:avLst/>
            </a:prstGeom>
            <a:solidFill>
              <a:srgbClr val="FFFFFF"/>
            </a:solidFill>
            <a:ln w="12700" algn="ctr">
              <a:solidFill>
                <a:srgbClr val="80808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sp>
        <p:nvSpPr>
          <p:cNvPr id="8" name="Rectangle 2"/>
          <p:cNvSpPr txBox="1">
            <a:spLocks noChangeArrowheads="1"/>
          </p:cNvSpPr>
          <p:nvPr userDrawn="1"/>
        </p:nvSpPr>
        <p:spPr bwMode="auto">
          <a:xfrm>
            <a:off x="1357290" y="2691466"/>
            <a:ext cx="6586538" cy="553998"/>
          </a:xfrm>
          <a:prstGeom prst="rect">
            <a:avLst/>
          </a:prstGeom>
          <a:noFill/>
          <a:ln w="12700" algn="ctr">
            <a:noFill/>
            <a:miter lim="800000"/>
            <a:headEnd/>
            <a:tailEnd/>
          </a:ln>
          <a:effectLst/>
        </p:spPr>
        <p:txBody>
          <a:bodyPr>
            <a:spAutoFit/>
          </a:bodyPr>
          <a:lstStyle/>
          <a:p>
            <a:pPr marR="0" lvl="0" indent="0" algn="ctr" fontAlgn="base">
              <a:lnSpc>
                <a:spcPct val="100000"/>
              </a:lnSpc>
              <a:spcBef>
                <a:spcPct val="50000"/>
              </a:spcBef>
              <a:spcAft>
                <a:spcPct val="0"/>
              </a:spcAft>
              <a:buClrTx/>
              <a:buSzTx/>
              <a:buFontTx/>
              <a:buNone/>
              <a:tabLst/>
              <a:defRPr/>
            </a:pPr>
            <a:r>
              <a:rPr lang="fr-FR" sz="3000" b="1" dirty="0">
                <a:latin typeface="Arial" pitchFamily="34" charset="0"/>
                <a:cs typeface="Arial" pitchFamily="34" charset="0"/>
              </a:rPr>
              <a:t>Félicitations</a:t>
            </a:r>
          </a:p>
        </p:txBody>
      </p:sp>
      <p:sp>
        <p:nvSpPr>
          <p:cNvPr id="11" name="Title 10"/>
          <p:cNvSpPr>
            <a:spLocks noGrp="1"/>
          </p:cNvSpPr>
          <p:nvPr>
            <p:ph type="title" hasCustomPrompt="1"/>
          </p:nvPr>
        </p:nvSpPr>
        <p:spPr>
          <a:xfrm>
            <a:off x="1357290" y="4383107"/>
            <a:ext cx="6586538" cy="928694"/>
          </a:xfrm>
        </p:spPr>
        <p:txBody>
          <a:bodyPr/>
          <a:lstStyle>
            <a:lvl1pPr algn="ctr">
              <a:defRPr b="0" i="0" baseline="0">
                <a:ln w="18415" cmpd="sng">
                  <a:noFill/>
                  <a:prstDash val="solid"/>
                </a:ln>
                <a:solidFill>
                  <a:srgbClr val="FF9900"/>
                </a:solidFill>
                <a:effectLst>
                  <a:reflection blurRad="6350" stA="55000" endA="50" endPos="85000" dir="5400000" sy="-100000" algn="bl" rotWithShape="0"/>
                </a:effectLst>
              </a:defRPr>
            </a:lvl1pPr>
          </a:lstStyle>
          <a:p>
            <a:pPr algn="ctr">
              <a:spcBef>
                <a:spcPct val="50000"/>
              </a:spcBef>
            </a:pPr>
            <a:r>
              <a:rPr lang="fr-FR" sz="3200" b="1" dirty="0">
                <a:solidFill>
                  <a:srgbClr val="FF9900"/>
                </a:solidFill>
                <a:latin typeface="Arial" pitchFamily="34" charset="0"/>
                <a:cs typeface="Arial" pitchFamily="34" charset="0"/>
              </a:rPr>
              <a:t>Titre du Module</a:t>
            </a:r>
            <a:endParaRPr lang="fr-FR" sz="3200" dirty="0">
              <a:solidFill>
                <a:srgbClr val="FF9900"/>
              </a:solidFill>
              <a:latin typeface="Arial" pitchFamily="34" charset="0"/>
              <a:cs typeface="Arial" pitchFamily="34" charset="0"/>
            </a:endParaRPr>
          </a:p>
        </p:txBody>
      </p:sp>
      <p:sp>
        <p:nvSpPr>
          <p:cNvPr id="10" name="Text Box 77"/>
          <p:cNvSpPr txBox="1">
            <a:spLocks noChangeArrowheads="1"/>
          </p:cNvSpPr>
          <p:nvPr userDrawn="1"/>
        </p:nvSpPr>
        <p:spPr bwMode="auto">
          <a:xfrm>
            <a:off x="1928024" y="3429000"/>
            <a:ext cx="5329237" cy="954107"/>
          </a:xfrm>
          <a:prstGeom prst="rect">
            <a:avLst/>
          </a:prstGeom>
          <a:noFill/>
          <a:ln w="12700" algn="ctr">
            <a:noFill/>
            <a:miter lim="800000"/>
            <a:headEnd/>
            <a:tailEnd/>
          </a:ln>
          <a:effectLst/>
        </p:spPr>
        <p:txBody>
          <a:bodyPr>
            <a:spAutoFit/>
          </a:bodyPr>
          <a:lstStyle/>
          <a:p>
            <a:pPr algn="ctr">
              <a:spcBef>
                <a:spcPct val="50000"/>
              </a:spcBef>
            </a:pPr>
            <a:r>
              <a:rPr lang="fr-FR" sz="2800" u="none" dirty="0">
                <a:latin typeface="Arial" pitchFamily="34" charset="0"/>
                <a:cs typeface="Arial" pitchFamily="34" charset="0"/>
              </a:rPr>
              <a:t>Vous avez suivi avec succès le module</a:t>
            </a:r>
            <a:endParaRPr lang="fr-FR" sz="3200" u="none" dirty="0">
              <a:solidFill>
                <a:srgbClr val="FF9900"/>
              </a:solidFill>
              <a:latin typeface="Arial" pitchFamily="34" charset="0"/>
              <a:cs typeface="Arial" pitchFamily="34" charset="0"/>
            </a:endParaRPr>
          </a:p>
        </p:txBody>
      </p:sp>
      <p:pic>
        <p:nvPicPr>
          <p:cNvPr id="9"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554588" y="1635622"/>
            <a:ext cx="4033636" cy="1498988"/>
          </a:xfrm>
          <a:prstGeom prst="rect">
            <a:avLst/>
          </a:prstGeom>
        </p:spPr>
      </p:pic>
    </p:spTree>
    <p:extLst>
      <p:ext uri="{BB962C8B-B14F-4D97-AF65-F5344CB8AC3E}">
        <p14:creationId xmlns:p14="http://schemas.microsoft.com/office/powerpoint/2010/main" val="22463331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 4"/>
          <p:cNvSpPr/>
          <p:nvPr userDrawn="1"/>
        </p:nvSpPr>
        <p:spPr>
          <a:xfrm>
            <a:off x="0" y="5760"/>
            <a:ext cx="9144000" cy="1351538"/>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a:p>
        </p:txBody>
      </p:sp>
      <p:pic>
        <p:nvPicPr>
          <p:cNvPr id="11" name="Picture 10" descr="C:\Users\EGILIAlearning\Desktop\EGILIA ACADEMY Marie\LOGOS\Essai bandeau bas 1.png"/>
          <p:cNvPicPr>
            <a:picLocks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6500834"/>
            <a:ext cx="9144000" cy="360000"/>
          </a:xfrm>
          <a:prstGeom prst="rect">
            <a:avLst/>
          </a:prstGeom>
          <a:noFill/>
        </p:spPr>
      </p:pic>
      <p:sp>
        <p:nvSpPr>
          <p:cNvPr id="4" name="TextBox 3"/>
          <p:cNvSpPr txBox="1"/>
          <p:nvPr userDrawn="1"/>
        </p:nvSpPr>
        <p:spPr>
          <a:xfrm>
            <a:off x="0" y="6596390"/>
            <a:ext cx="9144000" cy="261610"/>
          </a:xfrm>
          <a:prstGeom prst="rect">
            <a:avLst/>
          </a:prstGeom>
          <a:noFill/>
        </p:spPr>
        <p:txBody>
          <a:bodyPr wrap="square" rtlCol="0" anchor="b">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Copyright © AVAEDOS. All rights reserved</a:t>
            </a:r>
          </a:p>
        </p:txBody>
      </p:sp>
      <p:sp>
        <p:nvSpPr>
          <p:cNvPr id="2" name="Espace réservé du titre 1"/>
          <p:cNvSpPr>
            <a:spLocks noGrp="1"/>
          </p:cNvSpPr>
          <p:nvPr>
            <p:ph type="title"/>
          </p:nvPr>
        </p:nvSpPr>
        <p:spPr>
          <a:xfrm>
            <a:off x="71406" y="428604"/>
            <a:ext cx="7715304" cy="928694"/>
          </a:xfrm>
          <a:prstGeom prst="rect">
            <a:avLst/>
          </a:prstGeom>
          <a:noFill/>
        </p:spPr>
        <p:txBody>
          <a:bodyPr vert="horz" lIns="91440" rIns="45720" rtlCol="0" anchor="ctr">
            <a:noAutofit/>
          </a:bodyPr>
          <a:lstStyle/>
          <a:p>
            <a:r>
              <a:rPr kumimoji="0" lang="fr-FR" dirty="0"/>
              <a:t>Cliquez pour modifier le style du titre</a:t>
            </a:r>
            <a:endParaRPr kumimoji="0" lang="en-US" dirty="0"/>
          </a:p>
        </p:txBody>
      </p:sp>
      <p:sp>
        <p:nvSpPr>
          <p:cNvPr id="3" name="Espace réservé du texte 2"/>
          <p:cNvSpPr>
            <a:spLocks noGrp="1"/>
          </p:cNvSpPr>
          <p:nvPr>
            <p:ph type="body" idx="1"/>
          </p:nvPr>
        </p:nvSpPr>
        <p:spPr>
          <a:xfrm>
            <a:off x="71406" y="1500174"/>
            <a:ext cx="9001188" cy="4929222"/>
          </a:xfrm>
          <a:prstGeom prst="rect">
            <a:avLst/>
          </a:prstGeom>
        </p:spPr>
        <p:txBody>
          <a:bodyPr vert="horz" lIns="54864" tIns="91440" rtlCol="0">
            <a:normAutofit/>
          </a:bodyPr>
          <a:lstStyle/>
          <a:p>
            <a:pPr lvl="0" eaLnBrk="1" latinLnBrk="0" hangingPunct="1"/>
            <a:r>
              <a:rPr kumimoji="0" lang="fr-FR" dirty="0"/>
              <a:t>Cliquez pour modifier les styles du texte du masque</a:t>
            </a:r>
          </a:p>
          <a:p>
            <a:pPr lvl="1" eaLnBrk="1" latinLnBrk="0" hangingPunct="1"/>
            <a:r>
              <a:rPr kumimoji="0" lang="fr-FR" dirty="0"/>
              <a:t>Deuxième niveau</a:t>
            </a:r>
          </a:p>
          <a:p>
            <a:pPr lvl="2" eaLnBrk="1" latinLnBrk="0" hangingPunct="1"/>
            <a:r>
              <a:rPr kumimoji="0" lang="fr-FR" dirty="0"/>
              <a:t>Troisième niveau</a:t>
            </a:r>
          </a:p>
          <a:p>
            <a:pPr lvl="3" eaLnBrk="1" latinLnBrk="0" hangingPunct="1"/>
            <a:r>
              <a:rPr kumimoji="0" lang="fr-FR" dirty="0"/>
              <a:t>Quatrième niveau</a:t>
            </a:r>
          </a:p>
          <a:p>
            <a:pPr lvl="4" eaLnBrk="1" latinLnBrk="0" hangingPunct="1"/>
            <a:r>
              <a:rPr kumimoji="0" lang="fr-FR" dirty="0"/>
              <a:t>Cinquième niveau</a:t>
            </a:r>
            <a:endParaRPr kumimoji="0" lang="en-US" dirty="0"/>
          </a:p>
        </p:txBody>
      </p:sp>
      <p:sp>
        <p:nvSpPr>
          <p:cNvPr id="6" name="Espace réservé du numéro de diapositive 5"/>
          <p:cNvSpPr>
            <a:spLocks noGrp="1"/>
          </p:cNvSpPr>
          <p:nvPr>
            <p:ph type="sldNum" sz="quarter" idx="4"/>
          </p:nvPr>
        </p:nvSpPr>
        <p:spPr>
          <a:xfrm>
            <a:off x="8338730" y="6593556"/>
            <a:ext cx="733864" cy="214290"/>
          </a:xfrm>
          <a:prstGeom prst="rect">
            <a:avLst/>
          </a:prstGeom>
        </p:spPr>
        <p:txBody>
          <a:bodyPr vert="horz" bIns="0" rtlCol="0" anchor="b"/>
          <a:lstStyle>
            <a:lvl1pPr algn="r" eaLnBrk="1" latinLnBrk="0" hangingPunct="1">
              <a:defRPr kumimoji="0" sz="1200">
                <a:solidFill>
                  <a:schemeClr val="bg1"/>
                </a:solidFill>
              </a:defRPr>
            </a:lvl1pPr>
            <a:extLst/>
          </a:lstStyle>
          <a:p>
            <a:fld id="{CF4668DC-857F-487D-BFFA-8C0CA5037977}" type="slidenum">
              <a:rPr lang="fr-BE" smtClean="0"/>
              <a:pPr/>
              <a:t>‹N°›</a:t>
            </a:fld>
            <a:endParaRPr lang="fr-BE"/>
          </a:p>
        </p:txBody>
      </p:sp>
      <p:pic>
        <p:nvPicPr>
          <p:cNvPr id="7" name="Picture 6"/>
          <p:cNvPicPr>
            <a:picLocks noChangeAspect="1"/>
          </p:cNvPicPr>
          <p:nvPr userDrawn="1"/>
        </p:nvPicPr>
        <p:blipFill>
          <a:blip r:embed="rId15" cstate="screen">
            <a:extLst>
              <a:ext uri="{28A0092B-C50C-407E-A947-70E740481C1C}">
                <a14:useLocalDpi xmlns:a14="http://schemas.microsoft.com/office/drawing/2010/main" val="0"/>
              </a:ext>
            </a:extLst>
          </a:blip>
          <a:stretch>
            <a:fillRect/>
          </a:stretch>
        </p:blipFill>
        <p:spPr>
          <a:xfrm>
            <a:off x="7617871" y="44624"/>
            <a:ext cx="1490633" cy="553951"/>
          </a:xfrm>
          <a:prstGeom prst="rect">
            <a:avLst/>
          </a:prstGeom>
        </p:spPr>
      </p:pic>
      <p:pic>
        <p:nvPicPr>
          <p:cNvPr id="13" name="Picture 12"/>
          <p:cNvPicPr>
            <a:picLocks noChangeAspect="1"/>
          </p:cNvPicPr>
          <p:nvPr userDrawn="1"/>
        </p:nvPicPr>
        <p:blipFill>
          <a:blip r:embed="rId16" cstate="screen">
            <a:extLst>
              <a:ext uri="{28A0092B-C50C-407E-A947-70E740481C1C}">
                <a14:useLocalDpi xmlns:a14="http://schemas.microsoft.com/office/drawing/2010/main" val="0"/>
              </a:ext>
            </a:extLst>
          </a:blip>
          <a:stretch>
            <a:fillRect/>
          </a:stretch>
        </p:blipFill>
        <p:spPr>
          <a:xfrm>
            <a:off x="1" y="6504136"/>
            <a:ext cx="971600" cy="361068"/>
          </a:xfrm>
          <a:prstGeom prst="rect">
            <a:avLst/>
          </a:prstGeom>
        </p:spPr>
      </p:pic>
    </p:spTree>
  </p:cSld>
  <p:clrMap bg1="lt1" tx1="dk1" bg2="lt2" tx2="dk2" accent1="accent1" accent2="accent2" accent3="accent3" accent4="accent4" accent5="accent5" accent6="accent6" hlink="hlink" folHlink="folHlink"/>
  <p:sldLayoutIdLst>
    <p:sldLayoutId id="2147484058" r:id="rId1"/>
    <p:sldLayoutId id="2147484059" r:id="rId2"/>
    <p:sldLayoutId id="2147484061" r:id="rId3"/>
    <p:sldLayoutId id="2147484063" r:id="rId4"/>
    <p:sldLayoutId id="2147484068" r:id="rId5"/>
    <p:sldLayoutId id="2147484062" r:id="rId6"/>
    <p:sldLayoutId id="2147484069" r:id="rId7"/>
    <p:sldLayoutId id="2147484070" r:id="rId8"/>
    <p:sldLayoutId id="2147484071" r:id="rId9"/>
    <p:sldLayoutId id="2147484074" r:id="rId10"/>
    <p:sldLayoutId id="2147484073" r:id="rId11"/>
    <p:sldLayoutId id="2147484072" r:id="rId12"/>
  </p:sldLayoutIdLst>
  <p:hf hdr="0" dt="0"/>
  <p:txStyles>
    <p:titleStyle>
      <a:lvl1pPr algn="l" rtl="0" eaLnBrk="1" latinLnBrk="0" hangingPunct="1">
        <a:spcBef>
          <a:spcPct val="0"/>
        </a:spcBef>
        <a:buNone/>
        <a:defRPr kumimoji="0" sz="3200" b="0" kern="120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re 18"/>
          <p:cNvSpPr>
            <a:spLocks noGrp="1"/>
          </p:cNvSpPr>
          <p:nvPr>
            <p:ph type="title" hasCustomPrompt="1"/>
          </p:nvPr>
        </p:nvSpPr>
        <p:spPr>
          <a:xfrm>
            <a:off x="71406" y="5286388"/>
            <a:ext cx="9001188" cy="571504"/>
          </a:xfrm>
          <a:noFill/>
          <a:ln w="9525">
            <a:noFill/>
            <a:miter lim="800000"/>
            <a:headEnd/>
            <a:tailEnd/>
          </a:ln>
        </p:spPr>
        <p:txBody>
          <a:bodyPr/>
          <a:lstStyle/>
          <a:p>
            <a:pPr marL="0" lvl="0" indent="0">
              <a:buNone/>
            </a:pPr>
            <a:r>
              <a:t>Module 6 : Postes de travail virtuels (VDI)</a:t>
            </a:r>
          </a:p>
        </p:txBody>
      </p:sp>
      <p:sp>
        <p:nvSpPr>
          <p:cNvPr id="20" name="Text Placeholder 19"/>
          <p:cNvSpPr>
            <a:spLocks noGrp="1"/>
          </p:cNvSpPr>
          <p:nvPr>
            <p:ph type="body" sz="quarter" idx="10"/>
          </p:nvPr>
        </p:nvSpPr>
        <p:spPr/>
        <p:txBody>
          <a:bodyPr/>
          <a:lstStyle/>
          <a:p>
            <a:r>
              <a:t>Remote Desktop Services sous Windows Server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Agenda</a:t>
            </a:r>
          </a:p>
        </p:txBody>
      </p:sp>
      <p:sp>
        <p:nvSpPr>
          <p:cNvPr id="6" name="Espace réservé du contenu 2"/>
          <p:cNvSpPr>
            <a:spLocks noGrp="1"/>
          </p:cNvSpPr>
          <p:nvPr>
            <p:ph idx="1"/>
          </p:nvPr>
        </p:nvSpPr>
        <p:spPr/>
        <p:txBody>
          <a:bodyPr/>
          <a:lstStyle/>
          <a:p>
            <a:pPr lvl="0"/>
            <a:r>
              <a:t>Présentation du VDI</a:t>
            </a:r>
          </a:p>
          <a:p>
            <a:pPr lvl="0"/>
            <a:r>
              <a:t>Les avantages et le coût du VDI</a:t>
            </a:r>
          </a:p>
          <a:p>
            <a:pPr lvl="0"/>
            <a:r>
              <a:t>La solution Microsoft et ses composants</a:t>
            </a:r>
          </a:p>
          <a:p>
            <a:pPr lvl="0"/>
            <a:r>
              <a:t>Collections regroupées et personnelles</a:t>
            </a:r>
          </a:p>
          <a:p>
            <a:pPr lvl="0"/>
            <a:r>
              <a:t>Préparer le modèle Windows 11</a:t>
            </a:r>
          </a:p>
          <a:p>
            <a:pPr lvl="0"/>
            <a:r>
              <a:t>Déployer et mettre à jour une collection</a:t>
            </a:r>
          </a:p>
          <a:p>
            <a:pPr lvl="0"/>
            <a:r>
              <a:t>Optimiser les hôtes de virtualisation</a:t>
            </a:r>
          </a:p>
          <a:p>
            <a:pPr lvl="0"/>
            <a:r>
              <a:t>Situer le VDI RDS</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a:t>
            </a:fld>
            <a:endParaRPr lang="fr-B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Présentation du VDI</a:t>
            </a:r>
          </a:p>
        </p:txBody>
      </p:sp>
      <p:sp>
        <p:nvSpPr>
          <p:cNvPr id="6" name="Espace réservé du contenu 2"/>
          <p:cNvSpPr>
            <a:spLocks noGrp="1"/>
          </p:cNvSpPr>
          <p:nvPr>
            <p:ph idx="1"/>
          </p:nvPr>
        </p:nvSpPr>
        <p:spPr/>
        <p:txBody>
          <a:bodyPr/>
          <a:lstStyle/>
          <a:p>
            <a:pPr lvl="0"/>
            <a:r>
              <a:t>VDI : Virtual Desktop Infrastructure, infrastructure de postes de travail virtuels</a:t>
            </a:r>
          </a:p>
          <a:p>
            <a:pPr lvl="0"/>
            <a:r>
              <a:t>Chaque utilisateur travaille sur une machine virtuelle Windows 11</a:t>
            </a:r>
          </a:p>
          <a:p>
            <a:pPr lvl="0"/>
            <a:r>
              <a:t>Les machines sont hébergées sur des serveurs de virtualisation</a:t>
            </a:r>
          </a:p>
          <a:p>
            <a:pPr lvl="0"/>
            <a:r>
              <a:t>L’utilisateur s’y connecte par RDP, comme à une session</a:t>
            </a:r>
          </a:p>
          <a:p>
            <a:pPr lvl="0"/>
            <a:r>
              <a:t>Un meilleur contrôle du cycle de vie des postes de travail</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3</a:t>
            </a:fld>
            <a:endParaRPr lang="fr-B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Sessions ou postes virtuels</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4</a:t>
            </a:fld>
            <a:endParaRPr lang="fr-BE"/>
          </a:p>
        </p:txBody>
      </p:sp>
      <p:sp>
        <p:nvSpPr>
          <p:cNvPr id="13" name="Rounded Rectangle 12"/>
          <p:cNvSpPr/>
          <p:nvPr/>
        </p:nvSpPr>
        <p:spPr>
          <a:xfrm>
            <a:off x="288000" y="1728000"/>
            <a:ext cx="4104000" cy="4176000"/>
          </a:xfrm>
          <a:prstGeom prst="roundRect">
            <a:avLst>
              <a:gd name="adj" fmla="val 3000"/>
            </a:avLst>
          </a:prstGeom>
          <a:noFill/>
          <a:ln w="1270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60000" y="1746000"/>
            <a:ext cx="3960000" cy="216000"/>
          </a:xfrm>
          <a:prstGeom prst="rect">
            <a:avLst/>
          </a:prstGeom>
          <a:noFill/>
        </p:spPr>
        <p:txBody>
          <a:bodyPr wrap="square" lIns="43200" tIns="18000" rIns="43200" bIns="18000" anchor="ctr">
            <a:spAutoFit/>
          </a:bodyPr>
          <a:lstStyle/>
          <a:p>
            <a:pPr algn="l"/>
            <a:r>
              <a:rPr sz="900" b="1">
                <a:solidFill>
                  <a:srgbClr val="A5A5A5"/>
                </a:solidFill>
                <a:latin typeface="Corbel"/>
              </a:rPr>
              <a:t>Sessions partagées</a:t>
            </a:r>
          </a:p>
        </p:txBody>
      </p:sp>
      <p:sp>
        <p:nvSpPr>
          <p:cNvPr id="15" name="Rounded Rectangle 14"/>
          <p:cNvSpPr/>
          <p:nvPr/>
        </p:nvSpPr>
        <p:spPr>
          <a:xfrm>
            <a:off x="4752000" y="1728000"/>
            <a:ext cx="4104000" cy="4176000"/>
          </a:xfrm>
          <a:prstGeom prst="roundRect">
            <a:avLst>
              <a:gd name="adj" fmla="val 3000"/>
            </a:avLst>
          </a:prstGeom>
          <a:noFill/>
          <a:ln w="1270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824000" y="1746000"/>
            <a:ext cx="3960000" cy="216000"/>
          </a:xfrm>
          <a:prstGeom prst="rect">
            <a:avLst/>
          </a:prstGeom>
          <a:noFill/>
        </p:spPr>
        <p:txBody>
          <a:bodyPr wrap="square" lIns="43200" tIns="18000" rIns="43200" bIns="18000" anchor="ctr">
            <a:spAutoFit/>
          </a:bodyPr>
          <a:lstStyle/>
          <a:p>
            <a:pPr algn="l"/>
            <a:r>
              <a:rPr sz="900" b="1">
                <a:solidFill>
                  <a:srgbClr val="A5A5A5"/>
                </a:solidFill>
                <a:latin typeface="Corbel"/>
              </a:rPr>
              <a:t>Postes virtuels</a:t>
            </a:r>
          </a:p>
        </p:txBody>
      </p:sp>
      <p:sp>
        <p:nvSpPr>
          <p:cNvPr id="17" name="Rounded Rectangle 16"/>
          <p:cNvSpPr/>
          <p:nvPr/>
        </p:nvSpPr>
        <p:spPr>
          <a:xfrm>
            <a:off x="540000" y="2160000"/>
            <a:ext cx="3600000" cy="54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0">
                <a:solidFill>
                  <a:srgbClr val="44546A"/>
                </a:solidFill>
                <a:latin typeface="Corbel"/>
              </a:rPr>
              <a:t>Session de l'utilisateur 1</a:t>
            </a:r>
          </a:p>
        </p:txBody>
      </p:sp>
      <p:sp>
        <p:nvSpPr>
          <p:cNvPr id="18" name="Rounded Rectangle 17"/>
          <p:cNvSpPr/>
          <p:nvPr/>
        </p:nvSpPr>
        <p:spPr>
          <a:xfrm>
            <a:off x="5004000" y="2160000"/>
            <a:ext cx="3600000" cy="54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0">
                <a:solidFill>
                  <a:srgbClr val="44546A"/>
                </a:solidFill>
                <a:latin typeface="Corbel"/>
              </a:rPr>
              <a:t>Windows 11 de l'utilisateur 1</a:t>
            </a:r>
          </a:p>
        </p:txBody>
      </p:sp>
      <p:sp>
        <p:nvSpPr>
          <p:cNvPr id="19" name="Rounded Rectangle 18"/>
          <p:cNvSpPr/>
          <p:nvPr/>
        </p:nvSpPr>
        <p:spPr>
          <a:xfrm>
            <a:off x="540000" y="2844000"/>
            <a:ext cx="3600000" cy="54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0">
                <a:solidFill>
                  <a:srgbClr val="44546A"/>
                </a:solidFill>
                <a:latin typeface="Corbel"/>
              </a:rPr>
              <a:t>Session de l'utilisateur 2</a:t>
            </a:r>
          </a:p>
        </p:txBody>
      </p:sp>
      <p:sp>
        <p:nvSpPr>
          <p:cNvPr id="20" name="Rounded Rectangle 19"/>
          <p:cNvSpPr/>
          <p:nvPr/>
        </p:nvSpPr>
        <p:spPr>
          <a:xfrm>
            <a:off x="5004000" y="2844000"/>
            <a:ext cx="3600000" cy="54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0">
                <a:solidFill>
                  <a:srgbClr val="44546A"/>
                </a:solidFill>
                <a:latin typeface="Corbel"/>
              </a:rPr>
              <a:t>Windows 11 de l'utilisateur 2</a:t>
            </a:r>
          </a:p>
        </p:txBody>
      </p:sp>
      <p:sp>
        <p:nvSpPr>
          <p:cNvPr id="21" name="Rounded Rectangle 20"/>
          <p:cNvSpPr/>
          <p:nvPr/>
        </p:nvSpPr>
        <p:spPr>
          <a:xfrm>
            <a:off x="540000" y="3528000"/>
            <a:ext cx="3600000" cy="54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0">
                <a:solidFill>
                  <a:srgbClr val="44546A"/>
                </a:solidFill>
                <a:latin typeface="Corbel"/>
              </a:rPr>
              <a:t>Session de l'utilisateur 3</a:t>
            </a:r>
          </a:p>
        </p:txBody>
      </p:sp>
      <p:sp>
        <p:nvSpPr>
          <p:cNvPr id="22" name="Rounded Rectangle 21"/>
          <p:cNvSpPr/>
          <p:nvPr/>
        </p:nvSpPr>
        <p:spPr>
          <a:xfrm>
            <a:off x="5004000" y="3528000"/>
            <a:ext cx="3600000" cy="54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0">
                <a:solidFill>
                  <a:srgbClr val="44546A"/>
                </a:solidFill>
                <a:latin typeface="Corbel"/>
              </a:rPr>
              <a:t>Windows 11 de l'utilisateur 3</a:t>
            </a:r>
          </a:p>
        </p:txBody>
      </p:sp>
      <p:sp>
        <p:nvSpPr>
          <p:cNvPr id="23" name="Rounded Rectangle 22"/>
          <p:cNvSpPr/>
          <p:nvPr/>
        </p:nvSpPr>
        <p:spPr>
          <a:xfrm>
            <a:off x="540000" y="4392000"/>
            <a:ext cx="3600000" cy="936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FFFFFF"/>
                </a:solidFill>
                <a:latin typeface="Corbel"/>
              </a:rPr>
              <a:t>Un seul Windows Server</a:t>
            </a:r>
          </a:p>
          <a:p>
            <a:pPr algn="ctr"/>
            <a:r>
              <a:rPr sz="950" b="0">
                <a:solidFill>
                  <a:srgbClr val="FFFFFF"/>
                </a:solidFill>
                <a:latin typeface="Corbel"/>
              </a:rPr>
              <a:t>hôte de session</a:t>
            </a:r>
          </a:p>
        </p:txBody>
      </p:sp>
      <p:sp>
        <p:nvSpPr>
          <p:cNvPr id="24" name="Rounded Rectangle 23"/>
          <p:cNvSpPr/>
          <p:nvPr/>
        </p:nvSpPr>
        <p:spPr>
          <a:xfrm>
            <a:off x="5004000" y="4392000"/>
            <a:ext cx="3600000" cy="936000"/>
          </a:xfrm>
          <a:prstGeom prst="roundRect">
            <a:avLst>
              <a:gd name="adj" fmla="val 8000"/>
            </a:avLst>
          </a:prstGeom>
          <a:solidFill>
            <a:srgbClr val="44546A"/>
          </a:solidFill>
          <a:ln w="15875">
            <a:solidFill>
              <a:srgbClr val="44546A"/>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FFFFFF"/>
                </a:solidFill>
                <a:latin typeface="Corbel"/>
              </a:rPr>
              <a:t>Hyper-V</a:t>
            </a:r>
          </a:p>
          <a:p>
            <a:pPr algn="ctr"/>
            <a:r>
              <a:rPr sz="950" b="0">
                <a:solidFill>
                  <a:srgbClr val="FFFFFF"/>
                </a:solidFill>
                <a:latin typeface="Corbel"/>
              </a:rPr>
              <a:t>hôte de virtualisation</a:t>
            </a:r>
          </a:p>
        </p:txBody>
      </p:sp>
      <p:sp>
        <p:nvSpPr>
          <p:cNvPr id="25" name="TextBox 24"/>
          <p:cNvSpPr txBox="1"/>
          <p:nvPr/>
        </p:nvSpPr>
        <p:spPr>
          <a:xfrm>
            <a:off x="288000" y="5976000"/>
            <a:ext cx="8568000" cy="324000"/>
          </a:xfrm>
          <a:prstGeom prst="rect">
            <a:avLst/>
          </a:prstGeom>
          <a:noFill/>
        </p:spPr>
        <p:txBody>
          <a:bodyPr wrap="square" lIns="43200" tIns="18000" rIns="43200" bIns="18000" anchor="ctr">
            <a:spAutoFit/>
          </a:bodyPr>
          <a:lstStyle/>
          <a:p>
            <a:pPr algn="ctr"/>
            <a:r>
              <a:rPr sz="1050" b="0" i="1">
                <a:solidFill>
                  <a:srgbClr val="A5A5A5"/>
                </a:solidFill>
                <a:latin typeface="Corbel"/>
              </a:rPr>
              <a:t>Même portail, même passerelle, même Connection Broker : seul l'hébergement change.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Trois façons de publier un bureau</a:t>
            </a:r>
          </a:p>
        </p:txBody>
      </p:sp>
      <p:graphicFrame>
        <p:nvGraphicFramePr>
          <p:cNvPr id="6" name="Content Placeholder 5"/>
          <p:cNvGraphicFramePr>
            <a:graphicFrameLocks noGrp="1"/>
          </p:cNvGraphicFramePr>
          <p:nvPr>
            <p:ph idx="1"/>
          </p:nvPr>
        </p:nvGraphicFramePr>
        <p:xfrm>
          <a:off x="63500" y="1498600"/>
          <a:ext cx="8991600" cy="3291840"/>
        </p:xfrm>
        <a:graphic>
          <a:graphicData uri="http://schemas.openxmlformats.org/drawingml/2006/table">
            <a:tbl>
              <a:tblPr firstRow="1" bandRow="1">
                <a:tableStyleId>{5C22544A-7EE6-4342-B048-85BDC9FD1C3A}</a:tableStyleId>
              </a:tblPr>
              <a:tblGrid>
                <a:gridCol w="2247900">
                  <a:extLst>
                    <a:ext uri="{9D8B030D-6E8A-4147-A177-3AD203B41FA5}">
                      <a16:colId xmlns:a16="http://schemas.microsoft.com/office/drawing/2014/main" val="20000"/>
                    </a:ext>
                  </a:extLst>
                </a:gridCol>
                <a:gridCol w="2247900">
                  <a:extLst>
                    <a:ext uri="{9D8B030D-6E8A-4147-A177-3AD203B41FA5}">
                      <a16:colId xmlns:a16="http://schemas.microsoft.com/office/drawing/2014/main" val="20001"/>
                    </a:ext>
                  </a:extLst>
                </a:gridCol>
                <a:gridCol w="2247900">
                  <a:extLst>
                    <a:ext uri="{9D8B030D-6E8A-4147-A177-3AD203B41FA5}">
                      <a16:colId xmlns:a16="http://schemas.microsoft.com/office/drawing/2014/main" val="20002"/>
                    </a:ext>
                  </a:extLst>
                </a:gridCol>
                <a:gridCol w="2247900">
                  <a:extLst>
                    <a:ext uri="{9D8B030D-6E8A-4147-A177-3AD203B41FA5}">
                      <a16:colId xmlns:a16="http://schemas.microsoft.com/office/drawing/2014/main" val="20003"/>
                    </a:ext>
                  </a:extLst>
                </a:gridCol>
              </a:tblGrid>
              <a:tr h="0">
                <a:tc>
                  <a:txBody>
                    <a:bodyPr/>
                    <a:lstStyle/>
                    <a:p>
                      <a:pPr marL="0" lvl="0" indent="0">
                        <a:buNone/>
                      </a:pPr>
                      <a:r>
                        <a:t>Critère</a:t>
                      </a:r>
                    </a:p>
                  </a:txBody>
                  <a:tcPr/>
                </a:tc>
                <a:tc>
                  <a:txBody>
                    <a:bodyPr/>
                    <a:lstStyle/>
                    <a:p>
                      <a:pPr marL="0" lvl="0" indent="0">
                        <a:buNone/>
                      </a:pPr>
                      <a:r>
                        <a:t>Session partagée</a:t>
                      </a:r>
                    </a:p>
                  </a:txBody>
                  <a:tcPr/>
                </a:tc>
                <a:tc>
                  <a:txBody>
                    <a:bodyPr/>
                    <a:lstStyle/>
                    <a:p>
                      <a:pPr marL="0" lvl="0" indent="0">
                        <a:buNone/>
                      </a:pPr>
                      <a:r>
                        <a:t>Bureau de session personnel</a:t>
                      </a:r>
                    </a:p>
                  </a:txBody>
                  <a:tcPr/>
                </a:tc>
                <a:tc>
                  <a:txBody>
                    <a:bodyPr/>
                    <a:lstStyle/>
                    <a:p>
                      <a:pPr marL="0" lvl="0" indent="0">
                        <a:buNone/>
                      </a:pPr>
                      <a:r>
                        <a:t>Poste virtuel (VDI)</a:t>
                      </a:r>
                    </a:p>
                  </a:txBody>
                  <a:tcPr/>
                </a:tc>
                <a:extLst>
                  <a:ext uri="{0D108BD9-81ED-4DB2-BD59-A6C34878D82A}">
                    <a16:rowId xmlns:a16="http://schemas.microsoft.com/office/drawing/2014/main" val="10000"/>
                  </a:ext>
                </a:extLst>
              </a:tr>
              <a:tr h="0">
                <a:tc>
                  <a:txBody>
                    <a:bodyPr/>
                    <a:lstStyle/>
                    <a:p>
                      <a:pPr marL="0" lvl="0" indent="0">
                        <a:buNone/>
                      </a:pPr>
                      <a:r>
                        <a:t>Système</a:t>
                      </a:r>
                    </a:p>
                  </a:txBody>
                  <a:tcPr/>
                </a:tc>
                <a:tc>
                  <a:txBody>
                    <a:bodyPr/>
                    <a:lstStyle/>
                    <a:p>
                      <a:pPr marL="0" lvl="0" indent="0">
                        <a:buNone/>
                      </a:pPr>
                      <a:r>
                        <a:t>Windows Server multisession</a:t>
                      </a:r>
                    </a:p>
                  </a:txBody>
                  <a:tcPr/>
                </a:tc>
                <a:tc>
                  <a:txBody>
                    <a:bodyPr/>
                    <a:lstStyle/>
                    <a:p>
                      <a:pPr marL="0" lvl="0" indent="0">
                        <a:buNone/>
                      </a:pPr>
                      <a:r>
                        <a:t>Windows Server dédié</a:t>
                      </a:r>
                    </a:p>
                  </a:txBody>
                  <a:tcPr/>
                </a:tc>
                <a:tc>
                  <a:txBody>
                    <a:bodyPr/>
                    <a:lstStyle/>
                    <a:p>
                      <a:pPr marL="0" lvl="0" indent="0">
                        <a:buNone/>
                      </a:pPr>
                      <a:r>
                        <a:t>Windows 11 Enterprise</a:t>
                      </a:r>
                    </a:p>
                  </a:txBody>
                  <a:tcPr/>
                </a:tc>
                <a:extLst>
                  <a:ext uri="{0D108BD9-81ED-4DB2-BD59-A6C34878D82A}">
                    <a16:rowId xmlns:a16="http://schemas.microsoft.com/office/drawing/2014/main" val="10001"/>
                  </a:ext>
                </a:extLst>
              </a:tr>
              <a:tr h="0">
                <a:tc>
                  <a:txBody>
                    <a:bodyPr/>
                    <a:lstStyle/>
                    <a:p>
                      <a:pPr marL="0" lvl="0" indent="0">
                        <a:buNone/>
                      </a:pPr>
                      <a:r>
                        <a:t>Isolation</a:t>
                      </a:r>
                    </a:p>
                  </a:txBody>
                  <a:tcPr/>
                </a:tc>
                <a:tc>
                  <a:txBody>
                    <a:bodyPr/>
                    <a:lstStyle/>
                    <a:p>
                      <a:pPr marL="0" lvl="0" indent="0">
                        <a:buNone/>
                      </a:pPr>
                      <a:r>
                        <a:t>Faible : tous sur le même système</a:t>
                      </a:r>
                    </a:p>
                  </a:txBody>
                  <a:tcPr/>
                </a:tc>
                <a:tc>
                  <a:txBody>
                    <a:bodyPr/>
                    <a:lstStyle/>
                    <a:p>
                      <a:pPr marL="0" lvl="0" indent="0">
                        <a:buNone/>
                      </a:pPr>
                      <a:r>
                        <a:t>Un serveur par utilisateur</a:t>
                      </a:r>
                    </a:p>
                  </a:txBody>
                  <a:tcPr/>
                </a:tc>
                <a:tc>
                  <a:txBody>
                    <a:bodyPr/>
                    <a:lstStyle/>
                    <a:p>
                      <a:pPr marL="0" lvl="0" indent="0">
                        <a:buNone/>
                      </a:pPr>
                      <a:r>
                        <a:t>Une machine virtuelle par utilisateur</a:t>
                      </a:r>
                    </a:p>
                  </a:txBody>
                  <a:tcPr/>
                </a:tc>
                <a:extLst>
                  <a:ext uri="{0D108BD9-81ED-4DB2-BD59-A6C34878D82A}">
                    <a16:rowId xmlns:a16="http://schemas.microsoft.com/office/drawing/2014/main" val="10002"/>
                  </a:ext>
                </a:extLst>
              </a:tr>
              <a:tr h="0">
                <a:tc>
                  <a:txBody>
                    <a:bodyPr/>
                    <a:lstStyle/>
                    <a:p>
                      <a:pPr marL="0" lvl="0" indent="0">
                        <a:buNone/>
                      </a:pPr>
                      <a:r>
                        <a:t>Droits d’administration</a:t>
                      </a:r>
                    </a:p>
                  </a:txBody>
                  <a:tcPr/>
                </a:tc>
                <a:tc>
                  <a:txBody>
                    <a:bodyPr/>
                    <a:lstStyle/>
                    <a:p>
                      <a:pPr marL="0" lvl="0" indent="0">
                        <a:buNone/>
                      </a:pPr>
                      <a:r>
                        <a:t>Non</a:t>
                      </a:r>
                    </a:p>
                  </a:txBody>
                  <a:tcPr/>
                </a:tc>
                <a:tc>
                  <a:txBody>
                    <a:bodyPr/>
                    <a:lstStyle/>
                    <a:p>
                      <a:pPr marL="0" lvl="0" indent="0">
                        <a:buNone/>
                      </a:pPr>
                      <a:r>
                        <a:t>Possibles</a:t>
                      </a:r>
                    </a:p>
                  </a:txBody>
                  <a:tcPr/>
                </a:tc>
                <a:tc>
                  <a:txBody>
                    <a:bodyPr/>
                    <a:lstStyle/>
                    <a:p>
                      <a:pPr marL="0" lvl="0" indent="0">
                        <a:buNone/>
                      </a:pPr>
                      <a:r>
                        <a:t>Possibles</a:t>
                      </a:r>
                    </a:p>
                  </a:txBody>
                  <a:tcPr/>
                </a:tc>
                <a:extLst>
                  <a:ext uri="{0D108BD9-81ED-4DB2-BD59-A6C34878D82A}">
                    <a16:rowId xmlns:a16="http://schemas.microsoft.com/office/drawing/2014/main" val="10003"/>
                  </a:ext>
                </a:extLst>
              </a:tr>
              <a:tr h="0">
                <a:tc>
                  <a:txBody>
                    <a:bodyPr/>
                    <a:lstStyle/>
                    <a:p>
                      <a:pPr marL="0" lvl="0" indent="0">
                        <a:buNone/>
                      </a:pPr>
                      <a:r>
                        <a:t>Densité</a:t>
                      </a:r>
                    </a:p>
                  </a:txBody>
                  <a:tcPr/>
                </a:tc>
                <a:tc>
                  <a:txBody>
                    <a:bodyPr/>
                    <a:lstStyle/>
                    <a:p>
                      <a:pPr marL="0" lvl="0" indent="0">
                        <a:buNone/>
                      </a:pPr>
                      <a:r>
                        <a:t>Élevée</a:t>
                      </a:r>
                    </a:p>
                  </a:txBody>
                  <a:tcPr/>
                </a:tc>
                <a:tc>
                  <a:txBody>
                    <a:bodyPr/>
                    <a:lstStyle/>
                    <a:p>
                      <a:pPr marL="0" lvl="0" indent="0">
                        <a:buNone/>
                      </a:pPr>
                      <a:r>
                        <a:t>Faible</a:t>
                      </a:r>
                    </a:p>
                  </a:txBody>
                  <a:tcPr/>
                </a:tc>
                <a:tc>
                  <a:txBody>
                    <a:bodyPr/>
                    <a:lstStyle/>
                    <a:p>
                      <a:pPr marL="0" lvl="0" indent="0">
                        <a:buNone/>
                      </a:pPr>
                      <a:r>
                        <a:t>Faible</a:t>
                      </a:r>
                    </a:p>
                  </a:txBody>
                  <a:tcPr/>
                </a:tc>
                <a:extLst>
                  <a:ext uri="{0D108BD9-81ED-4DB2-BD59-A6C34878D82A}">
                    <a16:rowId xmlns:a16="http://schemas.microsoft.com/office/drawing/2014/main" val="10004"/>
                  </a:ext>
                </a:extLst>
              </a:tr>
              <a:tr h="0">
                <a:tc>
                  <a:txBody>
                    <a:bodyPr/>
                    <a:lstStyle/>
                    <a:p>
                      <a:pPr marL="0" lvl="0" indent="0">
                        <a:buNone/>
                      </a:pPr>
                      <a:r>
                        <a:t>Coût</a:t>
                      </a:r>
                    </a:p>
                  </a:txBody>
                  <a:tcPr/>
                </a:tc>
                <a:tc>
                  <a:txBody>
                    <a:bodyPr/>
                    <a:lstStyle/>
                    <a:p>
                      <a:pPr marL="0" lvl="0" indent="0">
                        <a:buNone/>
                      </a:pPr>
                      <a:r>
                        <a:t>Le plus bas</a:t>
                      </a:r>
                    </a:p>
                  </a:txBody>
                  <a:tcPr/>
                </a:tc>
                <a:tc>
                  <a:txBody>
                    <a:bodyPr/>
                    <a:lstStyle/>
                    <a:p>
                      <a:pPr marL="0" lvl="0" indent="0">
                        <a:buNone/>
                      </a:pPr>
                      <a:r>
                        <a:t>Élevé</a:t>
                      </a:r>
                    </a:p>
                  </a:txBody>
                  <a:tcPr/>
                </a:tc>
                <a:tc>
                  <a:txBody>
                    <a:bodyPr/>
                    <a:lstStyle/>
                    <a:p>
                      <a:pPr marL="0" lvl="0" indent="0">
                        <a:buNone/>
                      </a:pPr>
                      <a:r>
                        <a:t>Le plus élevé</a:t>
                      </a:r>
                    </a:p>
                  </a:txBody>
                  <a:tcPr/>
                </a:tc>
                <a:extLst>
                  <a:ext uri="{0D108BD9-81ED-4DB2-BD59-A6C34878D82A}">
                    <a16:rowId xmlns:a16="http://schemas.microsoft.com/office/drawing/2014/main" val="10005"/>
                  </a:ext>
                </a:extLst>
              </a:tr>
            </a:tbl>
          </a:graphicData>
        </a:graphic>
      </p:graphicFrame>
      <p:sp>
        <p:nvSpPr>
          <p:cNvPr id="12" name="Espace réservé du numéro de diapositive 11"/>
          <p:cNvSpPr>
            <a:spLocks noGrp="1"/>
          </p:cNvSpPr>
          <p:nvPr>
            <p:ph type="sldNum" sz="quarter" idx="10"/>
          </p:nvPr>
        </p:nvSpPr>
        <p:spPr/>
        <p:txBody>
          <a:bodyPr/>
          <a:lstStyle/>
          <a:p>
            <a:fld id="{CF4668DC-857F-487D-BFFA-8C0CA5037977}" type="slidenum">
              <a:rPr lang="fr-BE" smtClean="0"/>
              <a:pPr/>
              <a:t>5</a:t>
            </a:fld>
            <a:endParaRPr lang="fr-B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u numéro de diapositive 11"/>
          <p:cNvSpPr>
            <a:spLocks noGrp="1"/>
          </p:cNvSpPr>
          <p:nvPr>
            <p:ph type="sldNum" sz="quarter" idx="10"/>
          </p:nvPr>
        </p:nvSpPr>
        <p:spPr>
          <a:xfrm>
            <a:off x="8338730" y="6593556"/>
            <a:ext cx="733864" cy="214290"/>
          </a:xfrm>
        </p:spPr>
        <p:txBody>
          <a:bodyPr/>
          <a:lstStyle/>
          <a:p>
            <a:fld id="{CF4668DC-857F-487D-BFFA-8C0CA5037977}" type="slidenum">
              <a:rPr lang="fr-BE" smtClean="0"/>
              <a:pPr/>
              <a:t>6</a:t>
            </a:fld>
            <a:endParaRPr lang="fr-BE"/>
          </a:p>
        </p:txBody>
      </p:sp>
      <p:sp>
        <p:nvSpPr>
          <p:cNvPr id="6" name="Espace réservé du contenu 2"/>
          <p:cNvSpPr>
            <a:spLocks noGrp="1"/>
          </p:cNvSpPr>
          <p:nvPr>
            <p:ph idx="1"/>
          </p:nvPr>
        </p:nvSpPr>
        <p:spPr>
          <a:xfrm>
            <a:off x="71406" y="1500174"/>
            <a:ext cx="9001188" cy="4929221"/>
          </a:xfrm>
        </p:spPr>
        <p:txBody>
          <a:bodyPr>
            <a:normAutofit fontScale="92500" lnSpcReduction="10000"/>
          </a:bodyPr>
          <a:lstStyle/>
          <a:p>
            <a:pPr lvl="0"/>
            <a:r>
              <a:rPr lang="fr-FR"/>
              <a:t>Offrir un environnement dédié, personnalisé ou temporaire</a:t>
            </a:r>
          </a:p>
          <a:p>
            <a:pPr lvl="1"/>
            <a:r>
              <a:rPr lang="fr-FR"/>
              <a:t>l’utilisateur dispose d’une machine virtuelle qui lui est propre</a:t>
            </a:r>
          </a:p>
          <a:p>
            <a:pPr lvl="0"/>
            <a:r>
              <a:rPr lang="fr-FR"/>
              <a:t>Centraliser la gestion des postes dans le datacenter</a:t>
            </a:r>
          </a:p>
          <a:p>
            <a:pPr lvl="1"/>
            <a:r>
              <a:rPr lang="fr-FR"/>
              <a:t>images stockées sur le stockage partagé, faciles à mettre à jour et à sauvegarder</a:t>
            </a:r>
          </a:p>
          <a:p>
            <a:pPr lvl="0"/>
            <a:r>
              <a:rPr lang="fr-FR"/>
              <a:t>Faciliter le déploiement des logiciels</a:t>
            </a:r>
          </a:p>
          <a:p>
            <a:pPr lvl="1"/>
            <a:r>
              <a:rPr lang="fr-FR"/>
              <a:t>installés de manière standard dans Windows 11, sans contrainte de multisession</a:t>
            </a:r>
          </a:p>
          <a:p>
            <a:pPr lvl="0"/>
            <a:r>
              <a:rPr lang="fr-FR"/>
              <a:t>Isoler les utilisateurs les uns des autres</a:t>
            </a:r>
          </a:p>
        </p:txBody>
      </p:sp>
      <p:sp>
        <p:nvSpPr>
          <p:cNvPr id="2" name="Title 1"/>
          <p:cNvSpPr>
            <a:spLocks noGrp="1"/>
          </p:cNvSpPr>
          <p:nvPr>
            <p:ph type="title"/>
          </p:nvPr>
        </p:nvSpPr>
        <p:spPr>
          <a:xfrm>
            <a:off x="71406" y="428604"/>
            <a:ext cx="7715304" cy="928694"/>
          </a:xfrm>
        </p:spPr>
        <p:txBody>
          <a:bodyPr/>
          <a:lstStyle/>
          <a:p>
            <a:pPr lvl="0"/>
            <a:r>
              <a:rPr lang="fr-FR"/>
              <a:t>Les avantages du VDI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u numéro de diapositive 11"/>
          <p:cNvSpPr>
            <a:spLocks noGrp="1"/>
          </p:cNvSpPr>
          <p:nvPr>
            <p:ph type="sldNum" sz="quarter" idx="10"/>
          </p:nvPr>
        </p:nvSpPr>
        <p:spPr>
          <a:xfrm>
            <a:off x="8338730" y="6593556"/>
            <a:ext cx="733864" cy="214290"/>
          </a:xfrm>
        </p:spPr>
        <p:txBody>
          <a:bodyPr/>
          <a:lstStyle/>
          <a:p>
            <a:fld id="{CF4668DC-857F-487D-BFFA-8C0CA5037977}" type="slidenum">
              <a:rPr lang="fr-BE" smtClean="0"/>
              <a:pPr/>
              <a:t>7</a:t>
            </a:fld>
            <a:endParaRPr lang="fr-BE"/>
          </a:p>
        </p:txBody>
      </p:sp>
      <p:sp>
        <p:nvSpPr>
          <p:cNvPr id="6" name="Espace réservé du contenu 2"/>
          <p:cNvSpPr>
            <a:spLocks noGrp="1"/>
          </p:cNvSpPr>
          <p:nvPr>
            <p:ph idx="1"/>
          </p:nvPr>
        </p:nvSpPr>
        <p:spPr>
          <a:xfrm>
            <a:off x="71406" y="1500174"/>
            <a:ext cx="9001188" cy="4929221"/>
          </a:xfrm>
        </p:spPr>
        <p:txBody>
          <a:bodyPr>
            <a:normAutofit lnSpcReduction="10000"/>
          </a:bodyPr>
          <a:lstStyle/>
          <a:p>
            <a:pPr lvl="0"/>
            <a:r>
              <a:rPr lang="fr-FR"/>
              <a:t>Une machine virtuelle complète par utilisateur connecté</a:t>
            </a:r>
          </a:p>
          <a:p>
            <a:pPr lvl="0"/>
            <a:r>
              <a:rPr lang="fr-FR"/>
              <a:t>Stockage : disques des machines virtuelles, pics d’entrées-sorties au démarrage</a:t>
            </a:r>
          </a:p>
          <a:p>
            <a:pPr lvl="0"/>
            <a:r>
              <a:rPr lang="fr-FR"/>
              <a:t>Licences d’accès Windows client pour le VDI, en plus des CAL RDS</a:t>
            </a:r>
          </a:p>
          <a:p>
            <a:pPr lvl="0"/>
            <a:r>
              <a:rPr lang="fr-FR"/>
              <a:t>Gestion des mises à jour du modèle et des machines</a:t>
            </a:r>
          </a:p>
          <a:p>
            <a:pPr lvl="0"/>
            <a:r>
              <a:rPr lang="fr-FR"/>
              <a:t>Hôtes de virtualisation dimensionnés pour la mémoire</a:t>
            </a:r>
          </a:p>
        </p:txBody>
      </p:sp>
      <p:sp>
        <p:nvSpPr>
          <p:cNvPr id="2" name="Title 1"/>
          <p:cNvSpPr>
            <a:spLocks noGrp="1"/>
          </p:cNvSpPr>
          <p:nvPr>
            <p:ph type="title"/>
          </p:nvPr>
        </p:nvSpPr>
        <p:spPr>
          <a:xfrm>
            <a:off x="71406" y="428604"/>
            <a:ext cx="7715304" cy="928694"/>
          </a:xfrm>
        </p:spPr>
        <p:txBody>
          <a:bodyPr/>
          <a:lstStyle/>
          <a:p>
            <a:pPr lvl="0"/>
            <a:r>
              <a:rPr lang="fr-FR"/>
              <a:t>Ce que le VDI coûte vraiment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u numéro de diapositive 11"/>
          <p:cNvSpPr>
            <a:spLocks noGrp="1"/>
          </p:cNvSpPr>
          <p:nvPr>
            <p:ph type="sldNum" sz="quarter" idx="10"/>
          </p:nvPr>
        </p:nvSpPr>
        <p:spPr>
          <a:xfrm>
            <a:off x="8338730" y="6593556"/>
            <a:ext cx="733864" cy="214290"/>
          </a:xfrm>
        </p:spPr>
        <p:txBody>
          <a:bodyPr/>
          <a:lstStyle/>
          <a:p>
            <a:fld id="{CF4668DC-857F-487D-BFFA-8C0CA5037977}" type="slidenum">
              <a:rPr lang="fr-BE" smtClean="0"/>
              <a:pPr/>
              <a:t>8</a:t>
            </a:fld>
            <a:endParaRPr lang="fr-BE"/>
          </a:p>
        </p:txBody>
      </p:sp>
      <p:sp>
        <p:nvSpPr>
          <p:cNvPr id="6" name="Espace réservé du contenu 2"/>
          <p:cNvSpPr>
            <a:spLocks noGrp="1"/>
          </p:cNvSpPr>
          <p:nvPr>
            <p:ph idx="1"/>
          </p:nvPr>
        </p:nvSpPr>
        <p:spPr>
          <a:xfrm>
            <a:off x="71406" y="1500174"/>
            <a:ext cx="9001188" cy="4929221"/>
          </a:xfrm>
        </p:spPr>
        <p:txBody>
          <a:bodyPr>
            <a:normAutofit lnSpcReduction="10000"/>
          </a:bodyPr>
          <a:lstStyle/>
          <a:p>
            <a:pPr lvl="0"/>
            <a:r>
              <a:rPr lang="fr-FR"/>
              <a:t>S’appuie sur l’infrastructure des services Bureau à distance et sur RDP</a:t>
            </a:r>
          </a:p>
          <a:p>
            <a:pPr lvl="0"/>
            <a:r>
              <a:rPr lang="fr-FR"/>
              <a:t>Associe RDS et Hyper-V</a:t>
            </a:r>
          </a:p>
          <a:p>
            <a:pPr lvl="1"/>
            <a:r>
              <a:rPr lang="fr-FR"/>
              <a:t>le Connection Broker pilote le démarrage des machines virtuelles</a:t>
            </a:r>
          </a:p>
          <a:p>
            <a:pPr lvl="1"/>
            <a:r>
              <a:rPr lang="fr-FR"/>
              <a:t>l’accès passe par l’infrastructure RDS existante</a:t>
            </a:r>
          </a:p>
          <a:p>
            <a:pPr lvl="0"/>
            <a:r>
              <a:rPr lang="fr-FR"/>
              <a:t>Réunit dans un même portail RemoteApp, sessions et postes virtuels</a:t>
            </a:r>
          </a:p>
          <a:p>
            <a:pPr lvl="0"/>
            <a:r>
              <a:rPr lang="fr-FR"/>
              <a:t>Mutualise les ressources et s’appuie sur des composants connus des administrateurs</a:t>
            </a:r>
          </a:p>
        </p:txBody>
      </p:sp>
      <p:sp>
        <p:nvSpPr>
          <p:cNvPr id="2" name="Title 1"/>
          <p:cNvSpPr>
            <a:spLocks noGrp="1"/>
          </p:cNvSpPr>
          <p:nvPr>
            <p:ph type="title"/>
          </p:nvPr>
        </p:nvSpPr>
        <p:spPr>
          <a:xfrm>
            <a:off x="71406" y="428604"/>
            <a:ext cx="7715304" cy="928694"/>
          </a:xfrm>
        </p:spPr>
        <p:txBody>
          <a:bodyPr/>
          <a:lstStyle/>
          <a:p>
            <a:pPr lvl="0"/>
            <a:r>
              <a:rPr lang="fr-FR"/>
              <a:t>La solution Microsoft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Les composants d’un déploiement VDI</a:t>
            </a:r>
          </a:p>
        </p:txBody>
      </p:sp>
      <p:sp>
        <p:nvSpPr>
          <p:cNvPr id="6" name="Espace réservé du contenu 2"/>
          <p:cNvSpPr>
            <a:spLocks noGrp="1"/>
          </p:cNvSpPr>
          <p:nvPr>
            <p:ph idx="1"/>
          </p:nvPr>
        </p:nvSpPr>
        <p:spPr/>
        <p:txBody>
          <a:bodyPr/>
          <a:lstStyle/>
          <a:p>
            <a:pPr lvl="0"/>
            <a:r>
              <a:t>Hôte de virtualisation : héberge les postes virtuels avec Hyper-V</a:t>
            </a:r>
          </a:p>
          <a:p>
            <a:pPr lvl="0"/>
            <a:r>
              <a:t>Accès Web : liste les ressources disponibles</a:t>
            </a:r>
          </a:p>
          <a:p>
            <a:pPr lvl="0"/>
            <a:r>
              <a:t>Connection Broker : redirige vers le bon poste virtuel, le démarre si nécessaire</a:t>
            </a:r>
          </a:p>
          <a:p>
            <a:pPr lvl="0"/>
            <a:r>
              <a:t>Passerelle : connexion sécurisée depuis Internet</a:t>
            </a:r>
          </a:p>
          <a:p>
            <a:pPr lvl="0"/>
            <a:r>
              <a:t>Postes virtuels Windows 11</a:t>
            </a:r>
          </a:p>
          <a:p>
            <a:pPr lvl="1"/>
            <a:r>
              <a:t>Bureau à distance activé</a:t>
            </a:r>
          </a:p>
          <a:p>
            <a:pPr lvl="1"/>
            <a:r>
              <a:t>groupe d’utilisateurs VDI autorisé à se connecter</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9</a:t>
            </a:fld>
            <a:endParaRPr lang="fr-B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L’architecture VDI</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10</a:t>
            </a:fld>
            <a:endParaRPr lang="fr-BE"/>
          </a:p>
        </p:txBody>
      </p:sp>
      <p:sp>
        <p:nvSpPr>
          <p:cNvPr id="13" name="Rounded Rectangle 12"/>
          <p:cNvSpPr/>
          <p:nvPr/>
        </p:nvSpPr>
        <p:spPr>
          <a:xfrm>
            <a:off x="288000" y="3096000"/>
            <a:ext cx="1368000" cy="864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Client</a:t>
            </a:r>
          </a:p>
          <a:p>
            <a:pPr algn="ctr"/>
            <a:r>
              <a:rPr sz="950" b="0">
                <a:solidFill>
                  <a:srgbClr val="44546A"/>
                </a:solidFill>
                <a:latin typeface="Corbel"/>
              </a:rPr>
              <a:t>bnedjimi</a:t>
            </a:r>
          </a:p>
        </p:txBody>
      </p:sp>
      <p:sp>
        <p:nvSpPr>
          <p:cNvPr id="14" name="Rounded Rectangle 13"/>
          <p:cNvSpPr/>
          <p:nvPr/>
        </p:nvSpPr>
        <p:spPr>
          <a:xfrm>
            <a:off x="2088000" y="3096000"/>
            <a:ext cx="1872000" cy="864000"/>
          </a:xfrm>
          <a:prstGeom prst="roundRect">
            <a:avLst>
              <a:gd name="adj" fmla="val 8000"/>
            </a:avLst>
          </a:prstGeom>
          <a:solidFill>
            <a:srgbClr val="FFC000"/>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Passerelles</a:t>
            </a:r>
          </a:p>
          <a:p>
            <a:pPr algn="ctr"/>
            <a:r>
              <a:rPr sz="950" b="0">
                <a:solidFill>
                  <a:srgbClr val="44546A"/>
                </a:solidFill>
                <a:latin typeface="Corbel"/>
              </a:rPr>
              <a:t>rds.avaedos.lan</a:t>
            </a:r>
          </a:p>
        </p:txBody>
      </p:sp>
      <p:sp>
        <p:nvSpPr>
          <p:cNvPr id="15" name="Rounded Rectangle 14"/>
          <p:cNvSpPr/>
          <p:nvPr/>
        </p:nvSpPr>
        <p:spPr>
          <a:xfrm>
            <a:off x="4392000" y="3096000"/>
            <a:ext cx="1800000" cy="864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FFFFFF"/>
                </a:solidFill>
                <a:latin typeface="Corbel"/>
              </a:rPr>
              <a:t>Connection Broker</a:t>
            </a:r>
          </a:p>
          <a:p>
            <a:pPr algn="ctr"/>
            <a:r>
              <a:rPr sz="950" b="0">
                <a:solidFill>
                  <a:srgbClr val="FFFFFF"/>
                </a:solidFill>
                <a:latin typeface="Corbel"/>
              </a:rPr>
              <a:t>rds-farm.avaedos.lan</a:t>
            </a:r>
          </a:p>
        </p:txBody>
      </p:sp>
      <p:sp>
        <p:nvSpPr>
          <p:cNvPr id="16" name="Rounded Rectangle 15"/>
          <p:cNvSpPr/>
          <p:nvPr/>
        </p:nvSpPr>
        <p:spPr>
          <a:xfrm>
            <a:off x="4392000" y="4680000"/>
            <a:ext cx="1800000" cy="720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Licences</a:t>
            </a:r>
          </a:p>
          <a:p>
            <a:pPr algn="ctr"/>
            <a:r>
              <a:rPr sz="950" b="0">
                <a:solidFill>
                  <a:srgbClr val="44546A"/>
                </a:solidFill>
                <a:latin typeface="Corbel"/>
              </a:rPr>
              <a:t>RDS-CBROKER1</a:t>
            </a:r>
          </a:p>
        </p:txBody>
      </p:sp>
      <p:sp>
        <p:nvSpPr>
          <p:cNvPr id="17" name="Rounded Rectangle 16"/>
          <p:cNvSpPr/>
          <p:nvPr/>
        </p:nvSpPr>
        <p:spPr>
          <a:xfrm>
            <a:off x="6624000" y="1728000"/>
            <a:ext cx="2304000" cy="2088000"/>
          </a:xfrm>
          <a:prstGeom prst="roundRect">
            <a:avLst>
              <a:gd name="adj" fmla="val 3000"/>
            </a:avLst>
          </a:prstGeom>
          <a:noFill/>
          <a:ln w="1270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696000" y="1746000"/>
            <a:ext cx="2160000" cy="216000"/>
          </a:xfrm>
          <a:prstGeom prst="rect">
            <a:avLst/>
          </a:prstGeom>
          <a:noFill/>
        </p:spPr>
        <p:txBody>
          <a:bodyPr wrap="square" lIns="43200" tIns="18000" rIns="43200" bIns="18000" anchor="ctr">
            <a:spAutoFit/>
          </a:bodyPr>
          <a:lstStyle/>
          <a:p>
            <a:pPr algn="l"/>
            <a:r>
              <a:rPr sz="900" b="1">
                <a:solidFill>
                  <a:srgbClr val="A5A5A5"/>
                </a:solidFill>
                <a:latin typeface="Corbel"/>
              </a:rPr>
              <a:t>RDS-HYPERV1 – Hyper-V</a:t>
            </a:r>
          </a:p>
        </p:txBody>
      </p:sp>
      <p:sp>
        <p:nvSpPr>
          <p:cNvPr id="19" name="Rounded Rectangle 18"/>
          <p:cNvSpPr/>
          <p:nvPr/>
        </p:nvSpPr>
        <p:spPr>
          <a:xfrm>
            <a:off x="6840000" y="2016000"/>
            <a:ext cx="1872000" cy="720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W11-GOLD</a:t>
            </a:r>
          </a:p>
          <a:p>
            <a:pPr algn="ctr"/>
            <a:r>
              <a:rPr sz="950" b="0">
                <a:solidFill>
                  <a:srgbClr val="44546A"/>
                </a:solidFill>
                <a:latin typeface="Corbel"/>
              </a:rPr>
              <a:t>modèle, arrêté</a:t>
            </a:r>
          </a:p>
        </p:txBody>
      </p:sp>
      <p:sp>
        <p:nvSpPr>
          <p:cNvPr id="20" name="Rounded Rectangle 19"/>
          <p:cNvSpPr/>
          <p:nvPr/>
        </p:nvSpPr>
        <p:spPr>
          <a:xfrm>
            <a:off x="6840000" y="2880000"/>
            <a:ext cx="1872000" cy="72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VDI-0</a:t>
            </a:r>
          </a:p>
          <a:p>
            <a:pPr algn="ctr"/>
            <a:r>
              <a:rPr sz="950" b="0">
                <a:solidFill>
                  <a:srgbClr val="44546A"/>
                </a:solidFill>
                <a:latin typeface="Corbel"/>
              </a:rPr>
              <a:t>Windows 11</a:t>
            </a:r>
          </a:p>
        </p:txBody>
      </p:sp>
      <p:sp>
        <p:nvSpPr>
          <p:cNvPr id="21" name="Rounded Rectangle 20"/>
          <p:cNvSpPr/>
          <p:nvPr/>
        </p:nvSpPr>
        <p:spPr>
          <a:xfrm>
            <a:off x="6624000" y="3960000"/>
            <a:ext cx="2304000" cy="1944000"/>
          </a:xfrm>
          <a:prstGeom prst="roundRect">
            <a:avLst>
              <a:gd name="adj" fmla="val 3000"/>
            </a:avLst>
          </a:prstGeom>
          <a:noFill/>
          <a:ln w="1270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696000" y="3978000"/>
            <a:ext cx="2160000" cy="216000"/>
          </a:xfrm>
          <a:prstGeom prst="rect">
            <a:avLst/>
          </a:prstGeom>
          <a:noFill/>
        </p:spPr>
        <p:txBody>
          <a:bodyPr wrap="square" lIns="43200" tIns="18000" rIns="43200" bIns="18000" anchor="ctr">
            <a:spAutoFit/>
          </a:bodyPr>
          <a:lstStyle/>
          <a:p>
            <a:pPr algn="l"/>
            <a:r>
              <a:rPr sz="900" b="1">
                <a:solidFill>
                  <a:srgbClr val="A5A5A5"/>
                </a:solidFill>
                <a:latin typeface="Corbel"/>
              </a:rPr>
              <a:t>RDS-HYPERV2 – Hyper-V</a:t>
            </a:r>
          </a:p>
        </p:txBody>
      </p:sp>
      <p:sp>
        <p:nvSpPr>
          <p:cNvPr id="23" name="Rounded Rectangle 22"/>
          <p:cNvSpPr/>
          <p:nvPr/>
        </p:nvSpPr>
        <p:spPr>
          <a:xfrm>
            <a:off x="6840000" y="4464000"/>
            <a:ext cx="1872000" cy="72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VDI-1</a:t>
            </a:r>
          </a:p>
          <a:p>
            <a:pPr algn="ctr"/>
            <a:r>
              <a:rPr sz="950" b="0">
                <a:solidFill>
                  <a:srgbClr val="44546A"/>
                </a:solidFill>
                <a:latin typeface="Corbel"/>
              </a:rPr>
              <a:t>Windows 11</a:t>
            </a:r>
          </a:p>
        </p:txBody>
      </p:sp>
      <p:cxnSp>
        <p:nvCxnSpPr>
          <p:cNvPr id="24" name="Connector 23"/>
          <p:cNvCxnSpPr/>
          <p:nvPr/>
        </p:nvCxnSpPr>
        <p:spPr>
          <a:xfrm>
            <a:off x="1656000" y="3528000"/>
            <a:ext cx="432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960000" y="3528000"/>
            <a:ext cx="432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192000" y="3240000"/>
            <a:ext cx="648000" cy="144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192000" y="3708000"/>
            <a:ext cx="648000" cy="1044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392000" y="4032000"/>
            <a:ext cx="1800000" cy="252000"/>
          </a:xfrm>
          <a:prstGeom prst="rect">
            <a:avLst/>
          </a:prstGeom>
          <a:noFill/>
        </p:spPr>
        <p:txBody>
          <a:bodyPr wrap="square" lIns="43200" tIns="18000" rIns="43200" bIns="18000" anchor="ctr">
            <a:spAutoFit/>
          </a:bodyPr>
          <a:lstStyle/>
          <a:p>
            <a:pPr algn="ctr"/>
            <a:r>
              <a:rPr sz="900" b="0">
                <a:solidFill>
                  <a:srgbClr val="44546A"/>
                </a:solidFill>
                <a:latin typeface="Corbel"/>
              </a:rPr>
              <a:t>démarre les postes</a:t>
            </a:r>
          </a:p>
        </p:txBody>
      </p:sp>
      <p:sp>
        <p:nvSpPr>
          <p:cNvPr id="29" name="TextBox 28"/>
          <p:cNvSpPr txBox="1"/>
          <p:nvPr/>
        </p:nvSpPr>
        <p:spPr>
          <a:xfrm>
            <a:off x="288000" y="6048000"/>
            <a:ext cx="8568000" cy="324000"/>
          </a:xfrm>
          <a:prstGeom prst="rect">
            <a:avLst/>
          </a:prstGeom>
          <a:noFill/>
        </p:spPr>
        <p:txBody>
          <a:bodyPr wrap="square" lIns="43200" tIns="18000" rIns="43200" bIns="18000" anchor="ctr">
            <a:spAutoFit/>
          </a:bodyPr>
          <a:lstStyle/>
          <a:p>
            <a:pPr algn="ctr"/>
            <a:r>
              <a:rPr sz="1050" b="0" i="1">
                <a:solidFill>
                  <a:srgbClr val="A5A5A5"/>
                </a:solidFill>
                <a:latin typeface="Corbel"/>
              </a:rPr>
              <a:t>Seuls les hôtes de virtualisation s'ajoutent au déploiement existant.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 parcours d’une connexion VDI</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11</a:t>
            </a:fld>
            <a:endParaRPr lang="fr-BE"/>
          </a:p>
        </p:txBody>
      </p:sp>
      <p:sp>
        <p:nvSpPr>
          <p:cNvPr id="13" name="Rounded Rectangle 12"/>
          <p:cNvSpPr/>
          <p:nvPr/>
        </p:nvSpPr>
        <p:spPr>
          <a:xfrm>
            <a:off x="288000" y="3096000"/>
            <a:ext cx="1584000" cy="864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Client</a:t>
            </a:r>
          </a:p>
          <a:p>
            <a:pPr algn="ctr"/>
            <a:r>
              <a:rPr sz="950" b="0">
                <a:solidFill>
                  <a:srgbClr val="44546A"/>
                </a:solidFill>
                <a:latin typeface="Corbel"/>
              </a:rPr>
              <a:t>bnedjimi</a:t>
            </a:r>
          </a:p>
        </p:txBody>
      </p:sp>
      <p:sp>
        <p:nvSpPr>
          <p:cNvPr id="14" name="Rounded Rectangle 13"/>
          <p:cNvSpPr/>
          <p:nvPr/>
        </p:nvSpPr>
        <p:spPr>
          <a:xfrm>
            <a:off x="3168000" y="3096000"/>
            <a:ext cx="2088000" cy="864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FFFFFF"/>
                </a:solidFill>
                <a:latin typeface="Corbel"/>
              </a:rPr>
              <a:t>Connection Broker</a:t>
            </a:r>
          </a:p>
          <a:p>
            <a:pPr algn="ctr"/>
            <a:r>
              <a:rPr sz="950" b="0">
                <a:solidFill>
                  <a:srgbClr val="FFFFFF"/>
                </a:solidFill>
                <a:latin typeface="Corbel"/>
              </a:rPr>
              <a:t>RdsVdiColl1</a:t>
            </a:r>
          </a:p>
        </p:txBody>
      </p:sp>
      <p:sp>
        <p:nvSpPr>
          <p:cNvPr id="15" name="Rounded Rectangle 14"/>
          <p:cNvSpPr/>
          <p:nvPr/>
        </p:nvSpPr>
        <p:spPr>
          <a:xfrm>
            <a:off x="6552000" y="1800000"/>
            <a:ext cx="2304000" cy="864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RDS-HYPERV1</a:t>
            </a:r>
          </a:p>
          <a:p>
            <a:pPr algn="ctr"/>
            <a:r>
              <a:rPr sz="950" b="0">
                <a:solidFill>
                  <a:srgbClr val="44546A"/>
                </a:solidFill>
                <a:latin typeface="Corbel"/>
              </a:rPr>
              <a:t>Hyper-V</a:t>
            </a:r>
          </a:p>
        </p:txBody>
      </p:sp>
      <p:sp>
        <p:nvSpPr>
          <p:cNvPr id="16" name="Rounded Rectangle 15"/>
          <p:cNvSpPr/>
          <p:nvPr/>
        </p:nvSpPr>
        <p:spPr>
          <a:xfrm>
            <a:off x="6552000" y="4320000"/>
            <a:ext cx="2304000" cy="864000"/>
          </a:xfrm>
          <a:prstGeom prst="roundRect">
            <a:avLst>
              <a:gd name="adj" fmla="val 8000"/>
            </a:avLst>
          </a:prstGeom>
          <a:solidFill>
            <a:srgbClr val="FFC000"/>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VDI-0</a:t>
            </a:r>
          </a:p>
          <a:p>
            <a:pPr algn="ctr"/>
            <a:r>
              <a:rPr sz="950" b="0">
                <a:solidFill>
                  <a:srgbClr val="44546A"/>
                </a:solidFill>
                <a:latin typeface="Corbel"/>
              </a:rPr>
              <a:t>poste Windows 11</a:t>
            </a:r>
          </a:p>
        </p:txBody>
      </p:sp>
      <p:cxnSp>
        <p:nvCxnSpPr>
          <p:cNvPr id="17" name="Connector 16"/>
          <p:cNvCxnSpPr/>
          <p:nvPr/>
        </p:nvCxnSpPr>
        <p:spPr>
          <a:xfrm>
            <a:off x="1872000" y="3348000"/>
            <a:ext cx="1296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256000" y="2232000"/>
            <a:ext cx="1296000" cy="1080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04000" y="2664000"/>
            <a:ext cx="0" cy="1656000"/>
          </a:xfrm>
          <a:prstGeom prst="line">
            <a:avLst/>
          </a:prstGeom>
          <a:ln w="15875">
            <a:solidFill>
              <a:srgbClr val="A5A5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08000" y="3492000"/>
            <a:ext cx="792000" cy="252000"/>
          </a:xfrm>
          <a:prstGeom prst="rect">
            <a:avLst/>
          </a:prstGeom>
          <a:noFill/>
        </p:spPr>
        <p:txBody>
          <a:bodyPr wrap="square" lIns="43200" tIns="18000" rIns="43200" bIns="18000" anchor="ctr">
            <a:spAutoFit/>
          </a:bodyPr>
          <a:lstStyle/>
          <a:p>
            <a:pPr algn="ctr"/>
            <a:r>
              <a:rPr sz="900" b="0">
                <a:solidFill>
                  <a:srgbClr val="44546A"/>
                </a:solidFill>
                <a:latin typeface="Corbel"/>
              </a:rPr>
              <a:t>démarre</a:t>
            </a:r>
          </a:p>
        </p:txBody>
      </p:sp>
      <p:cxnSp>
        <p:nvCxnSpPr>
          <p:cNvPr id="21" name="Connector 20"/>
          <p:cNvCxnSpPr/>
          <p:nvPr/>
        </p:nvCxnSpPr>
        <p:spPr>
          <a:xfrm flipH="1">
            <a:off x="1872000" y="3744000"/>
            <a:ext cx="1296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80000" y="3960000"/>
            <a:ext cx="5472000" cy="792000"/>
          </a:xfrm>
          <a:prstGeom prst="line">
            <a:avLst/>
          </a:prstGeom>
          <a:ln w="15875">
            <a:solidFill>
              <a:srgbClr val="5B9BD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528000" y="4392000"/>
            <a:ext cx="576000" cy="252000"/>
          </a:xfrm>
          <a:prstGeom prst="rect">
            <a:avLst/>
          </a:prstGeom>
          <a:noFill/>
        </p:spPr>
        <p:txBody>
          <a:bodyPr wrap="square" lIns="43200" tIns="18000" rIns="43200" bIns="18000" anchor="ctr">
            <a:spAutoFit/>
          </a:bodyPr>
          <a:lstStyle/>
          <a:p>
            <a:pPr algn="ctr"/>
            <a:r>
              <a:rPr sz="900" b="0">
                <a:solidFill>
                  <a:srgbClr val="44546A"/>
                </a:solidFill>
                <a:latin typeface="Corbel"/>
              </a:rPr>
              <a:t>RDP</a:t>
            </a:r>
          </a:p>
        </p:txBody>
      </p:sp>
      <p:sp>
        <p:nvSpPr>
          <p:cNvPr id="24" name="Oval 23"/>
          <p:cNvSpPr/>
          <p:nvPr/>
        </p:nvSpPr>
        <p:spPr>
          <a:xfrm>
            <a:off x="2376000" y="3024000"/>
            <a:ext cx="288000" cy="288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1">
                <a:solidFill>
                  <a:srgbClr val="FFFFFF"/>
                </a:solidFill>
                <a:latin typeface="Corbel"/>
              </a:rPr>
              <a:t>1</a:t>
            </a:r>
          </a:p>
        </p:txBody>
      </p:sp>
      <p:sp>
        <p:nvSpPr>
          <p:cNvPr id="25" name="Oval 24"/>
          <p:cNvSpPr/>
          <p:nvPr/>
        </p:nvSpPr>
        <p:spPr>
          <a:xfrm>
            <a:off x="4068000" y="2736000"/>
            <a:ext cx="288000" cy="288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1">
                <a:solidFill>
                  <a:srgbClr val="FFFFFF"/>
                </a:solidFill>
                <a:latin typeface="Corbel"/>
              </a:rPr>
              <a:t>2</a:t>
            </a:r>
          </a:p>
        </p:txBody>
      </p:sp>
      <p:sp>
        <p:nvSpPr>
          <p:cNvPr id="26" name="Oval 25"/>
          <p:cNvSpPr/>
          <p:nvPr/>
        </p:nvSpPr>
        <p:spPr>
          <a:xfrm>
            <a:off x="5688000" y="2376000"/>
            <a:ext cx="288000" cy="288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1">
                <a:solidFill>
                  <a:srgbClr val="FFFFFF"/>
                </a:solidFill>
                <a:latin typeface="Corbel"/>
              </a:rPr>
              <a:t>3</a:t>
            </a:r>
          </a:p>
        </p:txBody>
      </p:sp>
      <p:sp>
        <p:nvSpPr>
          <p:cNvPr id="27" name="Oval 26"/>
          <p:cNvSpPr/>
          <p:nvPr/>
        </p:nvSpPr>
        <p:spPr>
          <a:xfrm>
            <a:off x="2376000" y="3780000"/>
            <a:ext cx="288000" cy="288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1">
                <a:solidFill>
                  <a:srgbClr val="FFFFFF"/>
                </a:solidFill>
                <a:latin typeface="Corbel"/>
              </a:rPr>
              <a:t>4</a:t>
            </a:r>
          </a:p>
        </p:txBody>
      </p:sp>
      <p:sp>
        <p:nvSpPr>
          <p:cNvPr id="28" name="Oval 27"/>
          <p:cNvSpPr/>
          <p:nvPr/>
        </p:nvSpPr>
        <p:spPr>
          <a:xfrm>
            <a:off x="2016000" y="3960000"/>
            <a:ext cx="288000" cy="288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1">
                <a:solidFill>
                  <a:srgbClr val="FFFFFF"/>
                </a:solidFill>
                <a:latin typeface="Corbel"/>
              </a:rPr>
              <a:t>5</a:t>
            </a:r>
          </a:p>
        </p:txBody>
      </p:sp>
      <p:sp>
        <p:nvSpPr>
          <p:cNvPr id="29" name="TextBox 28"/>
          <p:cNvSpPr txBox="1"/>
          <p:nvPr/>
        </p:nvSpPr>
        <p:spPr>
          <a:xfrm>
            <a:off x="288000" y="5256000"/>
            <a:ext cx="6048000" cy="864000"/>
          </a:xfrm>
          <a:prstGeom prst="rect">
            <a:avLst/>
          </a:prstGeom>
          <a:noFill/>
        </p:spPr>
        <p:txBody>
          <a:bodyPr wrap="square" lIns="43200" tIns="18000" rIns="43200" bIns="18000" anchor="ctr">
            <a:spAutoFit/>
          </a:bodyPr>
          <a:lstStyle/>
          <a:p>
            <a:pPr algn="l"/>
            <a:r>
              <a:rPr sz="950" b="0">
                <a:solidFill>
                  <a:srgbClr val="44546A"/>
                </a:solidFill>
                <a:latin typeface="Corbel"/>
              </a:rPr>
              <a:t>1. Choix de la collection VDI</a:t>
            </a:r>
          </a:p>
          <a:p>
            <a:pPr algn="l"/>
            <a:r>
              <a:rPr sz="950" b="0">
                <a:solidFill>
                  <a:srgbClr val="44546A"/>
                </a:solidFill>
                <a:latin typeface="Corbel"/>
              </a:rPr>
              <a:t>2. Recherche d'un poste disponible</a:t>
            </a:r>
          </a:p>
          <a:p>
            <a:pPr algn="l"/>
            <a:r>
              <a:rPr sz="950" b="0">
                <a:solidFill>
                  <a:srgbClr val="44546A"/>
                </a:solidFill>
                <a:latin typeface="Corbel"/>
              </a:rPr>
              <a:t>3. Démarrage du poste par l'hôte</a:t>
            </a:r>
          </a:p>
          <a:p>
            <a:pPr algn="l"/>
            <a:r>
              <a:rPr sz="950" b="0">
                <a:solidFill>
                  <a:srgbClr val="44546A"/>
                </a:solidFill>
                <a:latin typeface="Corbel"/>
              </a:rPr>
              <a:t>4. Nom du poste renvoyé au client</a:t>
            </a:r>
          </a:p>
          <a:p>
            <a:pPr algn="l"/>
            <a:r>
              <a:rPr sz="950" b="0">
                <a:solidFill>
                  <a:srgbClr val="44546A"/>
                </a:solidFill>
                <a:latin typeface="Corbel"/>
              </a:rPr>
              <a:t>5. Connexion RDP au poste virtuel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Collections regroupées ou personnelles</a:t>
            </a:r>
          </a:p>
        </p:txBody>
      </p:sp>
      <p:graphicFrame>
        <p:nvGraphicFramePr>
          <p:cNvPr id="6" name="Content Placeholder 5"/>
          <p:cNvGraphicFramePr>
            <a:graphicFrameLocks noGrp="1"/>
          </p:cNvGraphicFramePr>
          <p:nvPr>
            <p:ph idx="1"/>
          </p:nvPr>
        </p:nvGraphicFramePr>
        <p:xfrm>
          <a:off x="63500" y="1498600"/>
          <a:ext cx="8991600" cy="3017520"/>
        </p:xfrm>
        <a:graphic>
          <a:graphicData uri="http://schemas.openxmlformats.org/drawingml/2006/table">
            <a:tbl>
              <a:tblPr firstRow="1" bandRow="1">
                <a:tableStyleId>{5C22544A-7EE6-4342-B048-85BDC9FD1C3A}</a:tableStyleId>
              </a:tblPr>
              <a:tblGrid>
                <a:gridCol w="2997200">
                  <a:extLst>
                    <a:ext uri="{9D8B030D-6E8A-4147-A177-3AD203B41FA5}">
                      <a16:colId xmlns:a16="http://schemas.microsoft.com/office/drawing/2014/main" val="20000"/>
                    </a:ext>
                  </a:extLst>
                </a:gridCol>
                <a:gridCol w="2997200">
                  <a:extLst>
                    <a:ext uri="{9D8B030D-6E8A-4147-A177-3AD203B41FA5}">
                      <a16:colId xmlns:a16="http://schemas.microsoft.com/office/drawing/2014/main" val="20001"/>
                    </a:ext>
                  </a:extLst>
                </a:gridCol>
                <a:gridCol w="2997200">
                  <a:extLst>
                    <a:ext uri="{9D8B030D-6E8A-4147-A177-3AD203B41FA5}">
                      <a16:colId xmlns:a16="http://schemas.microsoft.com/office/drawing/2014/main" val="20002"/>
                    </a:ext>
                  </a:extLst>
                </a:gridCol>
              </a:tblGrid>
              <a:tr h="0">
                <a:tc>
                  <a:txBody>
                    <a:bodyPr/>
                    <a:lstStyle/>
                    <a:p>
                      <a:pPr marL="0" lvl="0" indent="0">
                        <a:buNone/>
                      </a:pPr>
                      <a:r>
                        <a:t>Critère</a:t>
                      </a:r>
                    </a:p>
                  </a:txBody>
                  <a:tcPr/>
                </a:tc>
                <a:tc>
                  <a:txBody>
                    <a:bodyPr/>
                    <a:lstStyle/>
                    <a:p>
                      <a:pPr marL="0" lvl="0" indent="0">
                        <a:buNone/>
                      </a:pPr>
                      <a:r>
                        <a:t>Regroupée (pooled)</a:t>
                      </a:r>
                    </a:p>
                  </a:txBody>
                  <a:tcPr/>
                </a:tc>
                <a:tc>
                  <a:txBody>
                    <a:bodyPr/>
                    <a:lstStyle/>
                    <a:p>
                      <a:pPr marL="0" lvl="0" indent="0">
                        <a:buNone/>
                      </a:pPr>
                      <a:r>
                        <a:t>Personnelle</a:t>
                      </a:r>
                    </a:p>
                  </a:txBody>
                  <a:tcPr/>
                </a:tc>
                <a:extLst>
                  <a:ext uri="{0D108BD9-81ED-4DB2-BD59-A6C34878D82A}">
                    <a16:rowId xmlns:a16="http://schemas.microsoft.com/office/drawing/2014/main" val="10000"/>
                  </a:ext>
                </a:extLst>
              </a:tr>
              <a:tr h="0">
                <a:tc>
                  <a:txBody>
                    <a:bodyPr/>
                    <a:lstStyle/>
                    <a:p>
                      <a:pPr marL="0" lvl="0" indent="0">
                        <a:buNone/>
                      </a:pPr>
                      <a:r>
                        <a:t>Attribution</a:t>
                      </a:r>
                    </a:p>
                  </a:txBody>
                  <a:tcPr/>
                </a:tc>
                <a:tc>
                  <a:txBody>
                    <a:bodyPr/>
                    <a:lstStyle/>
                    <a:p>
                      <a:pPr marL="0" lvl="0" indent="0">
                        <a:buNone/>
                      </a:pPr>
                      <a:r>
                        <a:t>Machine libre à chaque connexion</a:t>
                      </a:r>
                    </a:p>
                  </a:txBody>
                  <a:tcPr/>
                </a:tc>
                <a:tc>
                  <a:txBody>
                    <a:bodyPr/>
                    <a:lstStyle/>
                    <a:p>
                      <a:pPr marL="0" lvl="0" indent="0">
                        <a:buNone/>
                      </a:pPr>
                      <a:r>
                        <a:t>Machine attribuée durablement à un utilisateur</a:t>
                      </a:r>
                    </a:p>
                  </a:txBody>
                  <a:tcPr/>
                </a:tc>
                <a:extLst>
                  <a:ext uri="{0D108BD9-81ED-4DB2-BD59-A6C34878D82A}">
                    <a16:rowId xmlns:a16="http://schemas.microsoft.com/office/drawing/2014/main" val="10001"/>
                  </a:ext>
                </a:extLst>
              </a:tr>
              <a:tr h="0">
                <a:tc>
                  <a:txBody>
                    <a:bodyPr/>
                    <a:lstStyle/>
                    <a:p>
                      <a:pPr marL="0" lvl="0" indent="0">
                        <a:buNone/>
                      </a:pPr>
                      <a:r>
                        <a:t>Retour à l’état initial</a:t>
                      </a:r>
                    </a:p>
                  </a:txBody>
                  <a:tcPr/>
                </a:tc>
                <a:tc>
                  <a:txBody>
                    <a:bodyPr/>
                    <a:lstStyle/>
                    <a:p>
                      <a:pPr marL="0" lvl="0" indent="0">
                        <a:buNone/>
                      </a:pPr>
                      <a:r>
                        <a:t>À la déconnexion, si activé</a:t>
                      </a:r>
                    </a:p>
                  </a:txBody>
                  <a:tcPr/>
                </a:tc>
                <a:tc>
                  <a:txBody>
                    <a:bodyPr/>
                    <a:lstStyle/>
                    <a:p>
                      <a:pPr marL="0" lvl="0" indent="0">
                        <a:buNone/>
                      </a:pPr>
                      <a:r>
                        <a:t>Non</a:t>
                      </a:r>
                    </a:p>
                  </a:txBody>
                  <a:tcPr/>
                </a:tc>
                <a:extLst>
                  <a:ext uri="{0D108BD9-81ED-4DB2-BD59-A6C34878D82A}">
                    <a16:rowId xmlns:a16="http://schemas.microsoft.com/office/drawing/2014/main" val="10002"/>
                  </a:ext>
                </a:extLst>
              </a:tr>
              <a:tr h="0">
                <a:tc>
                  <a:txBody>
                    <a:bodyPr/>
                    <a:lstStyle/>
                    <a:p>
                      <a:pPr marL="0" lvl="0" indent="0">
                        <a:buNone/>
                      </a:pPr>
                      <a:r>
                        <a:t>Profil</a:t>
                      </a:r>
                    </a:p>
                  </a:txBody>
                  <a:tcPr/>
                </a:tc>
                <a:tc>
                  <a:txBody>
                    <a:bodyPr/>
                    <a:lstStyle/>
                    <a:p>
                      <a:pPr marL="0" lvl="0" indent="0">
                        <a:buNone/>
                      </a:pPr>
                      <a:r>
                        <a:t>FSLogix ou disque de profil</a:t>
                      </a:r>
                    </a:p>
                  </a:txBody>
                  <a:tcPr/>
                </a:tc>
                <a:tc>
                  <a:txBody>
                    <a:bodyPr/>
                    <a:lstStyle/>
                    <a:p>
                      <a:pPr marL="0" lvl="0" indent="0">
                        <a:buNone/>
                      </a:pPr>
                      <a:r>
                        <a:t>Local à la machine</a:t>
                      </a:r>
                    </a:p>
                  </a:txBody>
                  <a:tcPr/>
                </a:tc>
                <a:extLst>
                  <a:ext uri="{0D108BD9-81ED-4DB2-BD59-A6C34878D82A}">
                    <a16:rowId xmlns:a16="http://schemas.microsoft.com/office/drawing/2014/main" val="10003"/>
                  </a:ext>
                </a:extLst>
              </a:tr>
              <a:tr h="0">
                <a:tc>
                  <a:txBody>
                    <a:bodyPr/>
                    <a:lstStyle/>
                    <a:p>
                      <a:pPr marL="0" lvl="0" indent="0">
                        <a:buNone/>
                      </a:pPr>
                      <a:r>
                        <a:t>Mise à jour</a:t>
                      </a:r>
                    </a:p>
                  </a:txBody>
                  <a:tcPr/>
                </a:tc>
                <a:tc>
                  <a:txBody>
                    <a:bodyPr/>
                    <a:lstStyle/>
                    <a:p>
                      <a:pPr marL="0" lvl="0" indent="0">
                        <a:buNone/>
                      </a:pPr>
                      <a:r>
                        <a:t>Par le modèle, pour toute la collection</a:t>
                      </a:r>
                    </a:p>
                  </a:txBody>
                  <a:tcPr/>
                </a:tc>
                <a:tc>
                  <a:txBody>
                    <a:bodyPr/>
                    <a:lstStyle/>
                    <a:p>
                      <a:pPr marL="0" lvl="0" indent="0">
                        <a:buNone/>
                      </a:pPr>
                      <a:r>
                        <a:t>Machine par machine</a:t>
                      </a:r>
                    </a:p>
                  </a:txBody>
                  <a:tcPr/>
                </a:tc>
                <a:extLst>
                  <a:ext uri="{0D108BD9-81ED-4DB2-BD59-A6C34878D82A}">
                    <a16:rowId xmlns:a16="http://schemas.microsoft.com/office/drawing/2014/main" val="10004"/>
                  </a:ext>
                </a:extLst>
              </a:tr>
              <a:tr h="0">
                <a:tc>
                  <a:txBody>
                    <a:bodyPr/>
                    <a:lstStyle/>
                    <a:p>
                      <a:pPr marL="0" lvl="0" indent="0">
                        <a:buNone/>
                      </a:pPr>
                      <a:r>
                        <a:t>Usage</a:t>
                      </a:r>
                    </a:p>
                  </a:txBody>
                  <a:tcPr/>
                </a:tc>
                <a:tc>
                  <a:txBody>
                    <a:bodyPr/>
                    <a:lstStyle/>
                    <a:p>
                      <a:pPr marL="0" lvl="0" indent="0">
                        <a:buNone/>
                      </a:pPr>
                      <a:r>
                        <a:t>Populations homogènes</a:t>
                      </a:r>
                    </a:p>
                  </a:txBody>
                  <a:tcPr/>
                </a:tc>
                <a:tc>
                  <a:txBody>
                    <a:bodyPr/>
                    <a:lstStyle/>
                    <a:p>
                      <a:pPr marL="0" lvl="0" indent="0">
                        <a:buNone/>
                      </a:pPr>
                      <a:r>
                        <a:t>Besoins spécifiques par utilisateur</a:t>
                      </a:r>
                    </a:p>
                  </a:txBody>
                  <a:tcPr/>
                </a:tc>
                <a:extLst>
                  <a:ext uri="{0D108BD9-81ED-4DB2-BD59-A6C34878D82A}">
                    <a16:rowId xmlns:a16="http://schemas.microsoft.com/office/drawing/2014/main" val="10005"/>
                  </a:ext>
                </a:extLst>
              </a:tr>
            </a:tbl>
          </a:graphicData>
        </a:graphic>
      </p:graphicFrame>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12</a:t>
            </a:fld>
            <a:endParaRPr lang="fr-B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Préparer le modèle Windows 11</a:t>
            </a:r>
          </a:p>
        </p:txBody>
      </p:sp>
      <p:sp>
        <p:nvSpPr>
          <p:cNvPr id="6" name="Espace réservé du contenu 2"/>
          <p:cNvSpPr>
            <a:spLocks noGrp="1"/>
          </p:cNvSpPr>
          <p:nvPr>
            <p:ph idx="1"/>
          </p:nvPr>
        </p:nvSpPr>
        <p:spPr/>
        <p:txBody>
          <a:bodyPr>
            <a:noAutofit/>
          </a:bodyPr>
          <a:lstStyle/>
          <a:p>
            <a:pPr lvl="0"/>
            <a:r>
              <a:rPr sz="2800" dirty="0"/>
              <a:t>Machine </a:t>
            </a:r>
            <a:r>
              <a:rPr sz="2800" dirty="0" err="1"/>
              <a:t>virtuelle</a:t>
            </a:r>
            <a:r>
              <a:rPr sz="2800" dirty="0"/>
              <a:t> de </a:t>
            </a:r>
            <a:r>
              <a:rPr sz="2800" dirty="0" err="1"/>
              <a:t>génération</a:t>
            </a:r>
            <a:r>
              <a:rPr sz="2800" dirty="0"/>
              <a:t> 2, </a:t>
            </a:r>
            <a:r>
              <a:rPr sz="2800" dirty="0" err="1"/>
              <a:t>démarrage</a:t>
            </a:r>
            <a:r>
              <a:rPr sz="2800" dirty="0"/>
              <a:t> </a:t>
            </a:r>
            <a:r>
              <a:rPr sz="2800" dirty="0" err="1"/>
              <a:t>sécurisé</a:t>
            </a:r>
            <a:r>
              <a:rPr sz="2800" dirty="0"/>
              <a:t> </a:t>
            </a:r>
            <a:r>
              <a:rPr sz="2800" dirty="0" err="1"/>
              <a:t>activé</a:t>
            </a:r>
            <a:endParaRPr sz="2800" dirty="0"/>
          </a:p>
          <a:p>
            <a:pPr lvl="0"/>
            <a:r>
              <a:rPr sz="2800" dirty="0"/>
              <a:t>TPM </a:t>
            </a:r>
            <a:r>
              <a:rPr sz="2800" dirty="0" err="1"/>
              <a:t>virtuel</a:t>
            </a:r>
            <a:r>
              <a:rPr sz="2800" dirty="0"/>
              <a:t> : </a:t>
            </a:r>
            <a:r>
              <a:rPr sz="2800" dirty="0" err="1"/>
              <a:t>exigé</a:t>
            </a:r>
            <a:r>
              <a:rPr sz="2800" dirty="0"/>
              <a:t> par Windows 11</a:t>
            </a:r>
          </a:p>
          <a:p>
            <a:pPr lvl="0"/>
            <a:r>
              <a:rPr sz="2800" dirty="0"/>
              <a:t>Windows 11 Enterprise, applications et mises à jour </a:t>
            </a:r>
            <a:r>
              <a:rPr sz="2800" dirty="0" err="1"/>
              <a:t>installées</a:t>
            </a:r>
            <a:endParaRPr sz="2800" dirty="0"/>
          </a:p>
          <a:p>
            <a:pPr lvl="0"/>
            <a:r>
              <a:rPr sz="2800" dirty="0"/>
              <a:t>Bureau à distance </a:t>
            </a:r>
            <a:r>
              <a:rPr sz="2800" dirty="0" err="1"/>
              <a:t>activé</a:t>
            </a:r>
            <a:r>
              <a:rPr sz="2800" dirty="0"/>
              <a:t> et </a:t>
            </a:r>
            <a:r>
              <a:rPr sz="2800" dirty="0" err="1"/>
              <a:t>autorisé</a:t>
            </a:r>
            <a:r>
              <a:rPr sz="2800" dirty="0"/>
              <a:t> pour </a:t>
            </a:r>
            <a:r>
              <a:rPr sz="2800" dirty="0">
                <a:latin typeface="Courier"/>
              </a:rPr>
              <a:t>RDS VDI Users</a:t>
            </a:r>
          </a:p>
          <a:p>
            <a:pPr lvl="0"/>
            <a:r>
              <a:rPr sz="2800" dirty="0" err="1"/>
              <a:t>Généralisation</a:t>
            </a:r>
            <a:r>
              <a:rPr sz="2800" dirty="0"/>
              <a:t> : </a:t>
            </a:r>
            <a:r>
              <a:rPr sz="2800" dirty="0" err="1">
                <a:latin typeface="Courier"/>
              </a:rPr>
              <a:t>sysprep</a:t>
            </a:r>
            <a:r>
              <a:rPr sz="2800" dirty="0">
                <a:latin typeface="Courier"/>
              </a:rPr>
              <a:t> /generalize /</a:t>
            </a:r>
            <a:r>
              <a:rPr sz="2800" dirty="0" err="1">
                <a:latin typeface="Courier"/>
              </a:rPr>
              <a:t>oobe</a:t>
            </a:r>
            <a:r>
              <a:rPr sz="2800" dirty="0">
                <a:latin typeface="Courier"/>
              </a:rPr>
              <a:t> /shutdown /</a:t>
            </a:r>
            <a:r>
              <a:rPr sz="2800" dirty="0" err="1">
                <a:latin typeface="Courier"/>
              </a:rPr>
              <a:t>mode:vm</a:t>
            </a:r>
            <a:endParaRPr sz="2800" dirty="0">
              <a:latin typeface="Courier"/>
            </a:endParaRPr>
          </a:p>
          <a:p>
            <a:pPr lvl="0"/>
            <a:r>
              <a:rPr sz="2800" dirty="0" err="1"/>
              <a:t>Créée</a:t>
            </a:r>
            <a:r>
              <a:rPr sz="2800" dirty="0"/>
              <a:t> sur un </a:t>
            </a:r>
            <a:r>
              <a:rPr sz="2800" dirty="0" err="1"/>
              <a:t>hôte</a:t>
            </a:r>
            <a:r>
              <a:rPr sz="2800" dirty="0"/>
              <a:t> Hyper-V de </a:t>
            </a:r>
            <a:r>
              <a:rPr sz="2800" dirty="0" err="1"/>
              <a:t>même</a:t>
            </a:r>
            <a:r>
              <a:rPr sz="2800" dirty="0"/>
              <a:t> version </a:t>
            </a:r>
            <a:r>
              <a:rPr sz="2800" dirty="0" err="1"/>
              <a:t>que</a:t>
            </a:r>
            <a:r>
              <a:rPr sz="2800" dirty="0"/>
              <a:t> RDS-HYPERV1</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13</a:t>
            </a:fld>
            <a:endParaRPr lang="fr-B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Ajouter l’hôte de virtualisation au déploiement</a:t>
            </a:r>
          </a:p>
        </p:txBody>
      </p:sp>
      <p:sp>
        <p:nvSpPr>
          <p:cNvPr id="6" name="Espace réservé du contenu 2"/>
          <p:cNvSpPr>
            <a:spLocks noGrp="1"/>
          </p:cNvSpPr>
          <p:nvPr>
            <p:ph idx="1"/>
          </p:nvPr>
        </p:nvSpPr>
        <p:spPr/>
        <p:txBody>
          <a:bodyPr>
            <a:noAutofit/>
          </a:bodyPr>
          <a:lstStyle/>
          <a:p>
            <a:pPr lvl="0" indent="0">
              <a:buNone/>
            </a:pPr>
            <a:r>
              <a:rPr sz="2400" dirty="0">
                <a:latin typeface="Courier"/>
              </a:rPr>
              <a:t>Add-</a:t>
            </a:r>
            <a:r>
              <a:rPr sz="2400" dirty="0" err="1">
                <a:latin typeface="Courier"/>
              </a:rPr>
              <a:t>RDServer</a:t>
            </a:r>
            <a:r>
              <a:rPr sz="2400" dirty="0">
                <a:latin typeface="Courier"/>
              </a:rPr>
              <a:t> </a:t>
            </a:r>
            <a:r>
              <a:rPr sz="2400" dirty="0">
                <a:solidFill>
                  <a:srgbClr val="666666"/>
                </a:solidFill>
                <a:latin typeface="Courier"/>
              </a:rPr>
              <a:t>-</a:t>
            </a:r>
            <a:r>
              <a:rPr sz="2400" dirty="0">
                <a:latin typeface="Courier"/>
              </a:rPr>
              <a:t>Server RDS-HYPERV1</a:t>
            </a:r>
            <a:r>
              <a:rPr sz="2400" dirty="0">
                <a:solidFill>
                  <a:srgbClr val="666666"/>
                </a:solidFill>
                <a:latin typeface="Courier"/>
              </a:rPr>
              <a:t>.</a:t>
            </a:r>
            <a:r>
              <a:rPr sz="2400" dirty="0">
                <a:solidFill>
                  <a:srgbClr val="06287E"/>
                </a:solidFill>
                <a:latin typeface="Courier"/>
              </a:rPr>
              <a:t>avaedos</a:t>
            </a:r>
            <a:r>
              <a:rPr sz="2400" dirty="0">
                <a:solidFill>
                  <a:srgbClr val="666666"/>
                </a:solidFill>
                <a:latin typeface="Courier"/>
              </a:rPr>
              <a:t>.</a:t>
            </a:r>
            <a:r>
              <a:rPr sz="2400" dirty="0">
                <a:solidFill>
                  <a:srgbClr val="06287E"/>
                </a:solidFill>
                <a:latin typeface="Courier"/>
              </a:rPr>
              <a:t>lan</a:t>
            </a:r>
            <a:r>
              <a:rPr sz="2400" dirty="0">
                <a:latin typeface="Courier"/>
              </a:rPr>
              <a:t> </a:t>
            </a:r>
            <a:r>
              <a:rPr sz="2400" dirty="0">
                <a:solidFill>
                  <a:srgbClr val="666666"/>
                </a:solidFill>
                <a:latin typeface="Courier"/>
              </a:rPr>
              <a:t>-</a:t>
            </a:r>
            <a:r>
              <a:rPr sz="2400" dirty="0">
                <a:latin typeface="Courier"/>
              </a:rPr>
              <a:t>Role RDS-VIRTUALIZATION `</a:t>
            </a:r>
            <a:br>
              <a:rPr sz="2400" dirty="0"/>
            </a:br>
            <a:r>
              <a:rPr sz="2400" dirty="0">
                <a:latin typeface="Courier"/>
              </a:rPr>
              <a:t>    </a:t>
            </a:r>
            <a:r>
              <a:rPr sz="2400" dirty="0">
                <a:solidFill>
                  <a:srgbClr val="666666"/>
                </a:solidFill>
                <a:latin typeface="Courier"/>
              </a:rPr>
              <a:t>-</a:t>
            </a:r>
            <a:r>
              <a:rPr sz="2400" dirty="0" err="1">
                <a:latin typeface="Courier"/>
              </a:rPr>
              <a:t>ConnectionBroker</a:t>
            </a:r>
            <a:r>
              <a:rPr sz="2400" dirty="0">
                <a:latin typeface="Courier"/>
              </a:rPr>
              <a:t> </a:t>
            </a:r>
            <a:r>
              <a:rPr sz="2400" dirty="0" err="1">
                <a:latin typeface="Courier"/>
              </a:rPr>
              <a:t>rds-farm</a:t>
            </a:r>
            <a:r>
              <a:rPr sz="2400" dirty="0" err="1">
                <a:solidFill>
                  <a:srgbClr val="666666"/>
                </a:solidFill>
                <a:latin typeface="Courier"/>
              </a:rPr>
              <a:t>.</a:t>
            </a:r>
            <a:r>
              <a:rPr sz="2400" dirty="0" err="1">
                <a:solidFill>
                  <a:srgbClr val="06287E"/>
                </a:solidFill>
                <a:latin typeface="Courier"/>
              </a:rPr>
              <a:t>avaedos</a:t>
            </a:r>
            <a:r>
              <a:rPr sz="2400" dirty="0" err="1">
                <a:solidFill>
                  <a:srgbClr val="666666"/>
                </a:solidFill>
                <a:latin typeface="Courier"/>
              </a:rPr>
              <a:t>.</a:t>
            </a:r>
            <a:r>
              <a:rPr sz="2400" dirty="0" err="1">
                <a:solidFill>
                  <a:srgbClr val="06287E"/>
                </a:solidFill>
                <a:latin typeface="Courier"/>
              </a:rPr>
              <a:t>lan</a:t>
            </a:r>
            <a:endParaRPr sz="2400" dirty="0">
              <a:solidFill>
                <a:srgbClr val="06287E"/>
              </a:solidFill>
              <a:latin typeface="Courier"/>
            </a:endParaRPr>
          </a:p>
          <a:p>
            <a:pPr lvl="0"/>
            <a:r>
              <a:rPr sz="2400" dirty="0" err="1"/>
              <a:t>Installe</a:t>
            </a:r>
            <a:r>
              <a:rPr sz="2400" dirty="0"/>
              <a:t> Hyper-V et le service de </a:t>
            </a:r>
            <a:r>
              <a:rPr sz="2400" dirty="0" err="1"/>
              <a:t>rôle</a:t>
            </a:r>
            <a:r>
              <a:rPr sz="2400" dirty="0"/>
              <a:t>, </a:t>
            </a:r>
            <a:r>
              <a:rPr sz="2400" dirty="0" err="1"/>
              <a:t>puis</a:t>
            </a:r>
            <a:r>
              <a:rPr sz="2400" dirty="0"/>
              <a:t> </a:t>
            </a:r>
            <a:r>
              <a:rPr sz="2400" dirty="0" err="1"/>
              <a:t>redémarre</a:t>
            </a:r>
            <a:r>
              <a:rPr sz="2400" dirty="0"/>
              <a:t> </a:t>
            </a:r>
            <a:r>
              <a:rPr sz="2400" dirty="0" err="1"/>
              <a:t>l’hôte</a:t>
            </a:r>
            <a:endParaRPr sz="2400" dirty="0"/>
          </a:p>
          <a:p>
            <a:pPr lvl="0"/>
            <a:r>
              <a:rPr sz="2400" dirty="0" err="1"/>
              <a:t>Prévoir</a:t>
            </a:r>
            <a:r>
              <a:rPr sz="2400" dirty="0"/>
              <a:t> un </a:t>
            </a:r>
            <a:r>
              <a:rPr sz="2400" dirty="0" err="1"/>
              <a:t>commutateur</a:t>
            </a:r>
            <a:r>
              <a:rPr sz="2400" dirty="0"/>
              <a:t> </a:t>
            </a:r>
            <a:r>
              <a:rPr sz="2400" dirty="0" err="1"/>
              <a:t>virtuel</a:t>
            </a:r>
            <a:r>
              <a:rPr sz="2400" dirty="0"/>
              <a:t> externe pour les </a:t>
            </a:r>
            <a:r>
              <a:rPr sz="2400" dirty="0" err="1"/>
              <a:t>postes</a:t>
            </a:r>
            <a:r>
              <a:rPr sz="2400" dirty="0"/>
              <a:t> </a:t>
            </a:r>
            <a:r>
              <a:rPr sz="2400" dirty="0" err="1"/>
              <a:t>virtuels</a:t>
            </a:r>
            <a:endParaRPr sz="2400" dirty="0"/>
          </a:p>
          <a:p>
            <a:pPr lvl="0"/>
            <a:r>
              <a:rPr sz="2400" dirty="0" err="1"/>
              <a:t>Prévoir</a:t>
            </a:r>
            <a:r>
              <a:rPr sz="2400" dirty="0"/>
              <a:t> un </a:t>
            </a:r>
            <a:r>
              <a:rPr sz="2400" dirty="0" err="1"/>
              <a:t>serveur</a:t>
            </a:r>
            <a:r>
              <a:rPr sz="2400" dirty="0"/>
              <a:t> DHCP pour </a:t>
            </a:r>
            <a:r>
              <a:rPr sz="2400" dirty="0" err="1"/>
              <a:t>leur</a:t>
            </a:r>
            <a:r>
              <a:rPr sz="2400" dirty="0"/>
              <a:t> </a:t>
            </a:r>
            <a:r>
              <a:rPr sz="2400" dirty="0" err="1"/>
              <a:t>adressage</a:t>
            </a:r>
            <a:endParaRPr sz="2400" dirty="0"/>
          </a:p>
          <a:p>
            <a:pPr lvl="0"/>
            <a:r>
              <a:rPr sz="2400" dirty="0" err="1"/>
              <a:t>Virtualisation</a:t>
            </a:r>
            <a:r>
              <a:rPr sz="2400" dirty="0"/>
              <a:t> </a:t>
            </a:r>
            <a:r>
              <a:rPr sz="2400" dirty="0" err="1"/>
              <a:t>imbriquée</a:t>
            </a:r>
            <a:r>
              <a:rPr sz="2400" dirty="0"/>
              <a:t> </a:t>
            </a:r>
            <a:r>
              <a:rPr sz="2400" dirty="0" err="1"/>
              <a:t>nécessaire</a:t>
            </a:r>
            <a:r>
              <a:rPr sz="2400" dirty="0"/>
              <a:t> </a:t>
            </a:r>
            <a:r>
              <a:rPr sz="2400" dirty="0" err="1"/>
              <a:t>si</a:t>
            </a:r>
            <a:r>
              <a:rPr sz="2400" dirty="0"/>
              <a:t> RDS-HYPERV1 est </a:t>
            </a:r>
            <a:r>
              <a:rPr sz="2400" dirty="0" err="1"/>
              <a:t>lui-même</a:t>
            </a:r>
            <a:r>
              <a:rPr sz="2400" dirty="0"/>
              <a:t> </a:t>
            </a:r>
            <a:r>
              <a:rPr sz="2400" dirty="0" err="1"/>
              <a:t>une</a:t>
            </a:r>
            <a:r>
              <a:rPr sz="2400" dirty="0"/>
              <a:t> machine </a:t>
            </a:r>
            <a:r>
              <a:rPr sz="2400" dirty="0" err="1"/>
              <a:t>virtuelle</a:t>
            </a:r>
            <a:endParaRPr sz="2400" dirty="0"/>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14</a:t>
            </a:fld>
            <a:endParaRPr lang="fr-B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Créer la collection regroupée</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15</a:t>
            </a:fld>
            <a:endParaRPr lang="fr-BE"/>
          </a:p>
        </p:txBody>
      </p:sp>
      <p:sp>
        <p:nvSpPr>
          <p:cNvPr id="13" name="Oval 12"/>
          <p:cNvSpPr/>
          <p:nvPr/>
        </p:nvSpPr>
        <p:spPr>
          <a:xfrm>
            <a:off x="1116000" y="2160000"/>
            <a:ext cx="324000" cy="324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1">
                <a:solidFill>
                  <a:srgbClr val="FFFFFF"/>
                </a:solidFill>
                <a:latin typeface="Corbel"/>
              </a:rPr>
              <a:t>1</a:t>
            </a:r>
          </a:p>
        </p:txBody>
      </p:sp>
      <p:sp>
        <p:nvSpPr>
          <p:cNvPr id="14" name="Rounded Rectangle 13"/>
          <p:cNvSpPr/>
          <p:nvPr/>
        </p:nvSpPr>
        <p:spPr>
          <a:xfrm>
            <a:off x="288000" y="2628000"/>
            <a:ext cx="1836000" cy="1296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W11-GOLD</a:t>
            </a:r>
          </a:p>
          <a:p>
            <a:pPr algn="ctr"/>
            <a:r>
              <a:rPr sz="950" b="0">
                <a:solidFill>
                  <a:srgbClr val="44546A"/>
                </a:solidFill>
                <a:latin typeface="Corbel"/>
              </a:rPr>
              <a:t>modèle généralisé, arrêté</a:t>
            </a:r>
          </a:p>
        </p:txBody>
      </p:sp>
      <p:sp>
        <p:nvSpPr>
          <p:cNvPr id="15" name="Right Arrow 14"/>
          <p:cNvSpPr/>
          <p:nvPr/>
        </p:nvSpPr>
        <p:spPr>
          <a:xfrm>
            <a:off x="2160000" y="3096000"/>
            <a:ext cx="288000" cy="360000"/>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3312000" y="2160000"/>
            <a:ext cx="324000" cy="324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1">
                <a:solidFill>
                  <a:srgbClr val="FFFFFF"/>
                </a:solidFill>
                <a:latin typeface="Corbel"/>
              </a:rPr>
              <a:t>2</a:t>
            </a:r>
          </a:p>
        </p:txBody>
      </p:sp>
      <p:sp>
        <p:nvSpPr>
          <p:cNvPr id="17" name="Rounded Rectangle 16"/>
          <p:cNvSpPr/>
          <p:nvPr/>
        </p:nvSpPr>
        <p:spPr>
          <a:xfrm>
            <a:off x="2484000" y="2628000"/>
            <a:ext cx="1836000" cy="1296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Export</a:t>
            </a:r>
          </a:p>
          <a:p>
            <a:pPr algn="ctr"/>
            <a:r>
              <a:rPr sz="950" b="0">
                <a:solidFill>
                  <a:srgbClr val="44546A"/>
                </a:solidFill>
                <a:latin typeface="Corbel"/>
              </a:rPr>
              <a:t>vers RDS-HYPERV1 et RDS-HYPERV2</a:t>
            </a:r>
          </a:p>
        </p:txBody>
      </p:sp>
      <p:sp>
        <p:nvSpPr>
          <p:cNvPr id="18" name="Right Arrow 17"/>
          <p:cNvSpPr/>
          <p:nvPr/>
        </p:nvSpPr>
        <p:spPr>
          <a:xfrm>
            <a:off x="4356000" y="3096000"/>
            <a:ext cx="288000" cy="360000"/>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5508000" y="2160000"/>
            <a:ext cx="324000" cy="324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1">
                <a:solidFill>
                  <a:srgbClr val="FFFFFF"/>
                </a:solidFill>
                <a:latin typeface="Corbel"/>
              </a:rPr>
              <a:t>3</a:t>
            </a:r>
          </a:p>
        </p:txBody>
      </p:sp>
      <p:sp>
        <p:nvSpPr>
          <p:cNvPr id="20" name="Rounded Rectangle 19"/>
          <p:cNvSpPr/>
          <p:nvPr/>
        </p:nvSpPr>
        <p:spPr>
          <a:xfrm>
            <a:off x="4680000" y="2628000"/>
            <a:ext cx="1836000" cy="1296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Disques de différenciation</a:t>
            </a:r>
          </a:p>
          <a:p>
            <a:pPr algn="ctr"/>
            <a:r>
              <a:rPr sz="950" b="0">
                <a:solidFill>
                  <a:srgbClr val="44546A"/>
                </a:solidFill>
                <a:latin typeface="Corbel"/>
              </a:rPr>
              <a:t>un par poste</a:t>
            </a:r>
          </a:p>
        </p:txBody>
      </p:sp>
      <p:sp>
        <p:nvSpPr>
          <p:cNvPr id="21" name="Right Arrow 20"/>
          <p:cNvSpPr/>
          <p:nvPr/>
        </p:nvSpPr>
        <p:spPr>
          <a:xfrm>
            <a:off x="6552000" y="3096000"/>
            <a:ext cx="288000" cy="360000"/>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7704000" y="2160000"/>
            <a:ext cx="324000" cy="324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100" b="1">
                <a:solidFill>
                  <a:srgbClr val="FFFFFF"/>
                </a:solidFill>
                <a:latin typeface="Corbel"/>
              </a:rPr>
              <a:t>4</a:t>
            </a:r>
          </a:p>
        </p:txBody>
      </p:sp>
      <p:sp>
        <p:nvSpPr>
          <p:cNvPr id="23" name="Rounded Rectangle 22"/>
          <p:cNvSpPr/>
          <p:nvPr/>
        </p:nvSpPr>
        <p:spPr>
          <a:xfrm>
            <a:off x="6876000" y="2628000"/>
            <a:ext cx="1836000" cy="1296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FFFFFF"/>
                </a:solidFill>
                <a:latin typeface="Corbel"/>
              </a:rPr>
              <a:t>VDI-0, VDI-1</a:t>
            </a:r>
          </a:p>
          <a:p>
            <a:pPr algn="ctr"/>
            <a:r>
              <a:rPr sz="950" b="0">
                <a:solidFill>
                  <a:srgbClr val="FFFFFF"/>
                </a:solidFill>
                <a:latin typeface="Corbel"/>
              </a:rPr>
              <a:t>un poste par hôte, UO RD VDI</a:t>
            </a:r>
          </a:p>
        </p:txBody>
      </p:sp>
      <p:sp>
        <p:nvSpPr>
          <p:cNvPr id="24" name="Rounded Rectangle 23"/>
          <p:cNvSpPr/>
          <p:nvPr/>
        </p:nvSpPr>
        <p:spPr>
          <a:xfrm>
            <a:off x="4644000" y="4536000"/>
            <a:ext cx="3996000" cy="792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RDS VDI Users</a:t>
            </a:r>
          </a:p>
          <a:p>
            <a:pPr algn="ctr"/>
            <a:r>
              <a:rPr sz="950" b="0">
                <a:solidFill>
                  <a:srgbClr val="44546A"/>
                </a:solidFill>
                <a:latin typeface="Corbel"/>
              </a:rPr>
              <a:t>accès à RdsVdiColl1</a:t>
            </a:r>
          </a:p>
        </p:txBody>
      </p:sp>
      <p:cxnSp>
        <p:nvCxnSpPr>
          <p:cNvPr id="25" name="Connector 24"/>
          <p:cNvCxnSpPr/>
          <p:nvPr/>
        </p:nvCxnSpPr>
        <p:spPr>
          <a:xfrm>
            <a:off x="7632000" y="3924000"/>
            <a:ext cx="0" cy="612000"/>
          </a:xfrm>
          <a:prstGeom prst="line">
            <a:avLst/>
          </a:prstGeom>
          <a:ln w="15875">
            <a:solidFill>
              <a:srgbClr val="A5A5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000" y="5616000"/>
            <a:ext cx="8568000" cy="324000"/>
          </a:xfrm>
          <a:prstGeom prst="rect">
            <a:avLst/>
          </a:prstGeom>
          <a:noFill/>
        </p:spPr>
        <p:txBody>
          <a:bodyPr wrap="square" lIns="43200" tIns="18000" rIns="43200" bIns="18000" anchor="ctr">
            <a:spAutoFit/>
          </a:bodyPr>
          <a:lstStyle/>
          <a:p>
            <a:pPr algn="ctr"/>
            <a:r>
              <a:rPr sz="1050" b="0" i="1">
                <a:solidFill>
                  <a:srgbClr val="A5A5A5"/>
                </a:solidFill>
                <a:latin typeface="Corbel"/>
              </a:rPr>
              <a:t>Le Connection Broker réalise toutes ces étapes à partir d'une seule commande.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La collection en PowerShell</a:t>
            </a:r>
          </a:p>
        </p:txBody>
      </p:sp>
      <p:sp>
        <p:nvSpPr>
          <p:cNvPr id="6" name="Espace réservé du contenu 2"/>
          <p:cNvSpPr>
            <a:spLocks noGrp="1"/>
          </p:cNvSpPr>
          <p:nvPr>
            <p:ph idx="1"/>
          </p:nvPr>
        </p:nvSpPr>
        <p:spPr/>
        <p:txBody>
          <a:bodyPr>
            <a:noAutofit/>
          </a:bodyPr>
          <a:lstStyle/>
          <a:p>
            <a:pPr lvl="0" indent="0">
              <a:buNone/>
            </a:pPr>
            <a:r>
              <a:rPr sz="2000" dirty="0">
                <a:latin typeface="Courier"/>
              </a:rPr>
              <a:t>New-</a:t>
            </a:r>
            <a:r>
              <a:rPr sz="2000" dirty="0" err="1">
                <a:latin typeface="Courier"/>
              </a:rPr>
              <a:t>RDVirtualDesktopCollection</a:t>
            </a:r>
            <a:r>
              <a:rPr sz="2000" dirty="0">
                <a:latin typeface="Courier"/>
              </a:rPr>
              <a:t> </a:t>
            </a:r>
            <a:r>
              <a:rPr sz="2000" dirty="0">
                <a:solidFill>
                  <a:srgbClr val="666666"/>
                </a:solidFill>
                <a:latin typeface="Courier"/>
              </a:rPr>
              <a:t>-</a:t>
            </a:r>
            <a:r>
              <a:rPr sz="2000" dirty="0" err="1">
                <a:latin typeface="Courier"/>
              </a:rPr>
              <a:t>CollectionName</a:t>
            </a:r>
            <a:r>
              <a:rPr sz="2000" dirty="0">
                <a:latin typeface="Courier"/>
              </a:rPr>
              <a:t> </a:t>
            </a:r>
            <a:r>
              <a:rPr sz="2000" dirty="0">
                <a:solidFill>
                  <a:srgbClr val="4070A0"/>
                </a:solidFill>
                <a:latin typeface="Courier"/>
              </a:rPr>
              <a:t>"RdsVdiColl1"</a:t>
            </a:r>
            <a:r>
              <a:rPr sz="2000" dirty="0">
                <a:latin typeface="Courier"/>
              </a:rPr>
              <a:t> `</a:t>
            </a:r>
            <a:br>
              <a:rPr sz="2000" dirty="0"/>
            </a:br>
            <a:r>
              <a:rPr sz="2000" dirty="0">
                <a:latin typeface="Courier"/>
              </a:rPr>
              <a:t>    </a:t>
            </a:r>
            <a:r>
              <a:rPr sz="2000" dirty="0">
                <a:solidFill>
                  <a:srgbClr val="666666"/>
                </a:solidFill>
                <a:latin typeface="Courier"/>
              </a:rPr>
              <a:t>-</a:t>
            </a:r>
            <a:r>
              <a:rPr sz="2000" dirty="0" err="1">
                <a:latin typeface="Courier"/>
              </a:rPr>
              <a:t>PooledManaged</a:t>
            </a:r>
            <a:r>
              <a:rPr sz="2000" dirty="0">
                <a:latin typeface="Courier"/>
              </a:rPr>
              <a:t> </a:t>
            </a:r>
            <a:r>
              <a:rPr sz="2000" dirty="0">
                <a:solidFill>
                  <a:srgbClr val="666666"/>
                </a:solidFill>
                <a:latin typeface="Courier"/>
              </a:rPr>
              <a:t>-</a:t>
            </a:r>
            <a:r>
              <a:rPr sz="2000" dirty="0" err="1">
                <a:latin typeface="Courier"/>
              </a:rPr>
              <a:t>VirtualDesktopTemplateName</a:t>
            </a:r>
            <a:r>
              <a:rPr sz="2000" dirty="0">
                <a:latin typeface="Courier"/>
              </a:rPr>
              <a:t> </a:t>
            </a:r>
            <a:r>
              <a:rPr sz="2000" dirty="0">
                <a:solidFill>
                  <a:srgbClr val="4070A0"/>
                </a:solidFill>
                <a:latin typeface="Courier"/>
              </a:rPr>
              <a:t>"W11-GOLD"</a:t>
            </a:r>
            <a:r>
              <a:rPr sz="2000" dirty="0">
                <a:latin typeface="Courier"/>
              </a:rPr>
              <a:t> `</a:t>
            </a:r>
            <a:br>
              <a:rPr sz="2000" dirty="0"/>
            </a:br>
            <a:r>
              <a:rPr sz="2000" dirty="0">
                <a:latin typeface="Courier"/>
              </a:rPr>
              <a:t>    </a:t>
            </a:r>
            <a:r>
              <a:rPr sz="2000" dirty="0">
                <a:solidFill>
                  <a:srgbClr val="666666"/>
                </a:solidFill>
                <a:latin typeface="Courier"/>
              </a:rPr>
              <a:t>-</a:t>
            </a:r>
            <a:r>
              <a:rPr sz="2000" dirty="0" err="1">
                <a:latin typeface="Courier"/>
              </a:rPr>
              <a:t>VirtualDesktopTemplateHostServer</a:t>
            </a:r>
            <a:r>
              <a:rPr sz="2000" dirty="0">
                <a:latin typeface="Courier"/>
              </a:rPr>
              <a:t> RDS-HYPERV1</a:t>
            </a:r>
            <a:r>
              <a:rPr sz="2000" dirty="0">
                <a:solidFill>
                  <a:srgbClr val="666666"/>
                </a:solidFill>
                <a:latin typeface="Courier"/>
              </a:rPr>
              <a:t>.</a:t>
            </a:r>
            <a:r>
              <a:rPr sz="2000" dirty="0">
                <a:solidFill>
                  <a:srgbClr val="06287E"/>
                </a:solidFill>
                <a:latin typeface="Courier"/>
              </a:rPr>
              <a:t>avaedos</a:t>
            </a:r>
            <a:r>
              <a:rPr sz="2000" dirty="0">
                <a:solidFill>
                  <a:srgbClr val="666666"/>
                </a:solidFill>
                <a:latin typeface="Courier"/>
              </a:rPr>
              <a:t>.</a:t>
            </a:r>
            <a:r>
              <a:rPr sz="2000" dirty="0">
                <a:solidFill>
                  <a:srgbClr val="06287E"/>
                </a:solidFill>
                <a:latin typeface="Courier"/>
              </a:rPr>
              <a:t>lan</a:t>
            </a:r>
            <a:r>
              <a:rPr sz="2000" dirty="0">
                <a:latin typeface="Courier"/>
              </a:rPr>
              <a:t> `</a:t>
            </a:r>
            <a:br>
              <a:rPr sz="2000" dirty="0"/>
            </a:br>
            <a:r>
              <a:rPr sz="2000" dirty="0">
                <a:latin typeface="Courier"/>
              </a:rPr>
              <a:t>    </a:t>
            </a:r>
            <a:r>
              <a:rPr sz="2000" dirty="0">
                <a:solidFill>
                  <a:srgbClr val="666666"/>
                </a:solidFill>
                <a:latin typeface="Courier"/>
              </a:rPr>
              <a:t>-</a:t>
            </a:r>
            <a:r>
              <a:rPr sz="2000" dirty="0" err="1">
                <a:latin typeface="Courier"/>
              </a:rPr>
              <a:t>VirtualDesktopAllocation</a:t>
            </a:r>
            <a:r>
              <a:rPr sz="2000" dirty="0">
                <a:latin typeface="Courier"/>
              </a:rPr>
              <a:t> @</a:t>
            </a:r>
            <a:r>
              <a:rPr sz="2000" dirty="0">
                <a:solidFill>
                  <a:srgbClr val="666666"/>
                </a:solidFill>
                <a:latin typeface="Courier"/>
              </a:rPr>
              <a:t>{</a:t>
            </a:r>
            <a:r>
              <a:rPr sz="2000" dirty="0">
                <a:solidFill>
                  <a:srgbClr val="4070A0"/>
                </a:solidFill>
                <a:latin typeface="Courier"/>
              </a:rPr>
              <a:t>"RDS-HYPERV1.avaedos.lan"</a:t>
            </a:r>
            <a:r>
              <a:rPr sz="2000" dirty="0">
                <a:latin typeface="Courier"/>
              </a:rPr>
              <a:t> </a:t>
            </a:r>
            <a:r>
              <a:rPr sz="2000" dirty="0">
                <a:solidFill>
                  <a:srgbClr val="666666"/>
                </a:solidFill>
                <a:latin typeface="Courier"/>
              </a:rPr>
              <a:t>=</a:t>
            </a:r>
            <a:r>
              <a:rPr sz="2000" dirty="0">
                <a:latin typeface="Courier"/>
              </a:rPr>
              <a:t> </a:t>
            </a:r>
            <a:r>
              <a:rPr sz="2000" dirty="0">
                <a:solidFill>
                  <a:srgbClr val="40A070"/>
                </a:solidFill>
                <a:latin typeface="Courier"/>
              </a:rPr>
              <a:t>1</a:t>
            </a:r>
            <a:r>
              <a:rPr sz="2000" dirty="0">
                <a:solidFill>
                  <a:srgbClr val="666666"/>
                </a:solidFill>
                <a:latin typeface="Courier"/>
              </a:rPr>
              <a:t>;</a:t>
            </a:r>
            <a:r>
              <a:rPr sz="2000" dirty="0">
                <a:latin typeface="Courier"/>
              </a:rPr>
              <a:t> </a:t>
            </a:r>
            <a:r>
              <a:rPr sz="2000" dirty="0">
                <a:solidFill>
                  <a:srgbClr val="4070A0"/>
                </a:solidFill>
                <a:latin typeface="Courier"/>
              </a:rPr>
              <a:t>"RDS-HYPERV2.avaedos.lan"</a:t>
            </a:r>
            <a:r>
              <a:rPr sz="2000" dirty="0">
                <a:latin typeface="Courier"/>
              </a:rPr>
              <a:t> </a:t>
            </a:r>
            <a:r>
              <a:rPr sz="2000" dirty="0">
                <a:solidFill>
                  <a:srgbClr val="666666"/>
                </a:solidFill>
                <a:latin typeface="Courier"/>
              </a:rPr>
              <a:t>=</a:t>
            </a:r>
            <a:r>
              <a:rPr sz="2000" dirty="0">
                <a:latin typeface="Courier"/>
              </a:rPr>
              <a:t> </a:t>
            </a:r>
            <a:r>
              <a:rPr sz="2000" dirty="0">
                <a:solidFill>
                  <a:srgbClr val="40A070"/>
                </a:solidFill>
                <a:latin typeface="Courier"/>
              </a:rPr>
              <a:t>1</a:t>
            </a:r>
            <a:r>
              <a:rPr sz="2000" dirty="0">
                <a:solidFill>
                  <a:srgbClr val="666666"/>
                </a:solidFill>
                <a:latin typeface="Courier"/>
              </a:rPr>
              <a:t>}</a:t>
            </a:r>
            <a:r>
              <a:rPr sz="2000" dirty="0">
                <a:latin typeface="Courier"/>
              </a:rPr>
              <a:t> `</a:t>
            </a:r>
            <a:br>
              <a:rPr sz="2000" dirty="0"/>
            </a:br>
            <a:r>
              <a:rPr sz="2000" dirty="0">
                <a:latin typeface="Courier"/>
              </a:rPr>
              <a:t>    </a:t>
            </a:r>
            <a:r>
              <a:rPr sz="2000" dirty="0">
                <a:solidFill>
                  <a:srgbClr val="666666"/>
                </a:solidFill>
                <a:latin typeface="Courier"/>
              </a:rPr>
              <a:t>-</a:t>
            </a:r>
            <a:r>
              <a:rPr sz="2000" dirty="0" err="1">
                <a:latin typeface="Courier"/>
              </a:rPr>
              <a:t>StorageType</a:t>
            </a:r>
            <a:r>
              <a:rPr sz="2000" dirty="0">
                <a:latin typeface="Courier"/>
              </a:rPr>
              <a:t> </a:t>
            </a:r>
            <a:r>
              <a:rPr sz="2000" dirty="0" err="1">
                <a:latin typeface="Courier"/>
              </a:rPr>
              <a:t>LocalStorage</a:t>
            </a:r>
            <a:r>
              <a:rPr sz="2000" dirty="0">
                <a:latin typeface="Courier"/>
              </a:rPr>
              <a:t> </a:t>
            </a:r>
            <a:r>
              <a:rPr sz="2000" dirty="0">
                <a:solidFill>
                  <a:srgbClr val="666666"/>
                </a:solidFill>
                <a:latin typeface="Courier"/>
              </a:rPr>
              <a:t>-</a:t>
            </a:r>
            <a:r>
              <a:rPr sz="2000" dirty="0" err="1">
                <a:latin typeface="Courier"/>
              </a:rPr>
              <a:t>LocalStoragePath</a:t>
            </a:r>
            <a:r>
              <a:rPr sz="2000" dirty="0">
                <a:latin typeface="Courier"/>
              </a:rPr>
              <a:t> </a:t>
            </a:r>
            <a:r>
              <a:rPr sz="2000" dirty="0">
                <a:solidFill>
                  <a:srgbClr val="4070A0"/>
                </a:solidFill>
                <a:latin typeface="Courier"/>
              </a:rPr>
              <a:t>"C:\VDI"</a:t>
            </a:r>
            <a:r>
              <a:rPr sz="2000" dirty="0">
                <a:latin typeface="Courier"/>
              </a:rPr>
              <a:t> `</a:t>
            </a:r>
            <a:br>
              <a:rPr sz="2000" dirty="0"/>
            </a:br>
            <a:r>
              <a:rPr sz="2000" dirty="0">
                <a:latin typeface="Courier"/>
              </a:rPr>
              <a:t>    </a:t>
            </a:r>
            <a:r>
              <a:rPr sz="2000" dirty="0">
                <a:solidFill>
                  <a:srgbClr val="666666"/>
                </a:solidFill>
                <a:latin typeface="Courier"/>
              </a:rPr>
              <a:t>-</a:t>
            </a:r>
            <a:r>
              <a:rPr sz="2000" dirty="0" err="1">
                <a:latin typeface="Courier"/>
              </a:rPr>
              <a:t>VirtualDesktopNamePrefix</a:t>
            </a:r>
            <a:r>
              <a:rPr sz="2000" dirty="0">
                <a:latin typeface="Courier"/>
              </a:rPr>
              <a:t> </a:t>
            </a:r>
            <a:r>
              <a:rPr sz="2000" dirty="0">
                <a:solidFill>
                  <a:srgbClr val="4070A0"/>
                </a:solidFill>
                <a:latin typeface="Courier"/>
              </a:rPr>
              <a:t>"VDI"</a:t>
            </a:r>
            <a:r>
              <a:rPr sz="2000" dirty="0">
                <a:latin typeface="Courier"/>
              </a:rPr>
              <a:t> </a:t>
            </a:r>
            <a:r>
              <a:rPr sz="2000" dirty="0">
                <a:solidFill>
                  <a:srgbClr val="666666"/>
                </a:solidFill>
                <a:latin typeface="Courier"/>
              </a:rPr>
              <a:t>-</a:t>
            </a:r>
            <a:r>
              <a:rPr sz="2000" dirty="0">
                <a:latin typeface="Courier"/>
              </a:rPr>
              <a:t>Domain </a:t>
            </a:r>
            <a:r>
              <a:rPr sz="2000" dirty="0">
                <a:solidFill>
                  <a:srgbClr val="4070A0"/>
                </a:solidFill>
                <a:latin typeface="Courier"/>
              </a:rPr>
              <a:t>"</a:t>
            </a:r>
            <a:r>
              <a:rPr sz="2000" dirty="0" err="1">
                <a:solidFill>
                  <a:srgbClr val="4070A0"/>
                </a:solidFill>
                <a:latin typeface="Courier"/>
              </a:rPr>
              <a:t>avaedos.lan</a:t>
            </a:r>
            <a:r>
              <a:rPr sz="2000" dirty="0">
                <a:solidFill>
                  <a:srgbClr val="4070A0"/>
                </a:solidFill>
                <a:latin typeface="Courier"/>
              </a:rPr>
              <a:t>"</a:t>
            </a:r>
            <a:r>
              <a:rPr sz="2000" dirty="0">
                <a:latin typeface="Courier"/>
              </a:rPr>
              <a:t> `</a:t>
            </a:r>
            <a:br>
              <a:rPr sz="2000" dirty="0"/>
            </a:br>
            <a:r>
              <a:rPr sz="2000" dirty="0">
                <a:latin typeface="Courier"/>
              </a:rPr>
              <a:t>    </a:t>
            </a:r>
            <a:r>
              <a:rPr sz="2000" dirty="0">
                <a:solidFill>
                  <a:srgbClr val="666666"/>
                </a:solidFill>
                <a:latin typeface="Courier"/>
              </a:rPr>
              <a:t>-</a:t>
            </a:r>
            <a:r>
              <a:rPr sz="2000" dirty="0">
                <a:latin typeface="Courier"/>
              </a:rPr>
              <a:t>OU </a:t>
            </a:r>
            <a:r>
              <a:rPr sz="2000" dirty="0">
                <a:solidFill>
                  <a:srgbClr val="4070A0"/>
                </a:solidFill>
                <a:latin typeface="Courier"/>
              </a:rPr>
              <a:t>"RD VDI"</a:t>
            </a:r>
            <a:r>
              <a:rPr sz="2000" dirty="0">
                <a:latin typeface="Courier"/>
              </a:rPr>
              <a:t> </a:t>
            </a:r>
            <a:r>
              <a:rPr sz="2000" dirty="0">
                <a:solidFill>
                  <a:srgbClr val="666666"/>
                </a:solidFill>
                <a:latin typeface="Courier"/>
              </a:rPr>
              <a:t>-</a:t>
            </a:r>
            <a:r>
              <a:rPr sz="2000" dirty="0" err="1">
                <a:latin typeface="Courier"/>
              </a:rPr>
              <a:t>UserGroups</a:t>
            </a:r>
            <a:r>
              <a:rPr sz="2000" dirty="0">
                <a:latin typeface="Courier"/>
              </a:rPr>
              <a:t> </a:t>
            </a:r>
            <a:r>
              <a:rPr sz="2000" dirty="0">
                <a:solidFill>
                  <a:srgbClr val="4070A0"/>
                </a:solidFill>
                <a:latin typeface="Courier"/>
              </a:rPr>
              <a:t>"AVAEDOS\RDS VDI Users"</a:t>
            </a:r>
            <a:r>
              <a:rPr sz="2000" dirty="0">
                <a:latin typeface="Courier"/>
              </a:rPr>
              <a:t> `</a:t>
            </a:r>
            <a:br>
              <a:rPr sz="2000" dirty="0"/>
            </a:br>
            <a:r>
              <a:rPr sz="2000" dirty="0">
                <a:latin typeface="Courier"/>
              </a:rPr>
              <a:t>    </a:t>
            </a:r>
            <a:r>
              <a:rPr sz="2000" dirty="0">
                <a:solidFill>
                  <a:srgbClr val="666666"/>
                </a:solidFill>
                <a:latin typeface="Courier"/>
              </a:rPr>
              <a:t>-</a:t>
            </a:r>
            <a:r>
              <a:rPr sz="2000" dirty="0" err="1">
                <a:latin typeface="Courier"/>
              </a:rPr>
              <a:t>ConnectionBroker</a:t>
            </a:r>
            <a:r>
              <a:rPr sz="2000" dirty="0">
                <a:latin typeface="Courier"/>
              </a:rPr>
              <a:t> </a:t>
            </a:r>
            <a:r>
              <a:rPr sz="2000" dirty="0" err="1">
                <a:latin typeface="Courier"/>
              </a:rPr>
              <a:t>rds-farm</a:t>
            </a:r>
            <a:r>
              <a:rPr sz="2000" dirty="0" err="1">
                <a:solidFill>
                  <a:srgbClr val="666666"/>
                </a:solidFill>
                <a:latin typeface="Courier"/>
              </a:rPr>
              <a:t>.</a:t>
            </a:r>
            <a:r>
              <a:rPr sz="2000" dirty="0" err="1">
                <a:solidFill>
                  <a:srgbClr val="06287E"/>
                </a:solidFill>
                <a:latin typeface="Courier"/>
              </a:rPr>
              <a:t>avaedos</a:t>
            </a:r>
            <a:r>
              <a:rPr sz="2000" dirty="0" err="1">
                <a:solidFill>
                  <a:srgbClr val="666666"/>
                </a:solidFill>
                <a:latin typeface="Courier"/>
              </a:rPr>
              <a:t>.</a:t>
            </a:r>
            <a:r>
              <a:rPr sz="2000" dirty="0" err="1">
                <a:solidFill>
                  <a:srgbClr val="06287E"/>
                </a:solidFill>
                <a:latin typeface="Courier"/>
              </a:rPr>
              <a:t>lan</a:t>
            </a:r>
            <a:endParaRPr sz="2000" dirty="0">
              <a:solidFill>
                <a:srgbClr val="06287E"/>
              </a:solidFill>
              <a:latin typeface="Courier"/>
            </a:endParaRP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16</a:t>
            </a:fld>
            <a:endParaRPr lang="fr-B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Mettre à jour une collection regroupée</a:t>
            </a:r>
          </a:p>
        </p:txBody>
      </p:sp>
      <p:sp>
        <p:nvSpPr>
          <p:cNvPr id="6" name="Espace réservé du contenu 2"/>
          <p:cNvSpPr>
            <a:spLocks noGrp="1"/>
          </p:cNvSpPr>
          <p:nvPr>
            <p:ph idx="1"/>
          </p:nvPr>
        </p:nvSpPr>
        <p:spPr/>
        <p:txBody>
          <a:bodyPr/>
          <a:lstStyle/>
          <a:p>
            <a:pPr lvl="0"/>
            <a:r>
              <a:t>Mettre à jour une copie du modèle : correctifs, applications</a:t>
            </a:r>
          </a:p>
          <a:p>
            <a:pPr lvl="0"/>
            <a:r>
              <a:t>La généraliser de nouveau</a:t>
            </a:r>
          </a:p>
          <a:p>
            <a:pPr lvl="0"/>
            <a:r>
              <a:t>Lancer la mise à jour de la collection</a:t>
            </a:r>
          </a:p>
          <a:p>
            <a:pPr lvl="1"/>
            <a:r>
              <a:rPr>
                <a:latin typeface="Courier"/>
              </a:rPr>
              <a:t>Update-RDVirtualDesktopCollection</a:t>
            </a:r>
          </a:p>
          <a:p>
            <a:pPr lvl="0"/>
            <a:r>
              <a:t>Choisir l’échéance de déconnexion des utilisateurs</a:t>
            </a:r>
          </a:p>
          <a:p>
            <a:pPr lvl="0"/>
            <a:r>
              <a:t>Les machines sont recréées à partir du nouveau modèle</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17</a:t>
            </a:fld>
            <a:endParaRPr lang="fr-B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Ce qu’apportent Windows Server et Hyper-V</a:t>
            </a:r>
          </a:p>
        </p:txBody>
      </p:sp>
      <p:sp>
        <p:nvSpPr>
          <p:cNvPr id="6" name="Espace réservé du contenu 2"/>
          <p:cNvSpPr>
            <a:spLocks noGrp="1"/>
          </p:cNvSpPr>
          <p:nvPr>
            <p:ph idx="1"/>
          </p:nvPr>
        </p:nvSpPr>
        <p:spPr/>
        <p:txBody>
          <a:bodyPr>
            <a:noAutofit/>
          </a:bodyPr>
          <a:lstStyle/>
          <a:p>
            <a:pPr lvl="0"/>
            <a:r>
              <a:rPr sz="2800" dirty="0"/>
              <a:t>Assistant de </a:t>
            </a:r>
            <a:r>
              <a:rPr sz="2800" dirty="0" err="1"/>
              <a:t>déploiement</a:t>
            </a:r>
            <a:r>
              <a:rPr sz="2800" dirty="0"/>
              <a:t> et </a:t>
            </a:r>
            <a:r>
              <a:rPr sz="2800" dirty="0" err="1"/>
              <a:t>automatisation</a:t>
            </a:r>
            <a:r>
              <a:rPr sz="2800" dirty="0"/>
              <a:t> PowerShell</a:t>
            </a:r>
          </a:p>
          <a:p>
            <a:pPr lvl="0"/>
            <a:r>
              <a:rPr sz="2800" dirty="0"/>
              <a:t>Haute </a:t>
            </a:r>
            <a:r>
              <a:rPr sz="2800" dirty="0" err="1"/>
              <a:t>disponibilité</a:t>
            </a:r>
            <a:r>
              <a:rPr sz="2800" dirty="0"/>
              <a:t> du Connection Broker </a:t>
            </a:r>
            <a:r>
              <a:rPr sz="2800" dirty="0" err="1"/>
              <a:t>en</a:t>
            </a:r>
            <a:r>
              <a:rPr sz="2800" dirty="0"/>
              <a:t> </a:t>
            </a:r>
            <a:r>
              <a:rPr sz="2800" dirty="0" err="1"/>
              <a:t>actif</a:t>
            </a:r>
            <a:r>
              <a:rPr sz="2800" dirty="0"/>
              <a:t>/</a:t>
            </a:r>
            <a:r>
              <a:rPr sz="2800" dirty="0" err="1"/>
              <a:t>actif</a:t>
            </a:r>
            <a:endParaRPr sz="2800" dirty="0"/>
          </a:p>
          <a:p>
            <a:pPr lvl="0"/>
            <a:r>
              <a:rPr sz="2800" dirty="0"/>
              <a:t>Stockage sur partage de </a:t>
            </a:r>
            <a:r>
              <a:rPr sz="2800" dirty="0" err="1"/>
              <a:t>fichiers</a:t>
            </a:r>
            <a:r>
              <a:rPr sz="2800" dirty="0"/>
              <a:t> SMB 3 </a:t>
            </a:r>
            <a:r>
              <a:rPr sz="2800" dirty="0" err="1"/>
              <a:t>hautement</a:t>
            </a:r>
            <a:r>
              <a:rPr sz="2800" dirty="0"/>
              <a:t> disponible</a:t>
            </a:r>
          </a:p>
          <a:p>
            <a:pPr lvl="0"/>
            <a:r>
              <a:rPr sz="2800" dirty="0" err="1"/>
              <a:t>Déduplication</a:t>
            </a:r>
            <a:r>
              <a:rPr sz="2800" dirty="0"/>
              <a:t> des </a:t>
            </a:r>
            <a:r>
              <a:rPr sz="2800" dirty="0" err="1"/>
              <a:t>disques</a:t>
            </a:r>
            <a:r>
              <a:rPr sz="2800" dirty="0"/>
              <a:t> des machines </a:t>
            </a:r>
            <a:r>
              <a:rPr sz="2800" dirty="0" err="1"/>
              <a:t>virtuelles</a:t>
            </a:r>
            <a:endParaRPr sz="2800" dirty="0"/>
          </a:p>
          <a:p>
            <a:pPr lvl="0"/>
            <a:r>
              <a:rPr sz="2800" dirty="0" err="1"/>
              <a:t>Mémoire</a:t>
            </a:r>
            <a:r>
              <a:rPr sz="2800" dirty="0"/>
              <a:t> </a:t>
            </a:r>
            <a:r>
              <a:rPr sz="2800" dirty="0" err="1"/>
              <a:t>dynamique</a:t>
            </a:r>
            <a:endParaRPr sz="2800" dirty="0"/>
          </a:p>
          <a:p>
            <a:pPr lvl="0"/>
            <a:r>
              <a:rPr sz="2800" dirty="0"/>
              <a:t>Isolation des données </a:t>
            </a:r>
            <a:r>
              <a:rPr sz="2800" dirty="0" err="1"/>
              <a:t>utilisateur</a:t>
            </a:r>
            <a:r>
              <a:rPr sz="2800" dirty="0"/>
              <a:t> dans des </a:t>
            </a:r>
            <a:r>
              <a:rPr sz="2800" dirty="0" err="1"/>
              <a:t>conteneurs</a:t>
            </a:r>
            <a:r>
              <a:rPr sz="2800" dirty="0"/>
              <a:t> </a:t>
            </a:r>
            <a:r>
              <a:rPr sz="2800" dirty="0" err="1"/>
              <a:t>FSLogix</a:t>
            </a:r>
            <a:endParaRPr sz="2800" dirty="0"/>
          </a:p>
          <a:p>
            <a:pPr lvl="0"/>
            <a:r>
              <a:rPr sz="2800" dirty="0" err="1"/>
              <a:t>Partitionnement</a:t>
            </a:r>
            <a:r>
              <a:rPr sz="2800" dirty="0"/>
              <a:t> de GPU pour les usages </a:t>
            </a:r>
            <a:r>
              <a:rPr sz="2800" dirty="0" err="1"/>
              <a:t>graphiques</a:t>
            </a:r>
            <a:endParaRPr sz="2800" dirty="0"/>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18</a:t>
            </a:fld>
            <a:endParaRPr lang="fr-B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title"/>
          </p:nvPr>
        </p:nvSpPr>
        <p:spPr/>
        <p:txBody>
          <a:bodyPr/>
          <a:lstStyle/>
          <a:p>
            <a:pPr marL="0" lvl="0" indent="0">
              <a:buNone/>
            </a:pPr>
            <a:r>
              <a:t>La déduplication</a:t>
            </a:r>
          </a:p>
        </p:txBody>
      </p:sp>
      <p:sp>
        <p:nvSpPr>
          <p:cNvPr id="3" name="Espace réservé du contenu 2"/>
          <p:cNvSpPr>
            <a:spLocks noGrp="1"/>
          </p:cNvSpPr>
          <p:nvPr>
            <p:ph sz="half" idx="1"/>
          </p:nvPr>
        </p:nvSpPr>
        <p:spPr/>
        <p:txBody>
          <a:bodyPr/>
          <a:lstStyle/>
          <a:p>
            <a:pPr lvl="0"/>
            <a:r>
              <a:rPr dirty="0"/>
              <a:t>Les </a:t>
            </a:r>
            <a:r>
              <a:rPr dirty="0" err="1"/>
              <a:t>postes</a:t>
            </a:r>
            <a:r>
              <a:rPr dirty="0"/>
              <a:t> </a:t>
            </a:r>
            <a:r>
              <a:rPr dirty="0" err="1"/>
              <a:t>virtuels</a:t>
            </a:r>
            <a:r>
              <a:rPr dirty="0"/>
              <a:t> </a:t>
            </a:r>
            <a:r>
              <a:rPr dirty="0" err="1"/>
              <a:t>contiennent</a:t>
            </a:r>
            <a:r>
              <a:rPr dirty="0"/>
              <a:t> </a:t>
            </a:r>
            <a:r>
              <a:rPr dirty="0" err="1"/>
              <a:t>en</a:t>
            </a:r>
            <a:r>
              <a:rPr dirty="0"/>
              <a:t> grande </a:t>
            </a:r>
            <a:r>
              <a:rPr dirty="0" err="1"/>
              <a:t>partie</a:t>
            </a:r>
            <a:r>
              <a:rPr dirty="0"/>
              <a:t> les </a:t>
            </a:r>
            <a:r>
              <a:rPr dirty="0" err="1"/>
              <a:t>mêmes</a:t>
            </a:r>
            <a:r>
              <a:rPr dirty="0"/>
              <a:t> </a:t>
            </a:r>
            <a:r>
              <a:rPr dirty="0" err="1"/>
              <a:t>fichiers</a:t>
            </a:r>
            <a:endParaRPr dirty="0"/>
          </a:p>
          <a:p>
            <a:pPr lvl="0"/>
            <a:r>
              <a:rPr dirty="0"/>
              <a:t>La </a:t>
            </a:r>
            <a:r>
              <a:rPr dirty="0" err="1"/>
              <a:t>déduplication</a:t>
            </a:r>
            <a:r>
              <a:rPr dirty="0"/>
              <a:t> ne </a:t>
            </a:r>
            <a:r>
              <a:rPr dirty="0" err="1"/>
              <a:t>stocke</a:t>
            </a:r>
            <a:r>
              <a:rPr dirty="0"/>
              <a:t> </a:t>
            </a:r>
            <a:r>
              <a:rPr dirty="0" err="1"/>
              <a:t>qu’une</a:t>
            </a:r>
            <a:r>
              <a:rPr dirty="0"/>
              <a:t> </a:t>
            </a:r>
            <a:r>
              <a:rPr dirty="0" err="1"/>
              <a:t>fois</a:t>
            </a:r>
            <a:r>
              <a:rPr dirty="0"/>
              <a:t> les blocs </a:t>
            </a:r>
            <a:r>
              <a:rPr dirty="0" err="1"/>
              <a:t>identiques</a:t>
            </a:r>
            <a:endParaRPr dirty="0"/>
          </a:p>
          <a:p>
            <a:pPr lvl="0"/>
            <a:r>
              <a:rPr dirty="0"/>
              <a:t>Gain </a:t>
            </a:r>
            <a:r>
              <a:rPr dirty="0" err="1"/>
              <a:t>d’espace</a:t>
            </a:r>
            <a:r>
              <a:rPr dirty="0"/>
              <a:t> important sur le volume des machines </a:t>
            </a:r>
            <a:r>
              <a:rPr dirty="0" err="1"/>
              <a:t>virtuelles</a:t>
            </a:r>
            <a:endParaRPr dirty="0"/>
          </a:p>
          <a:p>
            <a:pPr lvl="0"/>
            <a:r>
              <a:rPr dirty="0"/>
              <a:t>Type </a:t>
            </a:r>
            <a:r>
              <a:rPr dirty="0" err="1"/>
              <a:t>d’usage</a:t>
            </a:r>
            <a:r>
              <a:rPr dirty="0"/>
              <a:t> </a:t>
            </a:r>
            <a:r>
              <a:rPr dirty="0" err="1"/>
              <a:t>dédié</a:t>
            </a:r>
            <a:r>
              <a:rPr dirty="0"/>
              <a:t> aux </a:t>
            </a:r>
            <a:r>
              <a:rPr dirty="0" err="1"/>
              <a:t>postes</a:t>
            </a:r>
            <a:r>
              <a:rPr dirty="0"/>
              <a:t> </a:t>
            </a:r>
            <a:r>
              <a:rPr dirty="0" err="1"/>
              <a:t>virtuels</a:t>
            </a:r>
            <a:endParaRPr dirty="0"/>
          </a:p>
        </p:txBody>
      </p:sp>
      <p:pic>
        <p:nvPicPr>
          <p:cNvPr id="2" name="Picture 1" descr="images/diapo-121-01.png"/>
          <p:cNvPicPr>
            <a:picLocks noGrp="1" noChangeAspect="1"/>
          </p:cNvPicPr>
          <p:nvPr/>
        </p:nvPicPr>
        <p:blipFill>
          <a:blip r:embed="rId3"/>
          <a:stretch>
            <a:fillRect/>
          </a:stretch>
        </p:blipFill>
        <p:spPr bwMode="auto">
          <a:xfrm>
            <a:off x="4749800" y="2120900"/>
            <a:ext cx="4318000" cy="3695700"/>
          </a:xfrm>
          <a:prstGeom prst="rect">
            <a:avLst/>
          </a:prstGeom>
          <a:noFill/>
          <a:ln w="9525">
            <a:noFill/>
            <a:headEnd/>
            <a:tailEnd/>
          </a:ln>
        </p:spPr>
      </p:pic>
      <p:sp>
        <p:nvSpPr>
          <p:cNvPr id="7" name="Espace réservé du numéro de diapositive 6"/>
          <p:cNvSpPr>
            <a:spLocks noGrp="1"/>
          </p:cNvSpPr>
          <p:nvPr>
            <p:ph type="sldNum" sz="quarter" idx="12"/>
          </p:nvPr>
        </p:nvSpPr>
        <p:spPr/>
        <p:txBody>
          <a:bodyPr/>
          <a:lstStyle/>
          <a:p>
            <a:fld id="{CF4668DC-857F-487D-BFFA-8C0CA5037977}" type="slidenum">
              <a:rPr lang="fr-BE" smtClean="0"/>
              <a:pPr/>
              <a:t>19</a:t>
            </a:fld>
            <a:endParaRPr lang="fr-B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Optimiser les hôtes de virtualisation</a:t>
            </a:r>
          </a:p>
        </p:txBody>
      </p:sp>
      <p:sp>
        <p:nvSpPr>
          <p:cNvPr id="6" name="Espace réservé du contenu 2"/>
          <p:cNvSpPr>
            <a:spLocks noGrp="1"/>
          </p:cNvSpPr>
          <p:nvPr>
            <p:ph idx="1"/>
          </p:nvPr>
        </p:nvSpPr>
        <p:spPr/>
        <p:txBody>
          <a:bodyPr/>
          <a:lstStyle/>
          <a:p>
            <a:pPr lvl="0"/>
            <a:r>
              <a:t>Mémoire dynamique des machines virtuelles</a:t>
            </a:r>
          </a:p>
          <a:p>
            <a:pPr lvl="0"/>
            <a:r>
              <a:t>Déduplication des volumes de stockage VDI</a:t>
            </a:r>
          </a:p>
          <a:p>
            <a:pPr lvl="0"/>
            <a:r>
              <a:t>Stockage rapide pour absorber les démarrages simultanés</a:t>
            </a:r>
          </a:p>
          <a:p>
            <a:pPr lvl="0"/>
            <a:r>
              <a:t>Optimisation de l’image Windows 11 : services, tâches planifiées, applications inutiles</a:t>
            </a:r>
          </a:p>
          <a:p>
            <a:pPr lvl="0"/>
            <a:r>
              <a:t>Profils sur FSLogix pour des machines sans état</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20</a:t>
            </a:fld>
            <a:endParaRPr lang="fr-B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Les limites du VDI RDS</a:t>
            </a:r>
          </a:p>
        </p:txBody>
      </p:sp>
      <p:sp>
        <p:nvSpPr>
          <p:cNvPr id="6" name="Espace réservé du contenu 2"/>
          <p:cNvSpPr>
            <a:spLocks noGrp="1"/>
          </p:cNvSpPr>
          <p:nvPr>
            <p:ph idx="1"/>
          </p:nvPr>
        </p:nvSpPr>
        <p:spPr/>
        <p:txBody>
          <a:bodyPr/>
          <a:lstStyle/>
          <a:p>
            <a:pPr lvl="0"/>
            <a:r>
              <a:t>Pas de Windows 11 multisession : réservé à Azure Virtual Desktop</a:t>
            </a:r>
          </a:p>
          <a:p>
            <a:pPr lvl="0"/>
            <a:r>
              <a:t>Optimisation média Teams non certifiée</a:t>
            </a:r>
          </a:p>
          <a:p>
            <a:pPr lvl="0"/>
            <a:r>
              <a:t>Peu d’évolutions fonctionnelles du VDI RDS</a:t>
            </a:r>
          </a:p>
          <a:p>
            <a:pPr lvl="0"/>
            <a:r>
              <a:t>Gestion des modèles plus manuelle que dans les offres cloud</a:t>
            </a:r>
          </a:p>
          <a:p>
            <a:pPr lvl="0"/>
            <a:r>
              <a:t>Alternatives : Azure Virtual Desktop, AVD sur Azure Local, Windows 365</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21</a:t>
            </a:fld>
            <a:endParaRPr lang="fr-B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Atelier 5 – Collection VDI Windows 11</a:t>
            </a:r>
          </a:p>
        </p:txBody>
      </p:sp>
      <p:sp>
        <p:nvSpPr>
          <p:cNvPr id="6" name="Espace réservé du contenu 2"/>
          <p:cNvSpPr>
            <a:spLocks noGrp="1"/>
          </p:cNvSpPr>
          <p:nvPr>
            <p:ph idx="1"/>
          </p:nvPr>
        </p:nvSpPr>
        <p:spPr/>
        <p:txBody>
          <a:bodyPr/>
          <a:lstStyle/>
          <a:p>
            <a:pPr lvl="0"/>
            <a:r>
              <a:t>Ajouter RDS-HYPERV1 et RDS-HYPERV2 au déploiement</a:t>
            </a:r>
          </a:p>
          <a:p>
            <a:pPr lvl="0"/>
            <a:r>
              <a:t>Importer le modèle </a:t>
            </a:r>
            <a:r>
              <a:rPr>
                <a:latin typeface="Courier"/>
              </a:rPr>
              <a:t>W11-GOLD</a:t>
            </a:r>
          </a:p>
          <a:p>
            <a:pPr lvl="0"/>
            <a:r>
              <a:t>Créer la collection regroupée </a:t>
            </a:r>
            <a:r>
              <a:rPr>
                <a:latin typeface="Courier"/>
              </a:rPr>
              <a:t>RdsVdiColl1</a:t>
            </a:r>
            <a:r>
              <a:t>, un poste par hôte</a:t>
            </a:r>
          </a:p>
          <a:p>
            <a:pPr lvl="0"/>
            <a:r>
              <a:t>Se connecter en tant que </a:t>
            </a:r>
            <a:r>
              <a:rPr>
                <a:latin typeface="Courier"/>
              </a:rPr>
              <a:t>bnedjimi</a:t>
            </a:r>
            <a:r>
              <a:t> depuis le client web</a:t>
            </a:r>
          </a:p>
          <a:p>
            <a:pPr lvl="0"/>
            <a:r>
              <a:t>Vérifier le retour à l’état initial après déconnexion</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22</a:t>
            </a:fld>
            <a:endParaRPr lang="fr-B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Avez-vous des questions ?</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23</a:t>
            </a:fld>
            <a:endParaRPr lang="fr-BE"/>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èle EGILI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extLst>
    <a:ext uri="{05A4C25C-085E-4340-85A3-A5531E510DB2}">
      <thm15:themeFamily xmlns:thm15="http://schemas.microsoft.com/office/thememl/2012/main" name="_EGILIA-Template.potx" id="{308816F5-4877-444A-9C2E-10E8B589F71D}" vid="{A8E82A1B-84CC-4282-8223-F7357AEA6CE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2048</Words>
  <Application>Microsoft Office PowerPoint</Application>
  <PresentationFormat>Affichage à l'écran (4:3)</PresentationFormat>
  <Paragraphs>296</Paragraphs>
  <Slides>23</Slides>
  <Notes>22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23</vt:i4>
      </vt:variant>
    </vt:vector>
  </HeadingPairs>
  <TitlesOfParts>
    <vt:vector size="31" baseType="lpstr">
      <vt:lpstr>Arial</vt:lpstr>
      <vt:lpstr>Calibri</vt:lpstr>
      <vt:lpstr>Corbel</vt:lpstr>
      <vt:lpstr>Courier</vt:lpstr>
      <vt:lpstr>Wingdings</vt:lpstr>
      <vt:lpstr>Wingdings 2</vt:lpstr>
      <vt:lpstr>Wingdings 3</vt:lpstr>
      <vt:lpstr>Modèle EGILIA</vt:lpstr>
      <vt:lpstr>Module 6 : Postes de travail virtuels (VDI)</vt:lpstr>
      <vt:lpstr>Agenda</vt:lpstr>
      <vt:lpstr>Présentation du VDI</vt:lpstr>
      <vt:lpstr>Sessions ou postes virtuels</vt:lpstr>
      <vt:lpstr>Trois façons de publier un bureau</vt:lpstr>
      <vt:lpstr>Les avantages du VDI</vt:lpstr>
      <vt:lpstr>Ce que le VDI coûte vraiment</vt:lpstr>
      <vt:lpstr>La solution Microsoft</vt:lpstr>
      <vt:lpstr>Les composants d’un déploiement VDI</vt:lpstr>
      <vt:lpstr>L’architecture VDI</vt:lpstr>
      <vt:lpstr>Le parcours d’une connexion VDI</vt:lpstr>
      <vt:lpstr>Collections regroupées ou personnelles</vt:lpstr>
      <vt:lpstr>Préparer le modèle Windows 11</vt:lpstr>
      <vt:lpstr>Ajouter l’hôte de virtualisation au déploiement</vt:lpstr>
      <vt:lpstr>Créer la collection regroupée</vt:lpstr>
      <vt:lpstr>La collection en PowerShell</vt:lpstr>
      <vt:lpstr>Mettre à jour une collection regroupée</vt:lpstr>
      <vt:lpstr>Ce qu’apportent Windows Server et Hyper-V</vt:lpstr>
      <vt:lpstr>La déduplication</vt:lpstr>
      <vt:lpstr>Optimiser les hôtes de virtualisation</vt:lpstr>
      <vt:lpstr>Les limites du VDI RDS</vt:lpstr>
      <vt:lpstr>Atelier 5 – Collection VDI Windows 11</vt:lpstr>
      <vt:lpstr>Avez-vous des questions ?</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EGILIA-Template%20v2.5</Template>
  <TotalTime>0</TotalTime>
  <Words>0</Words>
  <Application>Microsoft Office PowerPoint</Application>
  <PresentationFormat>Affichage à l'écran (4:3)</PresentationFormat>
  <Paragraphs>0</Paragraphs>
  <Slides>0</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0</vt:i4>
      </vt:variant>
    </vt:vector>
  </HeadingPairs>
  <TitlesOfParts>
    <vt:vector size="7" baseType="lpstr">
      <vt:lpstr>Arial</vt:lpstr>
      <vt:lpstr>Calibri</vt:lpstr>
      <vt:lpstr>Corbel</vt:lpstr>
      <vt:lpstr>Wingdings</vt:lpstr>
      <vt:lpstr>Wingdings 2</vt:lpstr>
      <vt:lpstr>Wingdings 3</vt:lpstr>
      <vt:lpstr>Modèle EGILIA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revision>1</cp:revision>
  <dcterms:created xsi:type="dcterms:W3CDTF">2026-09-22T19:57:07Z</dcterms:created>
  <dcterms:modified xsi:type="dcterms:W3CDTF">2026-09-24T11:43:11Z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ion">
    <vt:lpwstr>Remote Desktop Services sous Windows Server 2025</vt:lpwstr>
  </property>
</Properties>
</file>