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057"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0000"/>
    <a:srgbClr val="FF6600"/>
    <a:srgbClr val="003366"/>
    <a:srgbClr val="1C40A4"/>
    <a:srgbClr val="B481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9642" autoAdjust="0"/>
  </p:normalViewPr>
  <p:slideViewPr>
    <p:cSldViewPr>
      <p:cViewPr varScale="1">
        <p:scale>
          <a:sx n="146" d="100"/>
          <a:sy n="146" d="100"/>
        </p:scale>
        <p:origin x="138" y="306"/>
      </p:cViewPr>
      <p:guideLst>
        <p:guide orient="horz" pos="2160"/>
        <p:guide pos="2880"/>
      </p:guideLst>
    </p:cSldViewPr>
  </p:slideViewPr>
  <p:notesTextViewPr>
    <p:cViewPr>
      <p:scale>
        <a:sx n="100" d="100"/>
        <a:sy n="100" d="100"/>
      </p:scale>
      <p:origin x="0" y="0"/>
    </p:cViewPr>
  </p:notesTextViewPr>
  <p:notesViewPr>
    <p:cSldViewPr>
      <p:cViewPr varScale="1">
        <p:scale>
          <a:sx n="71" d="100"/>
          <a:sy n="71" d="100"/>
        </p:scale>
        <p:origin x="32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B37F6F-E004-4414-8178-04C7568A565A}" type="datetimeFigureOut">
              <a:rPr lang="fr-FR" smtClean="0"/>
              <a:pPr/>
              <a:t>23/09/2026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1274BD-2225-430E-B195-718FE1CD5BBA}" type="slidenum">
              <a:rPr lang="fr-FR" smtClean="0"/>
              <a:pPr/>
              <a:t>‹N°›</a:t>
            </a:fld>
            <a:endParaRPr lang="fr-FR"/>
          </a:p>
        </p:txBody>
      </p:sp>
    </p:spTree>
    <p:extLst>
      <p:ext uri="{BB962C8B-B14F-4D97-AF65-F5344CB8AC3E}">
        <p14:creationId xmlns:p14="http://schemas.microsoft.com/office/powerpoint/2010/main" val="377654560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Une plateforme RDS n’est adoptée que si l’expérience est proche d’un poste local. Ce module traite ce qui la conditionne : profils, paramètres, impression et applications.</a:t>
            </a:r>
          </a:p>
        </p:txBody>
      </p:sp>
      <p:sp>
        <p:nvSpPr>
          <p:cNvPr id="4" name="Slide Number Placeholder 3"/>
          <p:cNvSpPr>
            <a:spLocks noGrp="1"/>
          </p:cNvSpPr>
          <p:nvPr>
            <p:ph type="sldNum" sz="quarter" idx="10"/>
          </p:nvPr>
        </p:nvSpPr>
        <p:spPr/>
        <p:txBody>
          <a:bodyPr/>
          <a:lstStyle/>
          <a:p>
            <a:fld id="{D61274BD-2225-430E-B195-718FE1CD5BBA}"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Les pics de connexion arrivent quand tous les utilisateurs se connectent en même temps. Le traitement parallèle des ouvertures de session évite l’engorgement ; les profils, vus plus loin, restent la principale cause de lenteur.</a:t>
            </a:r>
          </a:p>
        </p:txBody>
      </p:sp>
      <p:sp>
        <p:nvSpPr>
          <p:cNvPr id="4" name="Slide Number Placeholder 3"/>
          <p:cNvSpPr>
            <a:spLocks noGrp="1"/>
          </p:cNvSpPr>
          <p:nvPr>
            <p:ph type="sldNum" sz="quarter" idx="10"/>
          </p:nvPr>
        </p:nvSpPr>
        <p:spPr/>
        <p:txBody>
          <a:bodyPr/>
          <a:lstStyle/>
          <a:p>
            <a:fld id="{D61274BD-2225-430E-B195-718FE1CD5BBA}"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Capture à refaire sous Windows Server 2025.</a:t>
            </a:r>
          </a:p>
          <a:p>
            <a:pPr marL="0" lvl="0" indent="0">
              <a:buNone/>
            </a:pPr>
            <a:endParaRPr/>
          </a:p>
          <a:p>
            <a:pPr marL="0" lvl="0" indent="0">
              <a:buNone/>
            </a:pPr>
            <a:r>
              <a:t>Ce mode ne nécessite pas de CAL RDS : il ne doit pas servir à faire travailler des utilisateurs.</a:t>
            </a:r>
          </a:p>
        </p:txBody>
      </p:sp>
      <p:sp>
        <p:nvSpPr>
          <p:cNvPr id="4" name="Slide Number Placeholder 3"/>
          <p:cNvSpPr>
            <a:spLocks noGrp="1"/>
          </p:cNvSpPr>
          <p:nvPr>
            <p:ph type="sldNum" sz="quarter" idx="10"/>
          </p:nvPr>
        </p:nvSpPr>
        <p:spPr/>
        <p:txBody>
          <a:bodyPr/>
          <a:lstStyle/>
          <a:p>
            <a:fld id="{D61274BD-2225-430E-B195-718FE1CD5BBA}"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Capture à refaire sous Windows Server 2025.</a:t>
            </a:r>
          </a:p>
          <a:p>
            <a:pPr marL="0" lvl="0" indent="0">
              <a:buNone/>
            </a:pPr>
            <a:endParaRPr/>
          </a:p>
          <a:p>
            <a:pPr marL="0" lvl="0" indent="0">
              <a:buNone/>
            </a:pPr>
            <a:r>
              <a:t>Les paramètres historiquement réglés dans la console de configuration de l’hôte de session se règlent aujourd’hui dans les propriétés de la collection ou par stratégie de groupe.</a:t>
            </a:r>
          </a:p>
        </p:txBody>
      </p:sp>
      <p:sp>
        <p:nvSpPr>
          <p:cNvPr id="4" name="Slide Number Placeholder 3"/>
          <p:cNvSpPr>
            <a:spLocks noGrp="1"/>
          </p:cNvSpPr>
          <p:nvPr>
            <p:ph type="sldNum" sz="quarter" idx="10"/>
          </p:nvPr>
        </p:nvSpPr>
        <p:spPr/>
        <p:txBody>
          <a:bodyPr/>
          <a:lstStyle/>
          <a:p>
            <a:fld id="{D61274BD-2225-430E-B195-718FE1CD5BBA}"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Capture à refaire sous Windows Server 2025.</a:t>
            </a:r>
          </a:p>
          <a:p>
            <a:pPr marL="0" lvl="0" indent="0">
              <a:buNone/>
            </a:pPr>
            <a:endParaRPr/>
          </a:p>
          <a:p>
            <a:pPr marL="0" lvl="0" indent="0">
              <a:buNone/>
            </a:pPr>
            <a:r>
              <a:t>Ces paramètres par compte restent disponibles, mais se gèrent difficilement à grande échelle : préférer les stratégies de groupe et les collections.</a:t>
            </a:r>
          </a:p>
        </p:txBody>
      </p:sp>
      <p:sp>
        <p:nvSpPr>
          <p:cNvPr id="4" name="Slide Number Placeholder 3"/>
          <p:cNvSpPr>
            <a:spLocks noGrp="1"/>
          </p:cNvSpPr>
          <p:nvPr>
            <p:ph type="sldNum" sz="quarter" idx="10"/>
          </p:nvPr>
        </p:nvSpPr>
        <p:spPr/>
        <p:txBody>
          <a:bodyPr/>
          <a:lstStyle/>
          <a:p>
            <a:fld id="{D61274BD-2225-430E-B195-718FE1CD5BBA}"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Faire témoigner les participants : les lenteurs d’ouverture de session sont la première plainte des utilisateurs d’une ferme RDS, et elles viennent presque toujours de la gestion des profils.</a:t>
            </a:r>
          </a:p>
        </p:txBody>
      </p:sp>
      <p:sp>
        <p:nvSpPr>
          <p:cNvPr id="4" name="Slide Number Placeholder 3"/>
          <p:cNvSpPr>
            <a:spLocks noGrp="1"/>
          </p:cNvSpPr>
          <p:nvPr>
            <p:ph type="sldNum" sz="quarter" idx="10"/>
          </p:nvPr>
        </p:nvSpPr>
        <p:spPr/>
        <p:txBody>
          <a:bodyPr/>
          <a:lstStyle/>
          <a:p>
            <a:fld id="{D61274BD-2225-430E-B195-718FE1CD5BBA}"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Les disques de profil utilisateur restent disponibles dans les propriétés de la collection, mais FSLogix est la solution recommandée par Microsoft.</a:t>
            </a:r>
          </a:p>
        </p:txBody>
      </p:sp>
      <p:sp>
        <p:nvSpPr>
          <p:cNvPr id="4" name="Slide Number Placeholder 3"/>
          <p:cNvSpPr>
            <a:spLocks noGrp="1"/>
          </p:cNvSpPr>
          <p:nvPr>
            <p:ph type="sldNum" sz="quarter" idx="10"/>
          </p:nvPr>
        </p:nvSpPr>
        <p:spPr/>
        <p:txBody>
          <a:bodyPr/>
          <a:lstStyle/>
          <a:p>
            <a:fld id="{D61274BD-2225-430E-B195-718FE1CD5BBA}" type="slidenum">
              <a:rPr lang="en-US"/>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Schéma : les quatre composants de FSLogix autour du pilote de filtre, avec le conteneur de profil au centre.</a:t>
            </a:r>
          </a:p>
          <a:p>
            <a:pPr marL="0" lvl="0" indent="0">
              <a:buNone/>
            </a:pPr>
            <a:endParaRPr/>
          </a:p>
          <a:p>
            <a:pPr marL="0" lvl="0" indent="0">
              <a:buNone/>
            </a:pPr>
            <a:r>
              <a:t>Le conteneur Office couvre Outlook, OneDrive, Teams, OneNote et SharePoint. Il sert quand une autre solution de profils est déjà en place : dans la plupart des cas, on ne combine pas conteneur de profil et conteneur Office.</a:t>
            </a:r>
          </a:p>
          <a:p>
            <a:pPr marL="0" lvl="0" indent="0">
              <a:buNone/>
            </a:pPr>
            <a:endParaRPr/>
          </a:p>
          <a:p>
            <a:pPr marL="0" lvl="0" indent="0">
              <a:buNone/>
            </a:pPr>
            <a:r>
              <a:t>Les jeux de règles d’application, anciennement Application Masking, réduisent le nombre d’images de référence à maintenir : une seule image, des applications visibles ou non selon le profil de l’utilisateur.</a:t>
            </a:r>
          </a:p>
          <a:p>
            <a:pPr marL="0" lvl="0" indent="0">
              <a:buNone/>
            </a:pPr>
            <a:endParaRPr/>
          </a:p>
          <a:p>
            <a:pPr marL="0" lvl="0" indent="0">
              <a:buNone/>
            </a:pPr>
            <a:r>
              <a:t>Cloud Cache écrit dans plusieurs stockages en parallèle : c’est la réponse à la reprise d’activité, au prix d’écritures multipliées. À réserver aux scénarios qui le justifient.</a:t>
            </a:r>
          </a:p>
        </p:txBody>
      </p:sp>
      <p:sp>
        <p:nvSpPr>
          <p:cNvPr id="4" name="Slide Number Placeholder 3"/>
          <p:cNvSpPr>
            <a:spLocks noGrp="1"/>
          </p:cNvSpPr>
          <p:nvPr>
            <p:ph type="sldNum" sz="quarter" idx="10"/>
          </p:nvPr>
        </p:nvSpPr>
        <p:spPr/>
        <p:txBody>
          <a:bodyPr/>
          <a:lstStyle/>
          <a:p>
            <a:fld id="{D61274BD-2225-430E-B195-718FE1CD5BBA}" type="slidenum">
              <a:rPr lang="en-US"/>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Schéma : l’hôte de session monte le conteneur VHDX de l’utilisateur depuis le partage ProfilDisk de RDS-DC1.</a:t>
            </a:r>
          </a:p>
          <a:p>
            <a:pPr marL="0" lvl="0" indent="0">
              <a:buNone/>
            </a:pPr>
            <a:endParaRPr/>
          </a:p>
          <a:p>
            <a:pPr marL="0" lvl="0" indent="0">
              <a:buNone/>
            </a:pPr>
            <a:r>
              <a:t>C’est ce qui rend l’ouverture rapide et compatible avec les applications exigeantes comme Outlook en mode mis en cache : aucun fichier n’est copié.</a:t>
            </a:r>
          </a:p>
        </p:txBody>
      </p:sp>
      <p:sp>
        <p:nvSpPr>
          <p:cNvPr id="4" name="Slide Number Placeholder 3"/>
          <p:cNvSpPr>
            <a:spLocks noGrp="1"/>
          </p:cNvSpPr>
          <p:nvPr>
            <p:ph type="sldNum" sz="quarter" idx="10"/>
          </p:nvPr>
        </p:nvSpPr>
        <p:spPr/>
        <p:txBody>
          <a:bodyPr/>
          <a:lstStyle/>
          <a:p>
            <a:fld id="{D61274BD-2225-430E-B195-718FE1CD5BBA}" type="slidenum">
              <a:rPr lang="en-US"/>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Les paramètres se trouvent sous </a:t>
            </a:r>
            <a:r>
              <a:rPr>
                <a:latin typeface="Courier"/>
              </a:rPr>
              <a:t>HKLM\SOFTWARE\FSLogix\Profiles</a:t>
            </a:r>
            <a:r>
              <a:t> ; les modèles d’administration FSLogix permettent de les gérer par GPO.</a:t>
            </a:r>
          </a:p>
          <a:p>
            <a:pPr marL="0" lvl="0" indent="0">
              <a:buNone/>
            </a:pPr>
            <a:endParaRPr/>
          </a:p>
          <a:p>
            <a:pPr marL="0" lvl="0" indent="0">
              <a:buNone/>
            </a:pPr>
            <a:r>
              <a:t>Les groupes locaux « FSLogix Profile Include List » et « FSLogix Profile Exclude List » définissent qui reçoit un conteneur : exclure les comptes d’administration.</a:t>
            </a:r>
          </a:p>
          <a:p>
            <a:pPr marL="0" lvl="0" indent="0">
              <a:buNone/>
            </a:pPr>
            <a:endParaRPr/>
          </a:p>
          <a:p>
            <a:pPr marL="0" lvl="0" indent="0">
              <a:buNone/>
            </a:pPr>
            <a:r>
              <a:t>Windows Server 2025 exige la signature SMB par défaut : le serveur de fichiers doit la prendre en charge, ce qui est le cas de tout Windows Server récent.</a:t>
            </a:r>
          </a:p>
        </p:txBody>
      </p:sp>
      <p:sp>
        <p:nvSpPr>
          <p:cNvPr id="4" name="Slide Number Placeholder 3"/>
          <p:cNvSpPr>
            <a:spLocks noGrp="1"/>
          </p:cNvSpPr>
          <p:nvPr>
            <p:ph type="sldNum" sz="quarter" idx="10"/>
          </p:nvPr>
        </p:nvSpPr>
        <p:spPr/>
        <p:txBody>
          <a:bodyPr/>
          <a:lstStyle/>
          <a:p>
            <a:fld id="{D61274BD-2225-430E-B195-718FE1CD5BBA}" type="slidenum">
              <a:rPr lang="en-US"/>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L’installation se fait avec </a:t>
            </a:r>
            <a:r>
              <a:rPr>
                <a:latin typeface="Courier"/>
              </a:rPr>
              <a:t>FSLogixAppsSetup.exe</a:t>
            </a:r>
            <a:r>
              <a:t> ; </a:t>
            </a:r>
            <a:r>
              <a:rPr>
                <a:latin typeface="Courier"/>
              </a:rPr>
              <a:t>frx version</a:t>
            </a:r>
            <a:r>
              <a:t> donne la version installée. Microsoft recommande de rester sur la dernière version, qui est aussi la condition pour ouvrir un ticket de support.</a:t>
            </a:r>
          </a:p>
          <a:p>
            <a:pPr marL="0" lvl="0" indent="0">
              <a:buNone/>
            </a:pPr>
            <a:endParaRPr/>
          </a:p>
          <a:p>
            <a:pPr marL="0" lvl="0" indent="0">
              <a:buNone/>
            </a:pPr>
            <a:r>
              <a:t>Exclusions antivirus à prévoir : les services et pilotes </a:t>
            </a:r>
            <a:r>
              <a:rPr>
                <a:latin typeface="Courier"/>
              </a:rPr>
              <a:t>frx*</a:t>
            </a:r>
            <a:r>
              <a:t>, les dossiers </a:t>
            </a:r>
            <a:r>
              <a:rPr>
                <a:latin typeface="Courier"/>
              </a:rPr>
              <a:t>C:\Program Files\FSLogix\Apps</a:t>
            </a:r>
            <a:r>
              <a:t> et </a:t>
            </a:r>
            <a:r>
              <a:rPr>
                <a:latin typeface="Courier"/>
              </a:rPr>
              <a:t>C:\ProgramData\FSLogix</a:t>
            </a:r>
            <a:r>
              <a:t>, et sur le partage les fichiers </a:t>
            </a:r>
            <a:r>
              <a:rPr>
                <a:latin typeface="Courier"/>
              </a:rPr>
              <a:t>*.VHDX</a:t>
            </a:r>
            <a:r>
              <a:t> avec leurs </a:t>
            </a:r>
            <a:r>
              <a:rPr>
                <a:latin typeface="Courier"/>
              </a:rPr>
              <a:t>.lock</a:t>
            </a:r>
            <a:r>
              <a:t>, </a:t>
            </a:r>
            <a:r>
              <a:rPr>
                <a:latin typeface="Courier"/>
              </a:rPr>
              <a:t>.meta</a:t>
            </a:r>
            <a:r>
              <a:t> et </a:t>
            </a:r>
            <a:r>
              <a:rPr>
                <a:latin typeface="Courier"/>
              </a:rPr>
              <a:t>.metadata</a:t>
            </a:r>
            <a:r>
              <a:t>. Sans ces exclusions : ouvertures lentes, profils temporaires, conteneurs verrouillés.</a:t>
            </a:r>
          </a:p>
        </p:txBody>
      </p:sp>
      <p:sp>
        <p:nvSpPr>
          <p:cNvPr id="4" name="Slide Number Placeholder 3"/>
          <p:cNvSpPr>
            <a:spLocks noGrp="1"/>
          </p:cNvSpPr>
          <p:nvPr>
            <p:ph type="sldNum" sz="quarter" idx="10"/>
          </p:nvPr>
        </p:nvSpPr>
        <p:spPr/>
        <p:txBody>
          <a:bodyPr/>
          <a:lstStyle/>
          <a:p>
            <a:fld id="{D61274BD-2225-430E-B195-718FE1CD5BBA}" type="slidenum">
              <a:rPr lang="en-US"/>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Si le partage est indisponible, aucune session ne s’ouvre correctement : le stockage des profils fait partie du périmètre de haute disponibilité du module 5.</a:t>
            </a:r>
          </a:p>
          <a:p>
            <a:pPr marL="0" lvl="0" indent="0">
              <a:buNone/>
            </a:pPr>
            <a:endParaRPr/>
          </a:p>
          <a:p>
            <a:pPr marL="0" lvl="0" indent="0">
              <a:buNone/>
            </a:pPr>
            <a:r>
              <a:t>La mise à jour Windows Server d’avril 2026 fait passer le chiffrement Kerberos par défaut de RC4 à AES-SHA1. Un partage hébergeant des conteneurs FSLogix qui n’a pas été basculé vers AES-SHA1 risque des refus d’accès après cette mise à jour : à vérifier avant de déployer.</a:t>
            </a:r>
          </a:p>
          <a:p>
            <a:pPr marL="0" lvl="0" indent="0">
              <a:buNone/>
            </a:pPr>
            <a:endParaRPr/>
          </a:p>
          <a:p>
            <a:pPr marL="0" lvl="0" indent="0">
              <a:buNone/>
            </a:pPr>
            <a:r>
              <a:t>Les journaux se trouvent dans </a:t>
            </a:r>
            <a:r>
              <a:rPr>
                <a:latin typeface="Courier"/>
              </a:rPr>
              <a:t>C:\ProgramData\FSLogix\Logs</a:t>
            </a:r>
            <a:r>
              <a:t> et dans l’observateur d’événements.</a:t>
            </a:r>
          </a:p>
        </p:txBody>
      </p:sp>
      <p:sp>
        <p:nvSpPr>
          <p:cNvPr id="4" name="Slide Number Placeholder 3"/>
          <p:cNvSpPr>
            <a:spLocks noGrp="1"/>
          </p:cNvSpPr>
          <p:nvPr>
            <p:ph type="sldNum" sz="quarter" idx="10"/>
          </p:nvPr>
        </p:nvSpPr>
        <p:spPr/>
        <p:txBody>
          <a:bodyPr/>
          <a:lstStyle/>
          <a:p>
            <a:fld id="{D61274BD-2225-430E-B195-718FE1CD5BBA}" type="slidenum">
              <a:rPr lang="en-US"/>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Capture de l’éditeur de stratégies à refaire sous Windows Server 2025.</a:t>
            </a:r>
          </a:p>
          <a:p>
            <a:pPr marL="0" lvl="0" indent="0">
              <a:buNone/>
            </a:pPr>
            <a:endParaRPr/>
          </a:p>
          <a:p>
            <a:pPr marL="0" lvl="0" indent="0">
              <a:buNone/>
            </a:pPr>
            <a:r>
              <a:t>Chemin : Configuration ordinateur, Modèles d’administration, Composants Windows, Services Bureau à distance, Hôte de session Bureau à distance.</a:t>
            </a:r>
          </a:p>
          <a:p>
            <a:pPr marL="0" lvl="0" indent="0">
              <a:buNone/>
            </a:pPr>
            <a:endParaRPr/>
          </a:p>
          <a:p>
            <a:pPr marL="0" lvl="0" indent="0">
              <a:buNone/>
            </a:pPr>
            <a:r>
              <a:t>Chez Avaedos, l’UO </a:t>
            </a:r>
            <a:r>
              <a:rPr>
                <a:latin typeface="Courier"/>
              </a:rPr>
              <a:t>RD Servers</a:t>
            </a:r>
            <a:r>
              <a:t> porte la stratégie </a:t>
            </a:r>
            <a:r>
              <a:rPr>
                <a:latin typeface="Courier"/>
              </a:rPr>
              <a:t>GPO RD Sessions</a:t>
            </a:r>
            <a:r>
              <a:t>, avec le traitement en boucle de rappel pour appliquer aussi des paramètres utilisateur.</a:t>
            </a:r>
          </a:p>
        </p:txBody>
      </p:sp>
      <p:sp>
        <p:nvSpPr>
          <p:cNvPr id="4" name="Slide Number Placeholder 3"/>
          <p:cNvSpPr>
            <a:spLocks noGrp="1"/>
          </p:cNvSpPr>
          <p:nvPr>
            <p:ph type="sldNum" sz="quarter" idx="10"/>
          </p:nvPr>
        </p:nvSpPr>
        <p:spPr/>
        <p:txBody>
          <a:bodyPr/>
          <a:lstStyle/>
          <a:p>
            <a:fld id="{D61274BD-2225-430E-B195-718FE1CD5BBA}" type="slidenum">
              <a:rPr lang="en-US"/>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Parcourir l’arborescence de la stratégie avec les participants : la plupart des réglages du déploiement y ont un équivalent.</a:t>
            </a:r>
          </a:p>
        </p:txBody>
      </p:sp>
      <p:sp>
        <p:nvSpPr>
          <p:cNvPr id="4" name="Slide Number Placeholder 3"/>
          <p:cNvSpPr>
            <a:spLocks noGrp="1"/>
          </p:cNvSpPr>
          <p:nvPr>
            <p:ph type="sldNum" sz="quarter" idx="10"/>
          </p:nvPr>
        </p:nvSpPr>
        <p:spPr/>
        <p:txBody>
          <a:bodyPr/>
          <a:lstStyle/>
          <a:p>
            <a:fld id="{D61274BD-2225-430E-B195-718FE1CD5BBA}" type="slidenum">
              <a:rPr lang="en-US"/>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Sans limite, les sessions déconnectées s’accumulent, consomment de la mémoire et verrouillent les profils FSLogix. Définir les délais avec les métiers : un délai trop court frustre les utilisateurs qui changent de poste.</a:t>
            </a:r>
          </a:p>
        </p:txBody>
      </p:sp>
      <p:sp>
        <p:nvSpPr>
          <p:cNvPr id="4" name="Slide Number Placeholder 3"/>
          <p:cNvSpPr>
            <a:spLocks noGrp="1"/>
          </p:cNvSpPr>
          <p:nvPr>
            <p:ph type="sldNum" sz="quarter" idx="10"/>
          </p:nvPr>
        </p:nvSpPr>
        <p:spPr/>
        <p:txBody>
          <a:bodyPr/>
          <a:lstStyle/>
          <a:p>
            <a:fld id="{D61274BD-2225-430E-B195-718FE1CD5BBA}" type="slidenum">
              <a:rPr lang="en-US"/>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Chaque redirection est un canal de sortie des données : la question se pose aussi au module 4, sous l’angle de la sécurité. Désactiver par défaut les lecteurs et le presse-papiers pour les collections sensibles, et les autoriser explicitement pour les autres.</a:t>
            </a:r>
          </a:p>
        </p:txBody>
      </p:sp>
      <p:sp>
        <p:nvSpPr>
          <p:cNvPr id="4" name="Slide Number Placeholder 3"/>
          <p:cNvSpPr>
            <a:spLocks noGrp="1"/>
          </p:cNvSpPr>
          <p:nvPr>
            <p:ph type="sldNum" sz="quarter" idx="10"/>
          </p:nvPr>
        </p:nvSpPr>
        <p:spPr/>
        <p:txBody>
          <a:bodyPr/>
          <a:lstStyle/>
          <a:p>
            <a:fld id="{D61274BD-2225-430E-B195-718FE1CD5BBA}" type="slidenum">
              <a:rPr lang="en-US"/>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Ces actions se font depuis Server Manager, dans la collection, section Connexions, ou en PowerShell avec </a:t>
            </a:r>
            <a:r>
              <a:rPr>
                <a:latin typeface="Courier"/>
              </a:rPr>
              <a:t>Get-RDUserSession</a:t>
            </a:r>
            <a:r>
              <a:t>, </a:t>
            </a:r>
            <a:r>
              <a:rPr>
                <a:latin typeface="Courier"/>
              </a:rPr>
              <a:t>Send-RDUserMessage</a:t>
            </a:r>
            <a:r>
              <a:t>, </a:t>
            </a:r>
            <a:r>
              <a:rPr>
                <a:latin typeface="Courier"/>
              </a:rPr>
              <a:t>Disconnect-RDUser</a:t>
            </a:r>
            <a:r>
              <a:t> et </a:t>
            </a:r>
            <a:r>
              <a:rPr>
                <a:latin typeface="Courier"/>
              </a:rPr>
              <a:t>Invoke-RDUserLogoff</a:t>
            </a:r>
            <a:r>
              <a:t>. La prise de contrôle se pratique à l’atelier 2.</a:t>
            </a:r>
          </a:p>
        </p:txBody>
      </p:sp>
      <p:sp>
        <p:nvSpPr>
          <p:cNvPr id="4" name="Slide Number Placeholder 3"/>
          <p:cNvSpPr>
            <a:spLocks noGrp="1"/>
          </p:cNvSpPr>
          <p:nvPr>
            <p:ph type="sldNum" sz="quarter" idx="10"/>
          </p:nvPr>
        </p:nvSpPr>
        <p:spPr/>
        <p:txBody>
          <a:bodyPr/>
          <a:lstStyle/>
          <a:p>
            <a:fld id="{D61274BD-2225-430E-B195-718FE1CD5BBA}" type="slidenum">
              <a:rPr lang="en-US"/>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Historiquement, les hôtes de session accumulaient des dizaines de pilotes d’imprimantes, source d’instabilités du service d’impression. Easy Print répond à ce problème.</a:t>
            </a:r>
          </a:p>
        </p:txBody>
      </p:sp>
      <p:sp>
        <p:nvSpPr>
          <p:cNvPr id="4" name="Slide Number Placeholder 3"/>
          <p:cNvSpPr>
            <a:spLocks noGrp="1"/>
          </p:cNvSpPr>
          <p:nvPr>
            <p:ph type="sldNum" sz="quarter" idx="10"/>
          </p:nvPr>
        </p:nvSpPr>
        <p:spPr/>
        <p:txBody>
          <a:bodyPr/>
          <a:lstStyle/>
          <a:p>
            <a:fld id="{D61274BD-2225-430E-B195-718FE1CD5BBA}" type="slidenum">
              <a:rPr lang="en-US"/>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L’utilisateur retrouve ses imprimantes locales dans sa session, avec leurs options, sans que l’administrateur intervienne sur les hôtes.</a:t>
            </a:r>
          </a:p>
        </p:txBody>
      </p:sp>
      <p:sp>
        <p:nvSpPr>
          <p:cNvPr id="4" name="Slide Number Placeholder 3"/>
          <p:cNvSpPr>
            <a:spLocks noGrp="1"/>
          </p:cNvSpPr>
          <p:nvPr>
            <p:ph type="sldNum" sz="quarter" idx="10"/>
          </p:nvPr>
        </p:nvSpPr>
        <p:spPr/>
        <p:txBody>
          <a:bodyPr/>
          <a:lstStyle/>
          <a:p>
            <a:fld id="{D61274BD-2225-430E-B195-718FE1CD5BBA}" type="slidenum">
              <a:rPr lang="en-US"/>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Schéma : le travail d’impression part de l’application sur l’hôte de session, traverse le pilote Easy Print et le canal RDP, puis est rendu par le pilote de l’imprimante sur le poste client.</a:t>
            </a:r>
          </a:p>
        </p:txBody>
      </p:sp>
      <p:sp>
        <p:nvSpPr>
          <p:cNvPr id="4" name="Slide Number Placeholder 3"/>
          <p:cNvSpPr>
            <a:spLocks noGrp="1"/>
          </p:cNvSpPr>
          <p:nvPr>
            <p:ph type="sldNum" sz="quarter" idx="10"/>
          </p:nvPr>
        </p:nvSpPr>
        <p:spPr/>
        <p:txBody>
          <a:bodyPr/>
          <a:lstStyle/>
          <a:p>
            <a:fld id="{D61274BD-2225-430E-B195-718FE1CD5BBA}" type="slidenum">
              <a:rPr lang="en-US"/>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Rediriger uniquement l’imprimante par défaut réduit le temps d’ouverture de session lorsque les postes ont de nombreuses imprimantes installées.</a:t>
            </a:r>
          </a:p>
        </p:txBody>
      </p:sp>
      <p:sp>
        <p:nvSpPr>
          <p:cNvPr id="4" name="Slide Number Placeholder 3"/>
          <p:cNvSpPr>
            <a:spLocks noGrp="1"/>
          </p:cNvSpPr>
          <p:nvPr>
            <p:ph type="sldNum" sz="quarter" idx="10"/>
          </p:nvPr>
        </p:nvSpPr>
        <p:spPr/>
        <p:txBody>
          <a:bodyPr/>
          <a:lstStyle/>
          <a:p>
            <a:fld id="{D61274BD-2225-430E-B195-718FE1CD5BBA}" type="slidenum">
              <a:rPr lang="en-US"/>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Les pilotes existants restent installables, mais la trajectoire est claire. Tester Easy Print et les imprimantes réseau avec Windows protected print mode activé sur un hôte pilote avant de généraliser.</a:t>
            </a:r>
          </a:p>
        </p:txBody>
      </p:sp>
      <p:sp>
        <p:nvSpPr>
          <p:cNvPr id="4" name="Slide Number Placeholder 3"/>
          <p:cNvSpPr>
            <a:spLocks noGrp="1"/>
          </p:cNvSpPr>
          <p:nvPr>
            <p:ph type="sldNum" sz="quarter" idx="10"/>
          </p:nvPr>
        </p:nvSpPr>
        <p:spPr/>
        <p:txBody>
          <a:bodyPr/>
          <a:lstStyle/>
          <a:p>
            <a:fld id="{D61274BD-2225-430E-B195-718FE1CD5BBA}" type="slidenum">
              <a:rPr lang="en-US"/>
              <a:t>23</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Sur Windows Server 2022, le support de Microsoft 365 Apps s’arrête dès octobre 2026 : Windows Server 2025 est la version à retenir pour les hôtes de session.</a:t>
            </a:r>
          </a:p>
          <a:p>
            <a:pPr marL="0" lvl="0" indent="0">
              <a:buNone/>
            </a:pPr>
            <a:endParaRPr/>
          </a:p>
          <a:p>
            <a:pPr marL="0" lvl="0" indent="0">
              <a:buNone/>
            </a:pPr>
            <a:r>
              <a:t>FSLogix conserve le cache d’activation et les données Office d’une session à l’autre.</a:t>
            </a:r>
          </a:p>
        </p:txBody>
      </p:sp>
      <p:sp>
        <p:nvSpPr>
          <p:cNvPr id="4" name="Slide Number Placeholder 3"/>
          <p:cNvSpPr>
            <a:spLocks noGrp="1"/>
          </p:cNvSpPr>
          <p:nvPr>
            <p:ph type="sldNum" sz="quarter" idx="10"/>
          </p:nvPr>
        </p:nvSpPr>
        <p:spPr/>
        <p:txBody>
          <a:bodyPr/>
          <a:lstStyle/>
          <a:p>
            <a:fld id="{D61274BD-2225-430E-B195-718FE1CD5BBA}" type="slidenum">
              <a:rPr lang="en-US"/>
              <a:t>24</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La limite concerne tout l’environnement RDS, sessions partagées comme postes virtuels : l’optimisation média qui déporte l’audio et la vidéo sur le poste client n’est pas certifiée avec RDS sur site. Un besoin fort de réunions Teams depuis l’environnement publié est donc un critère de choix en faveur d’Azure Virtual Desktop ou de Windows 365.</a:t>
            </a:r>
          </a:p>
        </p:txBody>
      </p:sp>
      <p:sp>
        <p:nvSpPr>
          <p:cNvPr id="4" name="Slide Number Placeholder 3"/>
          <p:cNvSpPr>
            <a:spLocks noGrp="1"/>
          </p:cNvSpPr>
          <p:nvPr>
            <p:ph type="sldNum" sz="quarter" idx="10"/>
          </p:nvPr>
        </p:nvSpPr>
        <p:spPr/>
        <p:txBody>
          <a:bodyPr/>
          <a:lstStyle/>
          <a:p>
            <a:fld id="{D61274BD-2225-430E-B195-718FE1CD5BBA}" type="slidenum">
              <a:rPr lang="en-US"/>
              <a:t>25</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Windows Server 2025 permet la migration dynamique des machines virtuelles utilisant un partitionnement de GPU ; le clustering de ces machines exige l’édition Datacenter. Les GPU NVIDIA nécessitent les pilotes vGPU 18 ou ultérieurs.</a:t>
            </a:r>
          </a:p>
          <a:p>
            <a:pPr marL="0" lvl="0" indent="0">
              <a:buNone/>
            </a:pPr>
            <a:endParaRPr/>
          </a:p>
          <a:p>
            <a:pPr marL="0" lvl="0" indent="0">
              <a:buNone/>
            </a:pPr>
            <a:r>
              <a:t>Présenter le partitionnement en démonstration ou sur captures : l’environnement de formation n’a pas de GPU.</a:t>
            </a:r>
          </a:p>
        </p:txBody>
      </p:sp>
      <p:sp>
        <p:nvSpPr>
          <p:cNvPr id="4" name="Slide Number Placeholder 3"/>
          <p:cNvSpPr>
            <a:spLocks noGrp="1"/>
          </p:cNvSpPr>
          <p:nvPr>
            <p:ph type="sldNum" sz="quarter" idx="10"/>
          </p:nvPr>
        </p:nvSpPr>
        <p:spPr/>
        <p:txBody>
          <a:bodyPr/>
          <a:lstStyle/>
          <a:p>
            <a:fld id="{D61274BD-2225-430E-B195-718FE1CD5BBA}" type="slidenum">
              <a:rPr lang="en-US"/>
              <a:t>26</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Résultat attendu : un fichier VHDX au nom de Loïc THOBOIS dans le partage, et un paramètre modifié dans la première session retrouvé dans la seconde, sur l’autre hôte.</a:t>
            </a:r>
          </a:p>
          <a:p>
            <a:pPr marL="0" lvl="0" indent="0">
              <a:buNone/>
            </a:pPr>
            <a:endParaRPr/>
          </a:p>
          <a:p>
            <a:pPr marL="0" lvl="0" indent="0">
              <a:buNone/>
            </a:pPr>
            <a:r>
              <a:t>Vérification : </a:t>
            </a:r>
            <a:r>
              <a:rPr>
                <a:latin typeface="Courier"/>
              </a:rPr>
              <a:t>Get-RDUserSession</a:t>
            </a:r>
            <a:r>
              <a:t> indique l’hôte utilisé ; les journaux FSLogix confirment le montage du conteneur.</a:t>
            </a:r>
          </a:p>
        </p:txBody>
      </p:sp>
      <p:sp>
        <p:nvSpPr>
          <p:cNvPr id="4" name="Slide Number Placeholder 3"/>
          <p:cNvSpPr>
            <a:spLocks noGrp="1"/>
          </p:cNvSpPr>
          <p:nvPr>
            <p:ph type="sldNum" sz="quarter" idx="10"/>
          </p:nvPr>
        </p:nvSpPr>
        <p:spPr/>
        <p:txBody>
          <a:bodyPr/>
          <a:lstStyle/>
          <a:p>
            <a:fld id="{D61274BD-2225-430E-B195-718FE1CD5BBA}" type="slidenum">
              <a:rPr lang="en-US"/>
              <a:t>27</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Faire expliquer pourquoi FSLogix rend les hôtes interchangeables, puis introduire la sécurisation : une plateforme agréable à utiliser doit maintenant être protégée.</a:t>
            </a:r>
          </a:p>
        </p:txBody>
      </p:sp>
      <p:sp>
        <p:nvSpPr>
          <p:cNvPr id="4" name="Slide Number Placeholder 3"/>
          <p:cNvSpPr>
            <a:spLocks noGrp="1"/>
          </p:cNvSpPr>
          <p:nvPr>
            <p:ph type="sldNum" sz="quarter" idx="10"/>
          </p:nvPr>
        </p:nvSpPr>
        <p:spPr/>
        <p:txBody>
          <a:bodyPr/>
          <a:lstStyle/>
          <a:p>
            <a:fld id="{D61274BD-2225-430E-B195-718FE1CD5BBA}" type="slidenum">
              <a:rPr lang="en-US"/>
              <a:t>28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Ref idx="1001">
        <a:schemeClr val="bg1"/>
      </p:bgRef>
    </p:bg>
    <p:spTree>
      <p:nvGrpSpPr>
        <p:cNvPr id="1" name=""/>
        <p:cNvGrpSpPr/>
        <p:nvPr/>
      </p:nvGrpSpPr>
      <p:grpSpPr>
        <a:xfrm>
          <a:off x="0" y="0"/>
          <a:ext cx="0" cy="0"/>
          <a:chOff x="0" y="0"/>
          <a:chExt cx="0" cy="0"/>
        </a:xfrm>
      </p:grpSpPr>
      <p:sp>
        <p:nvSpPr>
          <p:cNvPr id="19" name="Titre 18"/>
          <p:cNvSpPr>
            <a:spLocks noGrp="1"/>
          </p:cNvSpPr>
          <p:nvPr>
            <p:ph type="title" hasCustomPrompt="1"/>
          </p:nvPr>
        </p:nvSpPr>
        <p:spPr>
          <a:xfrm>
            <a:off x="71406" y="5286388"/>
            <a:ext cx="9001188" cy="571504"/>
          </a:xfrm>
          <a:noFill/>
          <a:ln w="9525">
            <a:noFill/>
            <a:miter lim="800000"/>
            <a:headEnd/>
            <a:tailEnd/>
          </a:ln>
        </p:spPr>
        <p:txBody>
          <a:bodyPr anchor="ctr"/>
          <a:lstStyle>
            <a:lvl1pPr marL="0" algn="r" defTabSz="914400" rtl="0" eaLnBrk="1" latinLnBrk="0" hangingPunct="1">
              <a:defRPr lang="fr-FR" sz="2800" b="0" kern="1200" cap="none" spc="0" baseline="0" dirty="0">
                <a:ln>
                  <a:noFill/>
                </a:ln>
                <a:solidFill>
                  <a:srgbClr val="000000"/>
                </a:solidFill>
                <a:effectLst/>
                <a:latin typeface="Arial" pitchFamily="34" charset="0"/>
                <a:ea typeface="+mn-ea"/>
                <a:cs typeface="Arial" pitchFamily="34" charset="0"/>
              </a:defRPr>
            </a:lvl1pPr>
          </a:lstStyle>
          <a:p>
            <a:r>
              <a:rPr lang="fr-FR" dirty="0"/>
              <a:t>MODULE : Titre du module</a:t>
            </a:r>
          </a:p>
        </p:txBody>
      </p:sp>
      <p:sp>
        <p:nvSpPr>
          <p:cNvPr id="7" name="Espace réservé du pied de page 13"/>
          <p:cNvSpPr txBox="1">
            <a:spLocks/>
          </p:cNvSpPr>
          <p:nvPr userDrawn="1"/>
        </p:nvSpPr>
        <p:spPr>
          <a:xfrm>
            <a:off x="6000728" y="6476998"/>
            <a:ext cx="3070678" cy="381002"/>
          </a:xfrm>
          <a:prstGeom prst="rect">
            <a:avLst/>
          </a:prstGeom>
        </p:spPr>
        <p:txBody>
          <a:bodyPr anchor="ctr"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effectLst/>
                <a:uLnTx/>
                <a:uFillTx/>
                <a:latin typeface="Arial" pitchFamily="34" charset="0"/>
                <a:cs typeface="Arial" pitchFamily="34" charset="0"/>
              </a:rPr>
              <a:t>Copyright © AVAEDOS. All rights reserved</a:t>
            </a:r>
            <a:endParaRPr kumimoji="0" lang="fr-BE" sz="1000" b="1" i="0" u="none" strike="noStrike" kern="1200" cap="none" spc="0" normalizeH="0" baseline="0" noProof="0" dirty="0">
              <a:ln>
                <a:noFill/>
              </a:ln>
              <a:effectLst/>
              <a:uLnTx/>
              <a:uFillTx/>
              <a:latin typeface="Arial" pitchFamily="34" charset="0"/>
              <a:cs typeface="Arial" pitchFamily="34" charset="0"/>
            </a:endParaRPr>
          </a:p>
        </p:txBody>
      </p:sp>
      <p:sp>
        <p:nvSpPr>
          <p:cNvPr id="4" name="Text Placeholder 3"/>
          <p:cNvSpPr>
            <a:spLocks noGrp="1"/>
          </p:cNvSpPr>
          <p:nvPr>
            <p:ph type="body" sz="quarter" idx="10" hasCustomPrompt="1"/>
          </p:nvPr>
        </p:nvSpPr>
        <p:spPr>
          <a:xfrm>
            <a:off x="71406" y="5893635"/>
            <a:ext cx="9000000" cy="360000"/>
          </a:xfrm>
        </p:spPr>
        <p:txBody>
          <a:bodyPr>
            <a:noAutofit/>
          </a:bodyPr>
          <a:lstStyle>
            <a:lvl1pPr marL="0" indent="0" algn="r" defTabSz="900000">
              <a:buNone/>
              <a:defRPr lang="en-US" sz="1600" b="1" kern="1200" dirty="0" smtClean="0">
                <a:solidFill>
                  <a:srgbClr val="FF9900"/>
                </a:solidFill>
                <a:latin typeface="Arial" pitchFamily="34" charset="0"/>
                <a:ea typeface="+mn-ea"/>
                <a:cs typeface="Arial" pitchFamily="34" charset="0"/>
              </a:defRPr>
            </a:lvl1pPr>
            <a:lvl2pPr>
              <a:defRPr sz="1100" b="1"/>
            </a:lvl2pPr>
            <a:lvl3pPr>
              <a:defRPr sz="1050" b="1"/>
            </a:lvl3pPr>
            <a:lvl4pPr>
              <a:defRPr sz="1000" b="1"/>
            </a:lvl4pPr>
            <a:lvl5pPr>
              <a:defRPr sz="1000" b="1"/>
            </a:lvl5pPr>
          </a:lstStyle>
          <a:p>
            <a:pPr lvl="0"/>
            <a:r>
              <a:rPr lang="fr-FR" noProof="0" dirty="0"/>
              <a:t>Titre de la formation</a:t>
            </a:r>
          </a:p>
        </p:txBody>
      </p:sp>
      <p:sp>
        <p:nvSpPr>
          <p:cNvPr id="10" name="Rectangle 9"/>
          <p:cNvSpPr/>
          <p:nvPr userDrawn="1"/>
        </p:nvSpPr>
        <p:spPr>
          <a:xfrm>
            <a:off x="0" y="5759"/>
            <a:ext cx="9144000" cy="5057265"/>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554588" y="1635622"/>
            <a:ext cx="4033636" cy="1498988"/>
          </a:xfrm>
          <a:prstGeom prst="rect">
            <a:avLst/>
          </a:prstGeom>
        </p:spPr>
      </p:pic>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1+#ppt_w/2"/>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4" grpId="0" build="p">
        <p:tmplLst>
          <p:tmpl lvl="1">
            <p:tnLst>
              <p:par>
                <p:cTn presetID="2" presetClass="entr" presetSubtype="2" fill="hold" nodeType="afterEffect">
                  <p:stCondLst>
                    <p:cond delay="0"/>
                  </p:stCondLst>
                  <p:childTnLst>
                    <p:set>
                      <p:cBhvr>
                        <p:cTn dur="1" fill="hold">
                          <p:stCondLst>
                            <p:cond delay="0"/>
                          </p:stCondLst>
                        </p:cTn>
                        <p:tgtEl>
                          <p:spTgt spid="4"/>
                        </p:tgtEl>
                        <p:attrNameLst>
                          <p:attrName>style.visibility</p:attrName>
                        </p:attrNameLst>
                      </p:cBhvr>
                      <p:to>
                        <p:strVal val="visible"/>
                      </p:to>
                    </p:set>
                    <p:anim calcmode="lin" valueType="num">
                      <p:cBhvr additive="base">
                        <p:cTn dur="500" fill="hold"/>
                        <p:tgtEl>
                          <p:spTgt spid="4"/>
                        </p:tgtEl>
                        <p:attrNameLst>
                          <p:attrName>ppt_x</p:attrName>
                        </p:attrNameLst>
                      </p:cBhvr>
                      <p:tavLst>
                        <p:tav tm="0">
                          <p:val>
                            <p:strVal val="1+#ppt_w/2"/>
                          </p:val>
                        </p:tav>
                        <p:tav tm="100000">
                          <p:val>
                            <p:strVal val="#ppt_x"/>
                          </p:val>
                        </p:tav>
                      </p:tavLst>
                    </p:anim>
                    <p:anim calcmode="lin" valueType="num">
                      <p:cBhvr additive="base">
                        <p:cTn dur="500" fill="hold"/>
                        <p:tgtEl>
                          <p:spTgt spid="4"/>
                        </p:tgtEl>
                        <p:attrNameLst>
                          <p:attrName>ppt_y</p:attrName>
                        </p:attrNameLst>
                      </p:cBhvr>
                      <p:tavLst>
                        <p:tav tm="0">
                          <p:val>
                            <p:strVal val="#ppt_y"/>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Espace réservé du numéro de diapositive 11"/>
          <p:cNvSpPr>
            <a:spLocks noGrp="1"/>
          </p:cNvSpPr>
          <p:nvPr>
            <p:ph type="sldNum" sz="quarter" idx="10"/>
          </p:nvPr>
        </p:nvSpPr>
        <p:spPr/>
        <p:txBody>
          <a:bodyPr/>
          <a:lstStyle/>
          <a:p>
            <a:fld id="{CF4668DC-857F-487D-BFFA-8C0CA5037977}" type="slidenum">
              <a:rPr lang="fr-BE" smtClean="0"/>
              <a:pPr/>
              <a:t>‹N°›</a:t>
            </a:fld>
            <a:endParaRPr lang="fr-BE"/>
          </a:p>
        </p:txBody>
      </p:sp>
      <p:sp>
        <p:nvSpPr>
          <p:cNvPr id="6" name="Espace réservé du contenu 2"/>
          <p:cNvSpPr>
            <a:spLocks noGrp="1"/>
          </p:cNvSpPr>
          <p:nvPr>
            <p:ph idx="1"/>
          </p:nvPr>
        </p:nvSpPr>
        <p:spPr>
          <a:xfrm>
            <a:off x="71406" y="1500174"/>
            <a:ext cx="9001188" cy="4929221"/>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p:txBody>
          <a:bodyPr/>
          <a:lstStyle/>
          <a:p>
            <a:r>
              <a:rPr lang="en-US"/>
              <a:t>Click to edit Master title style</a:t>
            </a:r>
            <a:endParaRPr lang="fr-F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71406" y="1500174"/>
            <a:ext cx="4320000" cy="492922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Espace réservé du contenu 3"/>
          <p:cNvSpPr>
            <a:spLocks noGrp="1"/>
          </p:cNvSpPr>
          <p:nvPr>
            <p:ph sz="half" idx="2"/>
          </p:nvPr>
        </p:nvSpPr>
        <p:spPr>
          <a:xfrm>
            <a:off x="4750388" y="1500174"/>
            <a:ext cx="43200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
        <p:nvSpPr>
          <p:cNvPr id="8" name="Titre 7"/>
          <p:cNvSpPr>
            <a:spLocks noGrp="1"/>
          </p:cNvSpPr>
          <p:nvPr>
            <p:ph type="title"/>
          </p:nvPr>
        </p:nvSpPr>
        <p:spPr/>
        <p:txBody>
          <a:bodyPr/>
          <a:lstStyle/>
          <a:p>
            <a:r>
              <a:rPr lang="en-US"/>
              <a:t>Click to edit Master title style</a:t>
            </a:r>
            <a:endParaRPr lang="fr-FR"/>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1 colonne à gauche et 2 blocs à droit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en-US"/>
              <a:t>Click to edit Master title style</a:t>
            </a:r>
          </a:p>
        </p:txBody>
      </p:sp>
      <p:sp>
        <p:nvSpPr>
          <p:cNvPr id="5" name="Espace réservé du numéro de diapositive 4"/>
          <p:cNvSpPr>
            <a:spLocks noGrp="1"/>
          </p:cNvSpPr>
          <p:nvPr>
            <p:ph type="sldNum" sz="quarter" idx="12"/>
          </p:nvPr>
        </p:nvSpPr>
        <p:spPr/>
        <p:txBody>
          <a:bodyPr/>
          <a:lstStyle/>
          <a:p>
            <a:fld id="{CF4668DC-857F-487D-BFFA-8C0CA5037977}" type="slidenum">
              <a:rPr lang="fr-BE" smtClean="0"/>
              <a:pPr/>
              <a:t>‹N°›</a:t>
            </a:fld>
            <a:endParaRPr lang="fr-BE"/>
          </a:p>
        </p:txBody>
      </p:sp>
      <p:sp>
        <p:nvSpPr>
          <p:cNvPr id="6" name="Espace réservé du contenu 2"/>
          <p:cNvSpPr>
            <a:spLocks noGrp="1"/>
          </p:cNvSpPr>
          <p:nvPr>
            <p:ph sz="half" idx="1"/>
          </p:nvPr>
        </p:nvSpPr>
        <p:spPr>
          <a:xfrm>
            <a:off x="71406" y="1500174"/>
            <a:ext cx="4320000" cy="492922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3"/>
          <p:cNvSpPr>
            <a:spLocks noGrp="1"/>
          </p:cNvSpPr>
          <p:nvPr>
            <p:ph sz="half" idx="2"/>
          </p:nvPr>
        </p:nvSpPr>
        <p:spPr>
          <a:xfrm>
            <a:off x="4750388" y="150017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8" name="Espace réservé du contenu 3"/>
          <p:cNvSpPr>
            <a:spLocks noGrp="1"/>
          </p:cNvSpPr>
          <p:nvPr>
            <p:ph sz="half" idx="14"/>
          </p:nvPr>
        </p:nvSpPr>
        <p:spPr>
          <a:xfrm>
            <a:off x="4750388" y="400050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1 colonne à droite et 2 blocs à gauch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3"/>
          <p:cNvSpPr>
            <a:spLocks noGrp="1"/>
          </p:cNvSpPr>
          <p:nvPr>
            <p:ph sz="half" idx="2"/>
          </p:nvPr>
        </p:nvSpPr>
        <p:spPr>
          <a:xfrm>
            <a:off x="4750388" y="1500174"/>
            <a:ext cx="4320000" cy="492922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Espace réservé du contenu 2"/>
          <p:cNvSpPr>
            <a:spLocks noGrp="1"/>
          </p:cNvSpPr>
          <p:nvPr>
            <p:ph sz="half" idx="1"/>
          </p:nvPr>
        </p:nvSpPr>
        <p:spPr>
          <a:xfrm>
            <a:off x="71406" y="150017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2"/>
          <p:cNvSpPr>
            <a:spLocks noGrp="1"/>
          </p:cNvSpPr>
          <p:nvPr>
            <p:ph sz="half" idx="13"/>
          </p:nvPr>
        </p:nvSpPr>
        <p:spPr>
          <a:xfrm>
            <a:off x="71406" y="400050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extLst/>
          </a:lstStyle>
          <a:p>
            <a:r>
              <a:rPr kumimoji="0" lang="en-US"/>
              <a:t>Click to edit Master title style</a:t>
            </a:r>
          </a:p>
        </p:txBody>
      </p:sp>
      <p:sp>
        <p:nvSpPr>
          <p:cNvPr id="9" name="Espace réservé du numéro de diapositive 8"/>
          <p:cNvSpPr>
            <a:spLocks noGrp="1"/>
          </p:cNvSpPr>
          <p:nvPr>
            <p:ph type="sldNum" sz="quarter" idx="12"/>
          </p:nvPr>
        </p:nvSpPr>
        <p:spPr/>
        <p:txBody>
          <a:bodyPr/>
          <a:lstStyle/>
          <a:p>
            <a:fld id="{CF4668DC-857F-487D-BFFA-8C0CA5037977}" type="slidenum">
              <a:rPr lang="fr-BE" smtClean="0"/>
              <a:pPr/>
              <a:t>‹N°›</a:t>
            </a:fld>
            <a:endParaRPr lang="fr-BE"/>
          </a:p>
        </p:txBody>
      </p:sp>
      <p:sp>
        <p:nvSpPr>
          <p:cNvPr id="10" name="Espace réservé du contenu 2"/>
          <p:cNvSpPr>
            <a:spLocks noGrp="1"/>
          </p:cNvSpPr>
          <p:nvPr>
            <p:ph sz="half" idx="1"/>
          </p:nvPr>
        </p:nvSpPr>
        <p:spPr>
          <a:xfrm>
            <a:off x="71406" y="150017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1" name="Espace réservé du contenu 3"/>
          <p:cNvSpPr>
            <a:spLocks noGrp="1"/>
          </p:cNvSpPr>
          <p:nvPr>
            <p:ph sz="half" idx="2"/>
          </p:nvPr>
        </p:nvSpPr>
        <p:spPr>
          <a:xfrm>
            <a:off x="4750388" y="150017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2" name="Espace réservé du contenu 2"/>
          <p:cNvSpPr>
            <a:spLocks noGrp="1"/>
          </p:cNvSpPr>
          <p:nvPr>
            <p:ph sz="half" idx="13"/>
          </p:nvPr>
        </p:nvSpPr>
        <p:spPr>
          <a:xfrm>
            <a:off x="71406" y="400050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13" name="Espace réservé du contenu 3"/>
          <p:cNvSpPr>
            <a:spLocks noGrp="1"/>
          </p:cNvSpPr>
          <p:nvPr>
            <p:ph sz="half" idx="14"/>
          </p:nvPr>
        </p:nvSpPr>
        <p:spPr>
          <a:xfrm>
            <a:off x="4750388" y="400050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2"/>
          <p:cNvSpPr>
            <a:spLocks noGrp="1"/>
          </p:cNvSpPr>
          <p:nvPr>
            <p:ph sz="half" idx="1"/>
          </p:nvPr>
        </p:nvSpPr>
        <p:spPr>
          <a:xfrm>
            <a:off x="71406" y="150017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2"/>
          <p:cNvSpPr>
            <a:spLocks noGrp="1"/>
          </p:cNvSpPr>
          <p:nvPr>
            <p:ph sz="half" idx="13"/>
          </p:nvPr>
        </p:nvSpPr>
        <p:spPr>
          <a:xfrm>
            <a:off x="71406" y="400050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1 ligne en haut et 2 blocs en ba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2"/>
          <p:cNvSpPr>
            <a:spLocks noGrp="1"/>
          </p:cNvSpPr>
          <p:nvPr>
            <p:ph sz="half" idx="1"/>
          </p:nvPr>
        </p:nvSpPr>
        <p:spPr>
          <a:xfrm>
            <a:off x="71406" y="150017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Espace réservé du contenu 2"/>
          <p:cNvSpPr>
            <a:spLocks noGrp="1"/>
          </p:cNvSpPr>
          <p:nvPr>
            <p:ph sz="half" idx="13"/>
          </p:nvPr>
        </p:nvSpPr>
        <p:spPr>
          <a:xfrm>
            <a:off x="71406" y="400050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3"/>
          <p:cNvSpPr>
            <a:spLocks noGrp="1"/>
          </p:cNvSpPr>
          <p:nvPr>
            <p:ph sz="half" idx="14"/>
          </p:nvPr>
        </p:nvSpPr>
        <p:spPr>
          <a:xfrm>
            <a:off x="4750388" y="400050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1 ligne en bas et 2 blocs en haut">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4" name="Espace réservé du numéro de diapositive 3"/>
          <p:cNvSpPr>
            <a:spLocks noGrp="1"/>
          </p:cNvSpPr>
          <p:nvPr>
            <p:ph type="sldNum" sz="quarter" idx="11"/>
          </p:nvPr>
        </p:nvSpPr>
        <p:spPr/>
        <p:txBody>
          <a:bodyPr/>
          <a:lstStyle/>
          <a:p>
            <a:fld id="{CF4668DC-857F-487D-BFFA-8C0CA5037977}" type="slidenum">
              <a:rPr lang="fr-BE" smtClean="0"/>
              <a:pPr/>
              <a:t>‹N°›</a:t>
            </a:fld>
            <a:endParaRPr lang="fr-BE"/>
          </a:p>
        </p:txBody>
      </p:sp>
      <p:sp>
        <p:nvSpPr>
          <p:cNvPr id="5" name="Espace réservé du contenu 2"/>
          <p:cNvSpPr>
            <a:spLocks noGrp="1"/>
          </p:cNvSpPr>
          <p:nvPr>
            <p:ph sz="half" idx="13"/>
          </p:nvPr>
        </p:nvSpPr>
        <p:spPr>
          <a:xfrm>
            <a:off x="71406" y="4000504"/>
            <a:ext cx="9001188"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6" name="Espace réservé du contenu 2"/>
          <p:cNvSpPr>
            <a:spLocks noGrp="1"/>
          </p:cNvSpPr>
          <p:nvPr>
            <p:ph sz="half" idx="1"/>
          </p:nvPr>
        </p:nvSpPr>
        <p:spPr>
          <a:xfrm>
            <a:off x="71406" y="1500174"/>
            <a:ext cx="4320000" cy="242889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7" name="Espace réservé du contenu 3"/>
          <p:cNvSpPr>
            <a:spLocks noGrp="1"/>
          </p:cNvSpPr>
          <p:nvPr>
            <p:ph sz="half" idx="2"/>
          </p:nvPr>
        </p:nvSpPr>
        <p:spPr>
          <a:xfrm>
            <a:off x="4750388" y="1500174"/>
            <a:ext cx="4320000" cy="242889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fr-FR"/>
          </a:p>
        </p:txBody>
      </p:sp>
      <p:sp>
        <p:nvSpPr>
          <p:cNvPr id="3" name="Slide Number Placeholder 2"/>
          <p:cNvSpPr>
            <a:spLocks noGrp="1"/>
          </p:cNvSpPr>
          <p:nvPr>
            <p:ph type="sldNum" sz="quarter" idx="10"/>
          </p:nvPr>
        </p:nvSpPr>
        <p:spPr/>
        <p:txBody>
          <a:bodyPr/>
          <a:lstStyle/>
          <a:p>
            <a:fld id="{CF4668DC-857F-487D-BFFA-8C0CA5037977}" type="slidenum">
              <a:rPr lang="fr-BE" smtClean="0"/>
              <a:pPr/>
              <a:t>‹N°›</a:t>
            </a:fld>
            <a:endParaRPr lang="fr-BE"/>
          </a:p>
        </p:txBody>
      </p:sp>
    </p:spTree>
    <p:extLst>
      <p:ext uri="{BB962C8B-B14F-4D97-AF65-F5344CB8AC3E}">
        <p14:creationId xmlns:p14="http://schemas.microsoft.com/office/powerpoint/2010/main" val="26275564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fr-FR" noProof="0" dirty="0"/>
              <a:t>Avez-vous des questions ?</a:t>
            </a:r>
          </a:p>
        </p:txBody>
      </p:sp>
      <p:pic>
        <p:nvPicPr>
          <p:cNvPr id="4" name="Picture 5" descr="questionmark"/>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07407" y="1500188"/>
            <a:ext cx="4929187" cy="4929187"/>
          </a:xfrm>
          <a:prstGeom prst="rect">
            <a:avLst/>
          </a:prstGeom>
        </p:spPr>
      </p:pic>
    </p:spTree>
    <p:extLst>
      <p:ext uri="{BB962C8B-B14F-4D97-AF65-F5344CB8AC3E}">
        <p14:creationId xmlns:p14="http://schemas.microsoft.com/office/powerpoint/2010/main" val="2027132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4" name="Groupe 9"/>
          <p:cNvGrpSpPr/>
          <p:nvPr userDrawn="1"/>
        </p:nvGrpSpPr>
        <p:grpSpPr>
          <a:xfrm>
            <a:off x="285720" y="428604"/>
            <a:ext cx="8643998" cy="5929354"/>
            <a:chOff x="285720" y="428604"/>
            <a:chExt cx="8643998" cy="5929354"/>
          </a:xfrm>
        </p:grpSpPr>
        <p:pic>
          <p:nvPicPr>
            <p:cNvPr id="5" name="Picture 4" descr="C:\Users\EGILIAlearning\Desktop\EGILIA ACADEMY Marie\LOGOS\fond diplome.jpg"/>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285720" y="428604"/>
              <a:ext cx="8643998" cy="5929354"/>
            </a:xfrm>
            <a:prstGeom prst="rect">
              <a:avLst/>
            </a:prstGeom>
            <a:noFill/>
            <a:ln>
              <a:noFill/>
            </a:ln>
          </p:spPr>
        </p:pic>
        <p:sp>
          <p:nvSpPr>
            <p:cNvPr id="6" name="Rectangle 71"/>
            <p:cNvSpPr>
              <a:spLocks noChangeArrowheads="1"/>
            </p:cNvSpPr>
            <p:nvPr/>
          </p:nvSpPr>
          <p:spPr bwMode="auto">
            <a:xfrm>
              <a:off x="1285853" y="1214422"/>
              <a:ext cx="6715172" cy="4429156"/>
            </a:xfrm>
            <a:prstGeom prst="rect">
              <a:avLst/>
            </a:prstGeom>
            <a:solidFill>
              <a:srgbClr val="FFFFFF"/>
            </a:solidFill>
            <a:ln w="12700" algn="ctr">
              <a:solidFill>
                <a:srgbClr val="80808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grpSp>
      <p:sp>
        <p:nvSpPr>
          <p:cNvPr id="8" name="Rectangle 2"/>
          <p:cNvSpPr txBox="1">
            <a:spLocks noChangeArrowheads="1"/>
          </p:cNvSpPr>
          <p:nvPr userDrawn="1"/>
        </p:nvSpPr>
        <p:spPr bwMode="auto">
          <a:xfrm>
            <a:off x="1357290" y="2691466"/>
            <a:ext cx="6586538" cy="553998"/>
          </a:xfrm>
          <a:prstGeom prst="rect">
            <a:avLst/>
          </a:prstGeom>
          <a:noFill/>
          <a:ln w="12700" algn="ctr">
            <a:noFill/>
            <a:miter lim="800000"/>
            <a:headEnd/>
            <a:tailEnd/>
          </a:ln>
          <a:effectLst/>
        </p:spPr>
        <p:txBody>
          <a:bodyPr>
            <a:spAutoFit/>
          </a:bodyPr>
          <a:lstStyle/>
          <a:p>
            <a:pPr marR="0" lvl="0" indent="0" algn="ctr" fontAlgn="base">
              <a:lnSpc>
                <a:spcPct val="100000"/>
              </a:lnSpc>
              <a:spcBef>
                <a:spcPct val="50000"/>
              </a:spcBef>
              <a:spcAft>
                <a:spcPct val="0"/>
              </a:spcAft>
              <a:buClrTx/>
              <a:buSzTx/>
              <a:buFontTx/>
              <a:buNone/>
              <a:tabLst/>
              <a:defRPr/>
            </a:pPr>
            <a:r>
              <a:rPr lang="fr-FR" sz="3000" b="1" dirty="0">
                <a:latin typeface="Arial" pitchFamily="34" charset="0"/>
                <a:cs typeface="Arial" pitchFamily="34" charset="0"/>
              </a:rPr>
              <a:t>Félicitations</a:t>
            </a:r>
          </a:p>
        </p:txBody>
      </p:sp>
      <p:sp>
        <p:nvSpPr>
          <p:cNvPr id="11" name="Title 10"/>
          <p:cNvSpPr>
            <a:spLocks noGrp="1"/>
          </p:cNvSpPr>
          <p:nvPr>
            <p:ph type="title" hasCustomPrompt="1"/>
          </p:nvPr>
        </p:nvSpPr>
        <p:spPr>
          <a:xfrm>
            <a:off x="1357290" y="4383107"/>
            <a:ext cx="6586538" cy="928694"/>
          </a:xfrm>
        </p:spPr>
        <p:txBody>
          <a:bodyPr/>
          <a:lstStyle>
            <a:lvl1pPr algn="ctr">
              <a:defRPr b="0" i="0" baseline="0">
                <a:ln w="18415" cmpd="sng">
                  <a:noFill/>
                  <a:prstDash val="solid"/>
                </a:ln>
                <a:solidFill>
                  <a:srgbClr val="FF9900"/>
                </a:solidFill>
                <a:effectLst>
                  <a:reflection blurRad="6350" stA="55000" endA="50" endPos="85000" dir="5400000" sy="-100000" algn="bl" rotWithShape="0"/>
                </a:effectLst>
              </a:defRPr>
            </a:lvl1pPr>
          </a:lstStyle>
          <a:p>
            <a:pPr algn="ctr">
              <a:spcBef>
                <a:spcPct val="50000"/>
              </a:spcBef>
            </a:pPr>
            <a:r>
              <a:rPr lang="fr-FR" sz="3200" b="1" dirty="0">
                <a:solidFill>
                  <a:srgbClr val="FF9900"/>
                </a:solidFill>
                <a:latin typeface="Arial" pitchFamily="34" charset="0"/>
                <a:cs typeface="Arial" pitchFamily="34" charset="0"/>
              </a:rPr>
              <a:t>Titre du Module</a:t>
            </a:r>
            <a:endParaRPr lang="fr-FR" sz="3200" dirty="0">
              <a:solidFill>
                <a:srgbClr val="FF9900"/>
              </a:solidFill>
              <a:latin typeface="Arial" pitchFamily="34" charset="0"/>
              <a:cs typeface="Arial" pitchFamily="34" charset="0"/>
            </a:endParaRPr>
          </a:p>
        </p:txBody>
      </p:sp>
      <p:sp>
        <p:nvSpPr>
          <p:cNvPr id="10" name="Text Box 77"/>
          <p:cNvSpPr txBox="1">
            <a:spLocks noChangeArrowheads="1"/>
          </p:cNvSpPr>
          <p:nvPr userDrawn="1"/>
        </p:nvSpPr>
        <p:spPr bwMode="auto">
          <a:xfrm>
            <a:off x="1928024" y="3429000"/>
            <a:ext cx="5329237" cy="954107"/>
          </a:xfrm>
          <a:prstGeom prst="rect">
            <a:avLst/>
          </a:prstGeom>
          <a:noFill/>
          <a:ln w="12700" algn="ctr">
            <a:noFill/>
            <a:miter lim="800000"/>
            <a:headEnd/>
            <a:tailEnd/>
          </a:ln>
          <a:effectLst/>
        </p:spPr>
        <p:txBody>
          <a:bodyPr>
            <a:spAutoFit/>
          </a:bodyPr>
          <a:lstStyle/>
          <a:p>
            <a:pPr algn="ctr">
              <a:spcBef>
                <a:spcPct val="50000"/>
              </a:spcBef>
            </a:pPr>
            <a:r>
              <a:rPr lang="fr-FR" sz="2800" u="none" dirty="0">
                <a:latin typeface="Arial" pitchFamily="34" charset="0"/>
                <a:cs typeface="Arial" pitchFamily="34" charset="0"/>
              </a:rPr>
              <a:t>Vous avez suivi avec succès le module</a:t>
            </a:r>
            <a:endParaRPr lang="fr-FR" sz="3200" u="none" dirty="0">
              <a:solidFill>
                <a:srgbClr val="FF9900"/>
              </a:solidFill>
              <a:latin typeface="Arial" pitchFamily="34" charset="0"/>
              <a:cs typeface="Arial" pitchFamily="34" charset="0"/>
            </a:endParaRPr>
          </a:p>
        </p:txBody>
      </p:sp>
      <p:pic>
        <p:nvPicPr>
          <p:cNvPr id="9"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554588" y="1635622"/>
            <a:ext cx="4033636" cy="1498988"/>
          </a:xfrm>
          <a:prstGeom prst="rect">
            <a:avLst/>
          </a:prstGeom>
        </p:spPr>
      </p:pic>
    </p:spTree>
    <p:extLst>
      <p:ext uri="{BB962C8B-B14F-4D97-AF65-F5344CB8AC3E}">
        <p14:creationId xmlns:p14="http://schemas.microsoft.com/office/powerpoint/2010/main" val="22463331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4"/>
          <p:cNvSpPr/>
          <p:nvPr userDrawn="1"/>
        </p:nvSpPr>
        <p:spPr>
          <a:xfrm>
            <a:off x="0" y="5760"/>
            <a:ext cx="9144000" cy="1351538"/>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fr-FR"/>
          </a:p>
        </p:txBody>
      </p:sp>
      <p:pic>
        <p:nvPicPr>
          <p:cNvPr id="11" name="Picture 10" descr="C:\Users\EGILIAlearning\Desktop\EGILIA ACADEMY Marie\LOGOS\Essai bandeau bas 1.png"/>
          <p:cNvPicPr>
            <a:picLocks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6500834"/>
            <a:ext cx="9144000" cy="360000"/>
          </a:xfrm>
          <a:prstGeom prst="rect">
            <a:avLst/>
          </a:prstGeom>
          <a:noFill/>
        </p:spPr>
      </p:pic>
      <p:sp>
        <p:nvSpPr>
          <p:cNvPr id="4" name="TextBox 3"/>
          <p:cNvSpPr txBox="1"/>
          <p:nvPr userDrawn="1"/>
        </p:nvSpPr>
        <p:spPr>
          <a:xfrm>
            <a:off x="0" y="6596390"/>
            <a:ext cx="9144000" cy="261610"/>
          </a:xfrm>
          <a:prstGeom prst="rect">
            <a:avLst/>
          </a:prstGeom>
          <a:noFill/>
        </p:spPr>
        <p:txBody>
          <a:bodyPr wrap="square" rtlCol="0" anchor="b">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100" noProof="0" dirty="0">
                <a:solidFill>
                  <a:schemeClr val="bg1"/>
                </a:solidFill>
              </a:rPr>
              <a:t>Copyright © AVAEDOS. All rights reserved</a:t>
            </a:r>
          </a:p>
        </p:txBody>
      </p:sp>
      <p:sp>
        <p:nvSpPr>
          <p:cNvPr id="2" name="Espace réservé du titre 1"/>
          <p:cNvSpPr>
            <a:spLocks noGrp="1"/>
          </p:cNvSpPr>
          <p:nvPr>
            <p:ph type="title"/>
          </p:nvPr>
        </p:nvSpPr>
        <p:spPr>
          <a:xfrm>
            <a:off x="71406" y="428604"/>
            <a:ext cx="7715304" cy="928694"/>
          </a:xfrm>
          <a:prstGeom prst="rect">
            <a:avLst/>
          </a:prstGeom>
          <a:noFill/>
        </p:spPr>
        <p:txBody>
          <a:bodyPr vert="horz" lIns="91440" rIns="45720" rtlCol="0" anchor="ctr">
            <a:noAutofit/>
          </a:bodyPr>
          <a:lstStyle/>
          <a:p>
            <a:r>
              <a:rPr kumimoji="0" lang="fr-FR" dirty="0"/>
              <a:t>Cliquez pour modifier le style du titre</a:t>
            </a:r>
            <a:endParaRPr kumimoji="0" lang="en-US" dirty="0"/>
          </a:p>
        </p:txBody>
      </p:sp>
      <p:sp>
        <p:nvSpPr>
          <p:cNvPr id="3" name="Espace réservé du texte 2"/>
          <p:cNvSpPr>
            <a:spLocks noGrp="1"/>
          </p:cNvSpPr>
          <p:nvPr>
            <p:ph type="body" idx="1"/>
          </p:nvPr>
        </p:nvSpPr>
        <p:spPr>
          <a:xfrm>
            <a:off x="71406" y="1500174"/>
            <a:ext cx="9001188" cy="4929222"/>
          </a:xfrm>
          <a:prstGeom prst="rect">
            <a:avLst/>
          </a:prstGeom>
        </p:spPr>
        <p:txBody>
          <a:bodyPr vert="horz" lIns="54864" tIns="91440" rtlCol="0">
            <a:normAutofit/>
          </a:bodyPr>
          <a:lstStyle/>
          <a:p>
            <a:pPr lvl="0" eaLnBrk="1" latinLnBrk="0" hangingPunct="1"/>
            <a:r>
              <a:rPr kumimoji="0" lang="fr-FR" dirty="0"/>
              <a:t>Cliquez pour modifier les styles du texte du masque</a:t>
            </a:r>
          </a:p>
          <a:p>
            <a:pPr lvl="1" eaLnBrk="1" latinLnBrk="0" hangingPunct="1"/>
            <a:r>
              <a:rPr kumimoji="0" lang="fr-FR" dirty="0"/>
              <a:t>Deuxième niveau</a:t>
            </a:r>
          </a:p>
          <a:p>
            <a:pPr lvl="2" eaLnBrk="1" latinLnBrk="0" hangingPunct="1"/>
            <a:r>
              <a:rPr kumimoji="0" lang="fr-FR" dirty="0"/>
              <a:t>Troisième niveau</a:t>
            </a:r>
          </a:p>
          <a:p>
            <a:pPr lvl="3" eaLnBrk="1" latinLnBrk="0" hangingPunct="1"/>
            <a:r>
              <a:rPr kumimoji="0" lang="fr-FR" dirty="0"/>
              <a:t>Quatrième niveau</a:t>
            </a:r>
          </a:p>
          <a:p>
            <a:pPr lvl="4" eaLnBrk="1" latinLnBrk="0" hangingPunct="1"/>
            <a:r>
              <a:rPr kumimoji="0" lang="fr-FR" dirty="0"/>
              <a:t>Cinquième niveau</a:t>
            </a:r>
            <a:endParaRPr kumimoji="0" lang="en-US" dirty="0"/>
          </a:p>
        </p:txBody>
      </p:sp>
      <p:sp>
        <p:nvSpPr>
          <p:cNvPr id="6" name="Espace réservé du numéro de diapositive 5"/>
          <p:cNvSpPr>
            <a:spLocks noGrp="1"/>
          </p:cNvSpPr>
          <p:nvPr>
            <p:ph type="sldNum" sz="quarter" idx="4"/>
          </p:nvPr>
        </p:nvSpPr>
        <p:spPr>
          <a:xfrm>
            <a:off x="8338730" y="6593556"/>
            <a:ext cx="733864" cy="214290"/>
          </a:xfrm>
          <a:prstGeom prst="rect">
            <a:avLst/>
          </a:prstGeom>
        </p:spPr>
        <p:txBody>
          <a:bodyPr vert="horz" bIns="0" rtlCol="0" anchor="b"/>
          <a:lstStyle>
            <a:lvl1pPr algn="r" eaLnBrk="1" latinLnBrk="0" hangingPunct="1">
              <a:defRPr kumimoji="0" sz="1200">
                <a:solidFill>
                  <a:schemeClr val="bg1"/>
                </a:solidFill>
              </a:defRPr>
            </a:lvl1pPr>
            <a:extLst/>
          </a:lstStyle>
          <a:p>
            <a:fld id="{CF4668DC-857F-487D-BFFA-8C0CA5037977}" type="slidenum">
              <a:rPr lang="fr-BE" smtClean="0"/>
              <a:pPr/>
              <a:t>‹N°›</a:t>
            </a:fld>
            <a:endParaRPr lang="fr-BE"/>
          </a:p>
        </p:txBody>
      </p:sp>
      <p:pic>
        <p:nvPicPr>
          <p:cNvPr id="7" name="Picture 6"/>
          <p:cNvPicPr>
            <a:picLocks noChangeAspect="1"/>
          </p:cNvPicPr>
          <p:nvPr userDrawn="1"/>
        </p:nvPicPr>
        <p:blipFill>
          <a:blip r:embed="rId15" cstate="screen">
            <a:extLst>
              <a:ext uri="{28A0092B-C50C-407E-A947-70E740481C1C}">
                <a14:useLocalDpi xmlns:a14="http://schemas.microsoft.com/office/drawing/2010/main" val="0"/>
              </a:ext>
            </a:extLst>
          </a:blip>
          <a:stretch>
            <a:fillRect/>
          </a:stretch>
        </p:blipFill>
        <p:spPr>
          <a:xfrm>
            <a:off x="7617871" y="44624"/>
            <a:ext cx="1490633" cy="553951"/>
          </a:xfrm>
          <a:prstGeom prst="rect">
            <a:avLst/>
          </a:prstGeom>
        </p:spPr>
      </p:pic>
      <p:pic>
        <p:nvPicPr>
          <p:cNvPr id="13" name="Picture 12"/>
          <p:cNvPicPr>
            <a:picLocks noChangeAspect="1"/>
          </p:cNvPicPr>
          <p:nvPr userDrawn="1"/>
        </p:nvPicPr>
        <p:blipFill>
          <a:blip r:embed="rId16" cstate="screen">
            <a:extLst>
              <a:ext uri="{28A0092B-C50C-407E-A947-70E740481C1C}">
                <a14:useLocalDpi xmlns:a14="http://schemas.microsoft.com/office/drawing/2010/main" val="0"/>
              </a:ext>
            </a:extLst>
          </a:blip>
          <a:stretch>
            <a:fillRect/>
          </a:stretch>
        </p:blipFill>
        <p:spPr>
          <a:xfrm>
            <a:off x="1" y="6504136"/>
            <a:ext cx="971600" cy="361068"/>
          </a:xfrm>
          <a:prstGeom prst="rect">
            <a:avLst/>
          </a:prstGeom>
        </p:spPr>
      </p:pic>
    </p:spTree>
  </p:cSld>
  <p:clrMap bg1="lt1" tx1="dk1" bg2="lt2" tx2="dk2" accent1="accent1" accent2="accent2" accent3="accent3" accent4="accent4" accent5="accent5" accent6="accent6" hlink="hlink" folHlink="folHlink"/>
  <p:sldLayoutIdLst>
    <p:sldLayoutId id="2147484058" r:id="rId1"/>
    <p:sldLayoutId id="2147484059" r:id="rId2"/>
    <p:sldLayoutId id="2147484061" r:id="rId3"/>
    <p:sldLayoutId id="2147484063" r:id="rId4"/>
    <p:sldLayoutId id="2147484068" r:id="rId5"/>
    <p:sldLayoutId id="2147484062" r:id="rId6"/>
    <p:sldLayoutId id="2147484069" r:id="rId7"/>
    <p:sldLayoutId id="2147484070" r:id="rId8"/>
    <p:sldLayoutId id="2147484071" r:id="rId9"/>
    <p:sldLayoutId id="2147484074" r:id="rId10"/>
    <p:sldLayoutId id="2147484073" r:id="rId11"/>
    <p:sldLayoutId id="2147484072" r:id="rId12"/>
  </p:sldLayoutIdLst>
  <p:hf hdr="0" dt="0"/>
  <p:txStyles>
    <p:titleStyle>
      <a:lvl1pPr algn="l" rtl="0" eaLnBrk="1" latinLnBrk="0" hangingPunct="1">
        <a:spcBef>
          <a:spcPct val="0"/>
        </a:spcBef>
        <a:buNone/>
        <a:defRPr kumimoji="0" sz="3200" b="0" kern="1200"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re 18"/>
          <p:cNvSpPr>
            <a:spLocks noGrp="1"/>
          </p:cNvSpPr>
          <p:nvPr>
            <p:ph type="title" hasCustomPrompt="1"/>
          </p:nvPr>
        </p:nvSpPr>
        <p:spPr>
          <a:xfrm>
            <a:off x="71406" y="5286388"/>
            <a:ext cx="9001188" cy="571504"/>
          </a:xfrm>
          <a:noFill/>
          <a:ln w="9525">
            <a:noFill/>
            <a:miter lim="800000"/>
            <a:headEnd/>
            <a:tailEnd/>
          </a:ln>
        </p:spPr>
        <p:txBody>
          <a:bodyPr/>
          <a:lstStyle/>
          <a:p>
            <a:pPr marL="0" lvl="0" indent="0">
              <a:buNone/>
            </a:pPr>
            <a:r>
              <a:t>Module 3 : Expérience utilisateur</a:t>
            </a:r>
          </a:p>
        </p:txBody>
      </p:sp>
      <p:sp>
        <p:nvSpPr>
          <p:cNvPr id="20" name="Text Placeholder 19"/>
          <p:cNvSpPr>
            <a:spLocks noGrp="1"/>
          </p:cNvSpPr>
          <p:nvPr>
            <p:ph type="body" sz="quarter" idx="10"/>
          </p:nvPr>
        </p:nvSpPr>
        <p:spPr/>
        <p:txBody>
          <a:bodyPr/>
          <a:lstStyle/>
          <a:p>
            <a:r>
              <a:t>Remote Desktop Services sous Windows Server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Agenda</a:t>
            </a:r>
          </a:p>
        </p:txBody>
      </p:sp>
      <p:sp>
        <p:nvSpPr>
          <p:cNvPr id="6" name="Espace réservé du contenu 2"/>
          <p:cNvSpPr>
            <a:spLocks noGrp="1"/>
          </p:cNvSpPr>
          <p:nvPr>
            <p:ph idx="1"/>
          </p:nvPr>
        </p:nvSpPr>
        <p:spPr/>
        <p:txBody>
          <a:bodyPr/>
          <a:lstStyle/>
          <a:p>
            <a:pPr lvl="0"/>
            <a:r>
              <a:t>Montée en charge des hôtes de session</a:t>
            </a:r>
          </a:p>
          <a:p>
            <a:pPr lvl="0"/>
            <a:r>
              <a:t>Configuration des serveurs et des utilisateurs</a:t>
            </a:r>
          </a:p>
          <a:p>
            <a:pPr lvl="0"/>
            <a:r>
              <a:t>Profils utilisateur et FSLogix</a:t>
            </a:r>
          </a:p>
          <a:p>
            <a:pPr lvl="0"/>
            <a:r>
              <a:t>Paramètres de session par stratégie de groupe</a:t>
            </a:r>
          </a:p>
          <a:p>
            <a:pPr lvl="0"/>
            <a:r>
              <a:t>Administration des sessions</a:t>
            </a:r>
          </a:p>
          <a:p>
            <a:pPr lvl="0"/>
            <a:r>
              <a:t>Impression</a:t>
            </a:r>
          </a:p>
          <a:p>
            <a:pPr lvl="0"/>
            <a:r>
              <a:t>Applications : Microsoft 365 Apps et Teams</a:t>
            </a:r>
          </a:p>
          <a:p>
            <a:pPr lvl="0"/>
            <a:r>
              <a:t>Accélération graphique</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a:t>
            </a:fld>
            <a:endParaRPr lang="fr-B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 montée en charge des hôtes de session</a:t>
            </a:r>
          </a:p>
        </p:txBody>
      </p:sp>
      <p:sp>
        <p:nvSpPr>
          <p:cNvPr id="6" name="Espace réservé du contenu 2"/>
          <p:cNvSpPr>
            <a:spLocks noGrp="1"/>
          </p:cNvSpPr>
          <p:nvPr>
            <p:ph idx="1"/>
          </p:nvPr>
        </p:nvSpPr>
        <p:spPr/>
        <p:txBody>
          <a:bodyPr/>
          <a:lstStyle/>
          <a:p>
            <a:pPr lvl="0"/>
            <a:r>
              <a:t>Un noyau conçu pour le multi-utilisateur</a:t>
            </a:r>
          </a:p>
          <a:p>
            <a:pPr lvl="0"/>
            <a:r>
              <a:t>Ouvertures de session traitées en parallèle</a:t>
            </a:r>
          </a:p>
          <a:p>
            <a:pPr lvl="1"/>
            <a:r>
              <a:t>autant que de cœurs disponibles sur le serveur</a:t>
            </a:r>
          </a:p>
          <a:p>
            <a:pPr lvl="0"/>
            <a:r>
              <a:t>Ouverture et fermeture de session plus rapides</a:t>
            </a:r>
          </a:p>
          <a:p>
            <a:pPr lvl="0"/>
            <a:r>
              <a:t>Meilleure tenue en charge lors des pics de connexion</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3</a:t>
            </a:fld>
            <a:endParaRPr lang="fr-B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p:txBody>
          <a:bodyPr/>
          <a:lstStyle/>
          <a:p>
            <a:pPr marL="0" lvl="0" indent="0">
              <a:buNone/>
            </a:pPr>
            <a:r>
              <a:t>L’administration à distance d’un serveur</a:t>
            </a:r>
          </a:p>
        </p:txBody>
      </p:sp>
      <p:sp>
        <p:nvSpPr>
          <p:cNvPr id="3" name="Espace réservé du contenu 2"/>
          <p:cNvSpPr>
            <a:spLocks noGrp="1"/>
          </p:cNvSpPr>
          <p:nvPr>
            <p:ph sz="half" idx="1"/>
          </p:nvPr>
        </p:nvSpPr>
        <p:spPr/>
        <p:txBody>
          <a:bodyPr/>
          <a:lstStyle/>
          <a:p>
            <a:pPr lvl="0"/>
            <a:r>
              <a:t>Installée par défaut sur Windows Server</a:t>
            </a:r>
          </a:p>
          <a:p>
            <a:pPr lvl="0"/>
            <a:r>
              <a:t>S’active dans les propriétés système ou Server Manager</a:t>
            </a:r>
          </a:p>
          <a:p>
            <a:pPr lvl="0"/>
            <a:r>
              <a:t>Limitée à deux sessions simultanées</a:t>
            </a:r>
          </a:p>
          <a:p>
            <a:pPr lvl="0"/>
            <a:r>
              <a:t>Réservée aux administrateurs</a:t>
            </a:r>
          </a:p>
        </p:txBody>
      </p:sp>
      <p:pic>
        <p:nvPicPr>
          <p:cNvPr id="2" name="Picture 1" descr="images/diapo-055-01.png"/>
          <p:cNvPicPr>
            <a:picLocks noGrp="1" noChangeAspect="1"/>
          </p:cNvPicPr>
          <p:nvPr/>
        </p:nvPicPr>
        <p:blipFill>
          <a:blip r:embed="rId3"/>
          <a:stretch>
            <a:fillRect/>
          </a:stretch>
        </p:blipFill>
        <p:spPr bwMode="auto">
          <a:xfrm>
            <a:off x="4762500" y="1498600"/>
            <a:ext cx="4279900" cy="4927600"/>
          </a:xfrm>
          <a:prstGeom prst="rect">
            <a:avLst/>
          </a:prstGeom>
          <a:noFill/>
          <a:ln w="9525">
            <a:noFill/>
            <a:headEnd/>
            <a:tailEnd/>
          </a:ln>
        </p:spPr>
      </p:pic>
      <p:sp>
        <p:nvSpPr>
          <p:cNvPr id="7" name="Espace réservé du numéro de diapositive 6"/>
          <p:cNvSpPr>
            <a:spLocks noGrp="1"/>
          </p:cNvSpPr>
          <p:nvPr>
            <p:ph type="sldNum" sz="quarter" idx="12"/>
          </p:nvPr>
        </p:nvSpPr>
        <p:spPr/>
        <p:txBody>
          <a:bodyPr/>
          <a:lstStyle/>
          <a:p>
            <a:fld id="{CF4668DC-857F-487D-BFFA-8C0CA5037977}" type="slidenum">
              <a:rPr lang="fr-BE" smtClean="0"/>
              <a:pPr/>
              <a:t>4</a:t>
            </a:fld>
            <a:endParaRPr lang="fr-B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p:cNvSpPr>
            <a:spLocks noGrp="1"/>
          </p:cNvSpPr>
          <p:nvPr>
            <p:ph type="sldNum" sz="quarter" idx="10"/>
          </p:nvPr>
        </p:nvSpPr>
        <p:spPr/>
        <p:txBody>
          <a:bodyPr/>
          <a:lstStyle/>
          <a:p>
            <a:fld id="{CF4668DC-857F-487D-BFFA-8C0CA5037977}" type="slidenum">
              <a:rPr lang="fr-BE" smtClean="0"/>
              <a:pPr/>
              <a:t>5</a:t>
            </a:fld>
            <a:endParaRPr lang="fr-BE"/>
          </a:p>
        </p:txBody>
      </p:sp>
      <p:sp>
        <p:nvSpPr>
          <p:cNvPr id="3" name="Espace réservé du contenu 2"/>
          <p:cNvSpPr>
            <a:spLocks noGrp="1"/>
          </p:cNvSpPr>
          <p:nvPr>
            <p:ph idx="1"/>
          </p:nvPr>
        </p:nvSpPr>
        <p:spPr/>
        <p:txBody>
          <a:bodyPr/>
          <a:lstStyle/>
          <a:p>
            <a:pPr lvl="0"/>
            <a:r>
              <a:rPr dirty="0"/>
              <a:t>Propre à </a:t>
            </a:r>
            <a:r>
              <a:rPr dirty="0" err="1"/>
              <a:t>chaque</a:t>
            </a:r>
            <a:r>
              <a:rPr dirty="0"/>
              <a:t> collection et à </a:t>
            </a:r>
            <a:r>
              <a:rPr dirty="0" err="1"/>
              <a:t>chaque</a:t>
            </a:r>
            <a:r>
              <a:rPr dirty="0"/>
              <a:t> </a:t>
            </a:r>
            <a:r>
              <a:rPr dirty="0" err="1"/>
              <a:t>hôte</a:t>
            </a:r>
            <a:endParaRPr dirty="0"/>
          </a:p>
          <a:p>
            <a:pPr lvl="1"/>
            <a:r>
              <a:rPr dirty="0" err="1"/>
              <a:t>paramètres</a:t>
            </a:r>
            <a:r>
              <a:rPr dirty="0"/>
              <a:t> de </a:t>
            </a:r>
            <a:r>
              <a:rPr dirty="0" err="1"/>
              <a:t>connexion</a:t>
            </a:r>
            <a:endParaRPr dirty="0"/>
          </a:p>
          <a:p>
            <a:pPr lvl="1"/>
            <a:r>
              <a:rPr dirty="0"/>
              <a:t>sécurité</a:t>
            </a:r>
          </a:p>
          <a:p>
            <a:pPr lvl="1"/>
            <a:r>
              <a:rPr dirty="0" err="1"/>
              <a:t>optimisation</a:t>
            </a:r>
            <a:endParaRPr dirty="0"/>
          </a:p>
          <a:p>
            <a:pPr lvl="0"/>
            <a:r>
              <a:rPr dirty="0" err="1"/>
              <a:t>Centralisable</a:t>
            </a:r>
            <a:r>
              <a:rPr dirty="0"/>
              <a:t> par </a:t>
            </a:r>
            <a:r>
              <a:rPr dirty="0" err="1"/>
              <a:t>stratégie</a:t>
            </a:r>
            <a:r>
              <a:rPr dirty="0"/>
              <a:t> de </a:t>
            </a:r>
            <a:r>
              <a:rPr dirty="0" err="1"/>
              <a:t>groupe</a:t>
            </a:r>
            <a:endParaRPr dirty="0"/>
          </a:p>
        </p:txBody>
      </p:sp>
      <p:sp>
        <p:nvSpPr>
          <p:cNvPr id="8" name="Titre 7"/>
          <p:cNvSpPr>
            <a:spLocks noGrp="1"/>
          </p:cNvSpPr>
          <p:nvPr>
            <p:ph type="title"/>
          </p:nvPr>
        </p:nvSpPr>
        <p:spPr/>
        <p:txBody>
          <a:bodyPr/>
          <a:lstStyle/>
          <a:p>
            <a:pPr marL="0" lvl="0" indent="0">
              <a:buNone/>
            </a:pPr>
            <a:r>
              <a:t>La configuration des serveurs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p:txBody>
          <a:bodyPr/>
          <a:lstStyle/>
          <a:p>
            <a:pPr marL="0" lvl="0" indent="0">
              <a:buNone/>
            </a:pPr>
            <a:r>
              <a:t>La configuration des utilisateurs</a:t>
            </a:r>
          </a:p>
        </p:txBody>
      </p:sp>
      <p:sp>
        <p:nvSpPr>
          <p:cNvPr id="3" name="Espace réservé du contenu 2"/>
          <p:cNvSpPr>
            <a:spLocks noGrp="1"/>
          </p:cNvSpPr>
          <p:nvPr>
            <p:ph sz="half" idx="1"/>
          </p:nvPr>
        </p:nvSpPr>
        <p:spPr/>
        <p:txBody>
          <a:bodyPr/>
          <a:lstStyle/>
          <a:p>
            <a:pPr lvl="0"/>
            <a:r>
              <a:t>Propre à chaque compte, dans Active Directory</a:t>
            </a:r>
          </a:p>
          <a:p>
            <a:pPr lvl="1"/>
            <a:r>
              <a:t>profil des services Bureau à distance</a:t>
            </a:r>
          </a:p>
          <a:p>
            <a:pPr lvl="1"/>
            <a:r>
              <a:t>environnement de démarrage</a:t>
            </a:r>
          </a:p>
          <a:p>
            <a:pPr lvl="1"/>
            <a:r>
              <a:t>délais de session</a:t>
            </a:r>
          </a:p>
          <a:p>
            <a:pPr lvl="1"/>
            <a:r>
              <a:t>contrôle à distance</a:t>
            </a:r>
          </a:p>
        </p:txBody>
      </p:sp>
      <p:pic>
        <p:nvPicPr>
          <p:cNvPr id="2" name="Picture 1" descr="images/diapo-063-01.png"/>
          <p:cNvPicPr>
            <a:picLocks noGrp="1" noChangeAspect="1"/>
          </p:cNvPicPr>
          <p:nvPr/>
        </p:nvPicPr>
        <p:blipFill>
          <a:blip r:embed="rId3"/>
          <a:stretch>
            <a:fillRect/>
          </a:stretch>
        </p:blipFill>
        <p:spPr bwMode="auto">
          <a:xfrm>
            <a:off x="4940300" y="1498600"/>
            <a:ext cx="3949700" cy="4927600"/>
          </a:xfrm>
          <a:prstGeom prst="rect">
            <a:avLst/>
          </a:prstGeom>
          <a:noFill/>
          <a:ln w="9525">
            <a:noFill/>
            <a:headEnd/>
            <a:tailEnd/>
          </a:ln>
        </p:spPr>
      </p:pic>
      <p:sp>
        <p:nvSpPr>
          <p:cNvPr id="7" name="Espace réservé du numéro de diapositive 6"/>
          <p:cNvSpPr>
            <a:spLocks noGrp="1"/>
          </p:cNvSpPr>
          <p:nvPr>
            <p:ph type="sldNum" sz="quarter" idx="12"/>
          </p:nvPr>
        </p:nvSpPr>
        <p:spPr/>
        <p:txBody>
          <a:bodyPr/>
          <a:lstStyle/>
          <a:p>
            <a:fld id="{CF4668DC-857F-487D-BFFA-8C0CA5037977}" type="slidenum">
              <a:rPr lang="fr-BE" smtClean="0"/>
              <a:pPr/>
              <a:t>6</a:t>
            </a:fld>
            <a:endParaRPr lang="fr-B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 problème des profils en ferme</a:t>
            </a:r>
          </a:p>
        </p:txBody>
      </p:sp>
      <p:sp>
        <p:nvSpPr>
          <p:cNvPr id="6" name="Espace réservé du contenu 2"/>
          <p:cNvSpPr>
            <a:spLocks noGrp="1"/>
          </p:cNvSpPr>
          <p:nvPr>
            <p:ph idx="1"/>
          </p:nvPr>
        </p:nvSpPr>
        <p:spPr/>
        <p:txBody>
          <a:bodyPr/>
          <a:lstStyle/>
          <a:p>
            <a:pPr lvl="0"/>
            <a:r>
              <a:t>L’utilisateur ne retrouve pas toujours le même hôte de session</a:t>
            </a:r>
          </a:p>
          <a:p>
            <a:pPr lvl="0"/>
            <a:r>
              <a:t>Le profil local est recréé sur chaque serveur</a:t>
            </a:r>
          </a:p>
          <a:p>
            <a:pPr lvl="0"/>
            <a:r>
              <a:t>Les profils itinérants copient le profil à chaque ouverture et fermeture</a:t>
            </a:r>
          </a:p>
          <a:p>
            <a:pPr lvl="0"/>
            <a:r>
              <a:t>Résultat : ouvertures lentes, paramètres perdus, caches reconstruits</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7</a:t>
            </a:fld>
            <a:endParaRPr lang="fr-B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Deux approches par disque virtuel</a:t>
            </a:r>
          </a:p>
        </p:txBody>
      </p:sp>
      <p:graphicFrame>
        <p:nvGraphicFramePr>
          <p:cNvPr id="6" name="Content Placeholder 5"/>
          <p:cNvGraphicFramePr>
            <a:graphicFrameLocks noGrp="1"/>
          </p:cNvGraphicFramePr>
          <p:nvPr>
            <p:ph idx="1"/>
          </p:nvPr>
        </p:nvGraphicFramePr>
        <p:xfrm>
          <a:off x="63500" y="1498600"/>
          <a:ext cx="8991600" cy="3291840"/>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20000"/>
                    </a:ext>
                  </a:extLst>
                </a:gridCol>
                <a:gridCol w="2997200">
                  <a:extLst>
                    <a:ext uri="{9D8B030D-6E8A-4147-A177-3AD203B41FA5}">
                      <a16:colId xmlns:a16="http://schemas.microsoft.com/office/drawing/2014/main" val="20001"/>
                    </a:ext>
                  </a:extLst>
                </a:gridCol>
                <a:gridCol w="2997200">
                  <a:extLst>
                    <a:ext uri="{9D8B030D-6E8A-4147-A177-3AD203B41FA5}">
                      <a16:colId xmlns:a16="http://schemas.microsoft.com/office/drawing/2014/main" val="20002"/>
                    </a:ext>
                  </a:extLst>
                </a:gridCol>
              </a:tblGrid>
              <a:tr h="0">
                <a:tc>
                  <a:txBody>
                    <a:bodyPr/>
                    <a:lstStyle/>
                    <a:p>
                      <a:pPr marL="0" lvl="0" indent="0">
                        <a:buNone/>
                      </a:pPr>
                      <a:r>
                        <a:t>Critère</a:t>
                      </a:r>
                    </a:p>
                  </a:txBody>
                  <a:tcPr/>
                </a:tc>
                <a:tc>
                  <a:txBody>
                    <a:bodyPr/>
                    <a:lstStyle/>
                    <a:p>
                      <a:pPr marL="0" lvl="0" indent="0">
                        <a:buNone/>
                      </a:pPr>
                      <a:r>
                        <a:t>User Profile Disks</a:t>
                      </a:r>
                    </a:p>
                  </a:txBody>
                  <a:tcPr/>
                </a:tc>
                <a:tc>
                  <a:txBody>
                    <a:bodyPr/>
                    <a:lstStyle/>
                    <a:p>
                      <a:pPr marL="0" lvl="0" indent="0">
                        <a:buNone/>
                      </a:pPr>
                      <a:r>
                        <a:t>FSLogix Profile Container</a:t>
                      </a:r>
                    </a:p>
                  </a:txBody>
                  <a:tcPr/>
                </a:tc>
                <a:extLst>
                  <a:ext uri="{0D108BD9-81ED-4DB2-BD59-A6C34878D82A}">
                    <a16:rowId xmlns:a16="http://schemas.microsoft.com/office/drawing/2014/main" val="10000"/>
                  </a:ext>
                </a:extLst>
              </a:tr>
              <a:tr h="0">
                <a:tc>
                  <a:txBody>
                    <a:bodyPr/>
                    <a:lstStyle/>
                    <a:p>
                      <a:pPr marL="0" lvl="0" indent="0">
                        <a:buNone/>
                      </a:pPr>
                      <a:r>
                        <a:t>Principe</a:t>
                      </a:r>
                    </a:p>
                  </a:txBody>
                  <a:tcPr/>
                </a:tc>
                <a:tc>
                  <a:txBody>
                    <a:bodyPr/>
                    <a:lstStyle/>
                    <a:p>
                      <a:pPr marL="0" lvl="0" indent="0">
                        <a:buNone/>
                      </a:pPr>
                      <a:r>
                        <a:t>Un VHDX par utilisateur, par collection</a:t>
                      </a:r>
                    </a:p>
                  </a:txBody>
                  <a:tcPr/>
                </a:tc>
                <a:tc>
                  <a:txBody>
                    <a:bodyPr/>
                    <a:lstStyle/>
                    <a:p>
                      <a:pPr marL="0" lvl="0" indent="0">
                        <a:buNone/>
                      </a:pPr>
                      <a:r>
                        <a:t>Un VHDX par utilisateur, monté à l’ouverture de session</a:t>
                      </a:r>
                    </a:p>
                  </a:txBody>
                  <a:tcPr/>
                </a:tc>
                <a:extLst>
                  <a:ext uri="{0D108BD9-81ED-4DB2-BD59-A6C34878D82A}">
                    <a16:rowId xmlns:a16="http://schemas.microsoft.com/office/drawing/2014/main" val="10001"/>
                  </a:ext>
                </a:extLst>
              </a:tr>
              <a:tr h="0">
                <a:tc>
                  <a:txBody>
                    <a:bodyPr/>
                    <a:lstStyle/>
                    <a:p>
                      <a:pPr marL="0" lvl="0" indent="0">
                        <a:buNone/>
                      </a:pPr>
                      <a:r>
                        <a:t>Portée</a:t>
                      </a:r>
                    </a:p>
                  </a:txBody>
                  <a:tcPr/>
                </a:tc>
                <a:tc>
                  <a:txBody>
                    <a:bodyPr/>
                    <a:lstStyle/>
                    <a:p>
                      <a:pPr marL="0" lvl="0" indent="0">
                        <a:buNone/>
                      </a:pPr>
                      <a:r>
                        <a:t>Liée à une collection</a:t>
                      </a:r>
                    </a:p>
                  </a:txBody>
                  <a:tcPr/>
                </a:tc>
                <a:tc>
                  <a:txBody>
                    <a:bodyPr/>
                    <a:lstStyle/>
                    <a:p>
                      <a:pPr marL="0" lvl="0" indent="0">
                        <a:buNone/>
                      </a:pPr>
                      <a:r>
                        <a:t>Partageable entre collections, RDS, AVD et VDI</a:t>
                      </a:r>
                    </a:p>
                  </a:txBody>
                  <a:tcPr/>
                </a:tc>
                <a:extLst>
                  <a:ext uri="{0D108BD9-81ED-4DB2-BD59-A6C34878D82A}">
                    <a16:rowId xmlns:a16="http://schemas.microsoft.com/office/drawing/2014/main" val="10002"/>
                  </a:ext>
                </a:extLst>
              </a:tr>
              <a:tr h="0">
                <a:tc>
                  <a:txBody>
                    <a:bodyPr/>
                    <a:lstStyle/>
                    <a:p>
                      <a:pPr marL="0" lvl="0" indent="0">
                        <a:buNone/>
                      </a:pPr>
                      <a:r>
                        <a:t>Microsoft 365 Apps</a:t>
                      </a:r>
                    </a:p>
                  </a:txBody>
                  <a:tcPr/>
                </a:tc>
                <a:tc>
                  <a:txBody>
                    <a:bodyPr/>
                    <a:lstStyle/>
                    <a:p>
                      <a:pPr marL="0" lvl="0" indent="0">
                        <a:buNone/>
                      </a:pPr>
                      <a:r>
                        <a:t>Limité</a:t>
                      </a:r>
                    </a:p>
                  </a:txBody>
                  <a:tcPr/>
                </a:tc>
                <a:tc>
                  <a:txBody>
                    <a:bodyPr/>
                    <a:lstStyle/>
                    <a:p>
                      <a:pPr marL="0" lvl="0" indent="0">
                        <a:buNone/>
                      </a:pPr>
                      <a:r>
                        <a:t>Cache Outlook, index de recherche, OneDrive, Teams</a:t>
                      </a:r>
                    </a:p>
                  </a:txBody>
                  <a:tcPr/>
                </a:tc>
                <a:extLst>
                  <a:ext uri="{0D108BD9-81ED-4DB2-BD59-A6C34878D82A}">
                    <a16:rowId xmlns:a16="http://schemas.microsoft.com/office/drawing/2014/main" val="10003"/>
                  </a:ext>
                </a:extLst>
              </a:tr>
              <a:tr h="0">
                <a:tc>
                  <a:txBody>
                    <a:bodyPr/>
                    <a:lstStyle/>
                    <a:p>
                      <a:pPr marL="0" lvl="0" indent="0">
                        <a:buNone/>
                      </a:pPr>
                      <a:r>
                        <a:t>Licence</a:t>
                      </a:r>
                    </a:p>
                  </a:txBody>
                  <a:tcPr/>
                </a:tc>
                <a:tc>
                  <a:txBody>
                    <a:bodyPr/>
                    <a:lstStyle/>
                    <a:p>
                      <a:pPr marL="0" lvl="0" indent="0">
                        <a:buNone/>
                      </a:pPr>
                      <a:r>
                        <a:t>Incluse</a:t>
                      </a:r>
                    </a:p>
                  </a:txBody>
                  <a:tcPr/>
                </a:tc>
                <a:tc>
                  <a:txBody>
                    <a:bodyPr/>
                    <a:lstStyle/>
                    <a:p>
                      <a:pPr marL="0" lvl="0" indent="0">
                        <a:buNone/>
                      </a:pPr>
                      <a:r>
                        <a:t>Incluse dans la CAL RDS</a:t>
                      </a:r>
                    </a:p>
                  </a:txBody>
                  <a:tcPr/>
                </a:tc>
                <a:extLst>
                  <a:ext uri="{0D108BD9-81ED-4DB2-BD59-A6C34878D82A}">
                    <a16:rowId xmlns:a16="http://schemas.microsoft.com/office/drawing/2014/main" val="10004"/>
                  </a:ext>
                </a:extLst>
              </a:tr>
              <a:tr h="0">
                <a:tc>
                  <a:txBody>
                    <a:bodyPr/>
                    <a:lstStyle/>
                    <a:p>
                      <a:pPr marL="0" lvl="0" indent="0">
                        <a:buNone/>
                      </a:pPr>
                      <a:r>
                        <a:t>Recommandation</a:t>
                      </a:r>
                    </a:p>
                  </a:txBody>
                  <a:tcPr/>
                </a:tc>
                <a:tc>
                  <a:txBody>
                    <a:bodyPr/>
                    <a:lstStyle/>
                    <a:p>
                      <a:pPr marL="0" lvl="0" indent="0">
                        <a:buNone/>
                      </a:pPr>
                      <a:r>
                        <a:t>Déconseillé</a:t>
                      </a:r>
                    </a:p>
                  </a:txBody>
                  <a:tcPr/>
                </a:tc>
                <a:tc>
                  <a:txBody>
                    <a:bodyPr/>
                    <a:lstStyle/>
                    <a:p>
                      <a:pPr marL="0" lvl="0" indent="0">
                        <a:buNone/>
                      </a:pPr>
                      <a:r>
                        <a:t>Recommandé</a:t>
                      </a:r>
                    </a:p>
                  </a:txBody>
                  <a:tcPr/>
                </a:tc>
                <a:extLst>
                  <a:ext uri="{0D108BD9-81ED-4DB2-BD59-A6C34878D82A}">
                    <a16:rowId xmlns:a16="http://schemas.microsoft.com/office/drawing/2014/main" val="10005"/>
                  </a:ext>
                </a:extLst>
              </a:tr>
            </a:tbl>
          </a:graphicData>
        </a:graphic>
      </p:graphicFrame>
      <p:sp>
        <p:nvSpPr>
          <p:cNvPr id="12" name="Espace réservé du numéro de diapositive 11"/>
          <p:cNvSpPr>
            <a:spLocks noGrp="1"/>
          </p:cNvSpPr>
          <p:nvPr>
            <p:ph type="sldNum" sz="quarter" idx="10"/>
          </p:nvPr>
        </p:nvSpPr>
        <p:spPr/>
        <p:txBody>
          <a:bodyPr/>
          <a:lstStyle/>
          <a:p>
            <a:fld id="{CF4668DC-857F-487D-BFFA-8C0CA5037977}" type="slidenum">
              <a:rPr lang="fr-BE" smtClean="0"/>
              <a:pPr/>
              <a:t>8</a:t>
            </a:fld>
            <a:endParaRPr lang="fr-B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 composants de FSLogix</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9</a:t>
            </a:fld>
            <a:endParaRPr lang="fr-BE"/>
          </a:p>
        </p:txBody>
      </p:sp>
      <p:sp>
        <p:nvSpPr>
          <p:cNvPr id="13" name="Rounded Rectangle 12"/>
          <p:cNvSpPr/>
          <p:nvPr/>
        </p:nvSpPr>
        <p:spPr>
          <a:xfrm>
            <a:off x="288000" y="1692000"/>
            <a:ext cx="8568000" cy="2016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60000" y="1710000"/>
            <a:ext cx="8424000" cy="216000"/>
          </a:xfrm>
          <a:prstGeom prst="rect">
            <a:avLst/>
          </a:prstGeom>
          <a:noFill/>
        </p:spPr>
        <p:txBody>
          <a:bodyPr wrap="square" lIns="43200" tIns="18000" rIns="43200" bIns="18000" anchor="ctr">
            <a:spAutoFit/>
          </a:bodyPr>
          <a:lstStyle/>
          <a:p>
            <a:pPr algn="l"/>
            <a:r>
              <a:rPr sz="900" b="1">
                <a:solidFill>
                  <a:srgbClr val="A5A5A5"/>
                </a:solidFill>
                <a:latin typeface="Corbel"/>
              </a:rPr>
              <a:t>Conteneurs : le profil dans un disque virtuel</a:t>
            </a:r>
          </a:p>
        </p:txBody>
      </p:sp>
      <p:sp>
        <p:nvSpPr>
          <p:cNvPr id="15" name="Rounded Rectangle 14"/>
          <p:cNvSpPr/>
          <p:nvPr/>
        </p:nvSpPr>
        <p:spPr>
          <a:xfrm>
            <a:off x="576000" y="2160000"/>
            <a:ext cx="3816000" cy="1296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FFFFFF"/>
                </a:solidFill>
                <a:latin typeface="Corbel"/>
              </a:rPr>
              <a:t>Profile Container</a:t>
            </a:r>
          </a:p>
          <a:p>
            <a:pPr algn="ctr"/>
            <a:r>
              <a:rPr sz="950" b="0">
                <a:solidFill>
                  <a:srgbClr val="FFFFFF"/>
                </a:solidFill>
                <a:latin typeface="Corbel"/>
              </a:rPr>
              <a:t>tout le profil de l'utilisateur</a:t>
            </a:r>
          </a:p>
        </p:txBody>
      </p:sp>
      <p:sp>
        <p:nvSpPr>
          <p:cNvPr id="16" name="Rounded Rectangle 15"/>
          <p:cNvSpPr/>
          <p:nvPr/>
        </p:nvSpPr>
        <p:spPr>
          <a:xfrm>
            <a:off x="4752000" y="2160000"/>
            <a:ext cx="3816000" cy="1296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Office Container (ODFC)</a:t>
            </a:r>
          </a:p>
          <a:p>
            <a:pPr algn="ctr"/>
            <a:r>
              <a:rPr sz="950" b="0">
                <a:solidFill>
                  <a:srgbClr val="44546A"/>
                </a:solidFill>
                <a:latin typeface="Corbel"/>
              </a:rPr>
              <a:t>Outlook, OneDrive, Teams, OneNote</a:t>
            </a:r>
          </a:p>
        </p:txBody>
      </p:sp>
      <p:sp>
        <p:nvSpPr>
          <p:cNvPr id="17" name="Rounded Rectangle 16"/>
          <p:cNvSpPr/>
          <p:nvPr/>
        </p:nvSpPr>
        <p:spPr>
          <a:xfrm>
            <a:off x="288000" y="3924000"/>
            <a:ext cx="8568000" cy="2016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60000" y="3942000"/>
            <a:ext cx="8424000" cy="216000"/>
          </a:xfrm>
          <a:prstGeom prst="rect">
            <a:avLst/>
          </a:prstGeom>
          <a:noFill/>
        </p:spPr>
        <p:txBody>
          <a:bodyPr wrap="square" lIns="43200" tIns="18000" rIns="43200" bIns="18000" anchor="ctr">
            <a:spAutoFit/>
          </a:bodyPr>
          <a:lstStyle/>
          <a:p>
            <a:pPr algn="l"/>
            <a:r>
              <a:rPr sz="900" b="1">
                <a:solidFill>
                  <a:srgbClr val="A5A5A5"/>
                </a:solidFill>
                <a:latin typeface="Corbel"/>
              </a:rPr>
              <a:t>Autour du conteneur</a:t>
            </a:r>
          </a:p>
        </p:txBody>
      </p:sp>
      <p:sp>
        <p:nvSpPr>
          <p:cNvPr id="19" name="Rounded Rectangle 18"/>
          <p:cNvSpPr/>
          <p:nvPr/>
        </p:nvSpPr>
        <p:spPr>
          <a:xfrm>
            <a:off x="576000" y="4392000"/>
            <a:ext cx="3816000" cy="1296000"/>
          </a:xfrm>
          <a:prstGeom prst="roundRect">
            <a:avLst>
              <a:gd name="adj" fmla="val 8000"/>
            </a:avLst>
          </a:prstGeom>
          <a:solidFill>
            <a:srgbClr val="FFC000"/>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Application Rule Sets</a:t>
            </a:r>
          </a:p>
          <a:p>
            <a:pPr algn="ctr"/>
            <a:r>
              <a:rPr sz="950" b="0">
                <a:solidFill>
                  <a:srgbClr val="44546A"/>
                </a:solidFill>
                <a:latin typeface="Corbel"/>
              </a:rPr>
              <a:t>masquer applications et polices</a:t>
            </a:r>
          </a:p>
        </p:txBody>
      </p:sp>
      <p:sp>
        <p:nvSpPr>
          <p:cNvPr id="20" name="Rounded Rectangle 19"/>
          <p:cNvSpPr/>
          <p:nvPr/>
        </p:nvSpPr>
        <p:spPr>
          <a:xfrm>
            <a:off x="4752000" y="4392000"/>
            <a:ext cx="3816000" cy="1296000"/>
          </a:xfrm>
          <a:prstGeom prst="roundRect">
            <a:avLst>
              <a:gd name="adj" fmla="val 8000"/>
            </a:avLst>
          </a:prstGeom>
          <a:solidFill>
            <a:srgbClr val="FFC000"/>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Cloud Cache</a:t>
            </a:r>
          </a:p>
          <a:p>
            <a:pPr algn="ctr"/>
            <a:r>
              <a:rPr sz="950" b="0">
                <a:solidFill>
                  <a:srgbClr val="44546A"/>
                </a:solidFill>
                <a:latin typeface="Corbel"/>
              </a:rPr>
              <a:t>plusieurs stockages, cache local</a:t>
            </a:r>
          </a:p>
        </p:txBody>
      </p:sp>
      <p:sp>
        <p:nvSpPr>
          <p:cNvPr id="21" name="TextBox 20"/>
          <p:cNvSpPr txBox="1"/>
          <p:nvPr/>
        </p:nvSpPr>
        <p:spPr>
          <a:xfrm>
            <a:off x="288000" y="6048000"/>
            <a:ext cx="8568000" cy="324000"/>
          </a:xfrm>
          <a:prstGeom prst="rect">
            <a:avLst/>
          </a:prstGeom>
          <a:noFill/>
        </p:spPr>
        <p:txBody>
          <a:bodyPr wrap="square" lIns="43200" tIns="18000" rIns="43200" bIns="18000" anchor="ctr">
            <a:spAutoFit/>
          </a:bodyPr>
          <a:lstStyle/>
          <a:p>
            <a:pPr algn="ctr"/>
            <a:r>
              <a:rPr sz="1050" b="0" i="1">
                <a:solidFill>
                  <a:srgbClr val="A5A5A5"/>
                </a:solidFill>
                <a:latin typeface="Corbel"/>
              </a:rPr>
              <a:t>Un pilote de filtre rend la redirection invisible aux applications.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 conteneur de profil FSLogix</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10</a:t>
            </a:fld>
            <a:endParaRPr lang="fr-BE"/>
          </a:p>
        </p:txBody>
      </p:sp>
      <p:sp>
        <p:nvSpPr>
          <p:cNvPr id="13" name="Rounded Rectangle 12"/>
          <p:cNvSpPr/>
          <p:nvPr/>
        </p:nvSpPr>
        <p:spPr>
          <a:xfrm>
            <a:off x="288000" y="1728000"/>
            <a:ext cx="4032000" cy="4248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60000" y="1746000"/>
            <a:ext cx="3888000" cy="216000"/>
          </a:xfrm>
          <a:prstGeom prst="rect">
            <a:avLst/>
          </a:prstGeom>
          <a:noFill/>
        </p:spPr>
        <p:txBody>
          <a:bodyPr wrap="square" lIns="43200" tIns="18000" rIns="43200" bIns="18000" anchor="ctr">
            <a:spAutoFit/>
          </a:bodyPr>
          <a:lstStyle/>
          <a:p>
            <a:pPr algn="l"/>
            <a:r>
              <a:rPr sz="900" b="1">
                <a:solidFill>
                  <a:srgbClr val="A5A5A5"/>
                </a:solidFill>
                <a:latin typeface="Corbel"/>
              </a:rPr>
              <a:t>Hôte de session RDS-SESSION1</a:t>
            </a:r>
          </a:p>
        </p:txBody>
      </p:sp>
      <p:sp>
        <p:nvSpPr>
          <p:cNvPr id="15" name="Rounded Rectangle 14"/>
          <p:cNvSpPr/>
          <p:nvPr/>
        </p:nvSpPr>
        <p:spPr>
          <a:xfrm>
            <a:off x="540000" y="2124000"/>
            <a:ext cx="3528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Session de lthobois</a:t>
            </a:r>
          </a:p>
          <a:p>
            <a:pPr algn="ctr"/>
            <a:r>
              <a:rPr sz="950" b="0">
                <a:solidFill>
                  <a:srgbClr val="44546A"/>
                </a:solidFill>
                <a:latin typeface="Corbel"/>
              </a:rPr>
              <a:t>ouverture de session</a:t>
            </a:r>
          </a:p>
        </p:txBody>
      </p:sp>
      <p:sp>
        <p:nvSpPr>
          <p:cNvPr id="16" name="Rounded Rectangle 15"/>
          <p:cNvSpPr/>
          <p:nvPr/>
        </p:nvSpPr>
        <p:spPr>
          <a:xfrm>
            <a:off x="540000" y="3312000"/>
            <a:ext cx="3528000" cy="720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FFFFFF"/>
                </a:solidFill>
                <a:latin typeface="Corbel"/>
              </a:rPr>
              <a:t>Agent FSLogix</a:t>
            </a:r>
          </a:p>
          <a:p>
            <a:pPr algn="ctr"/>
            <a:r>
              <a:rPr sz="950" b="0">
                <a:solidFill>
                  <a:srgbClr val="FFFFFF"/>
                </a:solidFill>
                <a:latin typeface="Corbel"/>
              </a:rPr>
              <a:t>monte le disque virtuel</a:t>
            </a:r>
          </a:p>
        </p:txBody>
      </p:sp>
      <p:sp>
        <p:nvSpPr>
          <p:cNvPr id="17" name="Rounded Rectangle 16"/>
          <p:cNvSpPr/>
          <p:nvPr/>
        </p:nvSpPr>
        <p:spPr>
          <a:xfrm>
            <a:off x="540000" y="4500000"/>
            <a:ext cx="3528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Profil vu comme local</a:t>
            </a:r>
          </a:p>
          <a:p>
            <a:pPr algn="ctr"/>
            <a:r>
              <a:rPr sz="950" b="0">
                <a:solidFill>
                  <a:srgbClr val="44546A"/>
                </a:solidFill>
                <a:latin typeface="Corbel"/>
              </a:rPr>
              <a:t>C:\Users\lthobois</a:t>
            </a:r>
          </a:p>
        </p:txBody>
      </p:sp>
      <p:sp>
        <p:nvSpPr>
          <p:cNvPr id="18" name="Down Arrow 17"/>
          <p:cNvSpPr/>
          <p:nvPr/>
        </p:nvSpPr>
        <p:spPr>
          <a:xfrm>
            <a:off x="2178000" y="2880000"/>
            <a:ext cx="252000" cy="396000"/>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Down Arrow 18"/>
          <p:cNvSpPr/>
          <p:nvPr/>
        </p:nvSpPr>
        <p:spPr>
          <a:xfrm>
            <a:off x="2178000" y="4068000"/>
            <a:ext cx="252000" cy="396000"/>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Rounded Rectangle 19"/>
          <p:cNvSpPr/>
          <p:nvPr/>
        </p:nvSpPr>
        <p:spPr>
          <a:xfrm>
            <a:off x="5112000" y="1728000"/>
            <a:ext cx="3744000" cy="4248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184000" y="1746000"/>
            <a:ext cx="3600000" cy="216000"/>
          </a:xfrm>
          <a:prstGeom prst="rect">
            <a:avLst/>
          </a:prstGeom>
          <a:noFill/>
        </p:spPr>
        <p:txBody>
          <a:bodyPr wrap="square" lIns="43200" tIns="18000" rIns="43200" bIns="18000" anchor="ctr">
            <a:spAutoFit/>
          </a:bodyPr>
          <a:lstStyle/>
          <a:p>
            <a:pPr algn="l"/>
            <a:r>
              <a:rPr sz="900" b="1">
                <a:solidFill>
                  <a:srgbClr val="A5A5A5"/>
                </a:solidFill>
                <a:latin typeface="Corbel"/>
              </a:rPr>
              <a:t>RDS-DC1 – partage ProfilDisk</a:t>
            </a:r>
          </a:p>
        </p:txBody>
      </p:sp>
      <p:sp>
        <p:nvSpPr>
          <p:cNvPr id="22" name="Rounded Rectangle 21"/>
          <p:cNvSpPr/>
          <p:nvPr/>
        </p:nvSpPr>
        <p:spPr>
          <a:xfrm>
            <a:off x="5364000" y="2520000"/>
            <a:ext cx="3240000" cy="648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lthobois_S-1-5-…</a:t>
            </a:r>
          </a:p>
          <a:p>
            <a:pPr algn="ctr"/>
            <a:r>
              <a:rPr sz="950" b="0">
                <a:solidFill>
                  <a:srgbClr val="44546A"/>
                </a:solidFill>
                <a:latin typeface="Corbel"/>
              </a:rPr>
              <a:t>dossier de l'utilisateur</a:t>
            </a:r>
          </a:p>
        </p:txBody>
      </p:sp>
      <p:sp>
        <p:nvSpPr>
          <p:cNvPr id="23" name="Rounded Rectangle 22"/>
          <p:cNvSpPr/>
          <p:nvPr/>
        </p:nvSpPr>
        <p:spPr>
          <a:xfrm>
            <a:off x="5364000" y="3348000"/>
            <a:ext cx="3240000" cy="648000"/>
          </a:xfrm>
          <a:prstGeom prst="roundRect">
            <a:avLst>
              <a:gd name="adj" fmla="val 8000"/>
            </a:avLst>
          </a:prstGeom>
          <a:solidFill>
            <a:srgbClr val="FFC000"/>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Profile_lthobois.VHDX</a:t>
            </a:r>
          </a:p>
          <a:p>
            <a:pPr algn="ctr"/>
            <a:r>
              <a:rPr sz="950" b="0">
                <a:solidFill>
                  <a:srgbClr val="44546A"/>
                </a:solidFill>
                <a:latin typeface="Corbel"/>
              </a:rPr>
              <a:t>conteneur de profil</a:t>
            </a:r>
          </a:p>
        </p:txBody>
      </p:sp>
      <p:cxnSp>
        <p:nvCxnSpPr>
          <p:cNvPr id="24" name="Connector 23"/>
          <p:cNvCxnSpPr/>
          <p:nvPr/>
        </p:nvCxnSpPr>
        <p:spPr>
          <a:xfrm>
            <a:off x="4068000" y="3672000"/>
            <a:ext cx="1296000" cy="0"/>
          </a:xfrm>
          <a:prstGeom prst="line">
            <a:avLst/>
          </a:prstGeom>
          <a:ln w="15875">
            <a:solidFill>
              <a:srgbClr val="A5A5A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76000" y="3402000"/>
            <a:ext cx="1080000" cy="252000"/>
          </a:xfrm>
          <a:prstGeom prst="rect">
            <a:avLst/>
          </a:prstGeom>
          <a:noFill/>
        </p:spPr>
        <p:txBody>
          <a:bodyPr wrap="square" lIns="43200" tIns="18000" rIns="43200" bIns="18000" anchor="ctr">
            <a:spAutoFit/>
          </a:bodyPr>
          <a:lstStyle/>
          <a:p>
            <a:pPr algn="ctr"/>
            <a:r>
              <a:rPr sz="900" b="0">
                <a:solidFill>
                  <a:srgbClr val="44546A"/>
                </a:solidFill>
                <a:latin typeface="Corbel"/>
              </a:rPr>
              <a:t>SMB signé</a:t>
            </a:r>
          </a:p>
        </p:txBody>
      </p:sp>
      <p:sp>
        <p:nvSpPr>
          <p:cNvPr id="26" name="TextBox 25"/>
          <p:cNvSpPr txBox="1"/>
          <p:nvPr/>
        </p:nvSpPr>
        <p:spPr>
          <a:xfrm>
            <a:off x="288000" y="6048000"/>
            <a:ext cx="8568000" cy="324000"/>
          </a:xfrm>
          <a:prstGeom prst="rect">
            <a:avLst/>
          </a:prstGeom>
          <a:noFill/>
        </p:spPr>
        <p:txBody>
          <a:bodyPr wrap="square" lIns="43200" tIns="18000" rIns="43200" bIns="18000" anchor="ctr">
            <a:spAutoFit/>
          </a:bodyPr>
          <a:lstStyle/>
          <a:p>
            <a:pPr algn="ctr"/>
            <a:r>
              <a:rPr sz="1050" b="0" i="1">
                <a:solidFill>
                  <a:srgbClr val="A5A5A5"/>
                </a:solidFill>
                <a:latin typeface="Corbel"/>
              </a:rPr>
              <a:t>Aucun fichier n'est copié : le profil suit l'utilisateur sur n'importe quel hôte.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Mettre en place FSLogix</a:t>
            </a:r>
          </a:p>
        </p:txBody>
      </p:sp>
      <p:sp>
        <p:nvSpPr>
          <p:cNvPr id="6" name="Espace réservé du contenu 2"/>
          <p:cNvSpPr>
            <a:spLocks noGrp="1"/>
          </p:cNvSpPr>
          <p:nvPr>
            <p:ph idx="1"/>
          </p:nvPr>
        </p:nvSpPr>
        <p:spPr/>
        <p:txBody>
          <a:bodyPr/>
          <a:lstStyle/>
          <a:p>
            <a:pPr lvl="0"/>
            <a:r>
              <a:t>Partage de profils : </a:t>
            </a:r>
            <a:r>
              <a:rPr>
                <a:latin typeface="Courier"/>
              </a:rPr>
              <a:t>\\RDS-DC1\ProfilDisk</a:t>
            </a:r>
          </a:p>
          <a:p>
            <a:pPr lvl="1"/>
            <a:r>
              <a:t>utilisateurs : droit de créer leur propre dossier uniquement</a:t>
            </a:r>
          </a:p>
          <a:p>
            <a:pPr lvl="0"/>
            <a:r>
              <a:t>Agent FSLogix installé sur chaque hôte de session</a:t>
            </a:r>
          </a:p>
          <a:p>
            <a:pPr lvl="0"/>
            <a:r>
              <a:t>Paramètres par stratégie de groupe ou registre</a:t>
            </a:r>
          </a:p>
          <a:p>
            <a:pPr lvl="1"/>
            <a:r>
              <a:rPr>
                <a:latin typeface="Courier"/>
              </a:rPr>
              <a:t>Enabled = 1</a:t>
            </a:r>
          </a:p>
          <a:p>
            <a:pPr lvl="1"/>
            <a:r>
              <a:rPr>
                <a:latin typeface="Courier"/>
              </a:rPr>
              <a:t>VHDLocations = \\RDS-DC1\ProfilDisk</a:t>
            </a:r>
          </a:p>
          <a:p>
            <a:pPr lvl="1"/>
            <a:r>
              <a:rPr>
                <a:latin typeface="Courier"/>
              </a:rPr>
              <a:t>VolumeType = VHDX</a:t>
            </a:r>
          </a:p>
          <a:p>
            <a:pPr lvl="0"/>
            <a:r>
              <a:t>Disques de profil utilisateur désactivés sur la collection</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11</a:t>
            </a:fld>
            <a:endParaRPr lang="fr-B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Espace réservé du numéro de diapositive 11"/>
          <p:cNvSpPr>
            <a:spLocks noGrp="1"/>
          </p:cNvSpPr>
          <p:nvPr>
            <p:ph type="sldNum" sz="quarter" idx="10"/>
          </p:nvPr>
        </p:nvSpPr>
        <p:spPr>
          <a:xfrm>
            <a:off x="8338730" y="6593556"/>
            <a:ext cx="733864" cy="214290"/>
          </a:xfrm>
        </p:spPr>
        <p:txBody>
          <a:bodyPr/>
          <a:lstStyle/>
          <a:p>
            <a:fld id="{CF4668DC-857F-487D-BFFA-8C0CA5037977}" type="slidenum">
              <a:rPr lang="fr-BE" smtClean="0"/>
              <a:pPr/>
              <a:t>12</a:t>
            </a:fld>
            <a:endParaRPr lang="fr-BE"/>
          </a:p>
        </p:txBody>
      </p:sp>
      <p:sp>
        <p:nvSpPr>
          <p:cNvPr id="6" name="Espace réservé du contenu 2"/>
          <p:cNvSpPr>
            <a:spLocks noGrp="1"/>
          </p:cNvSpPr>
          <p:nvPr>
            <p:ph idx="1"/>
          </p:nvPr>
        </p:nvSpPr>
        <p:spPr>
          <a:xfrm>
            <a:off x="71406" y="1500174"/>
            <a:ext cx="9001188" cy="4929221"/>
          </a:xfrm>
        </p:spPr>
        <p:txBody>
          <a:bodyPr>
            <a:normAutofit lnSpcReduction="10000"/>
          </a:bodyPr>
          <a:lstStyle/>
          <a:p>
            <a:pPr lvl="0"/>
            <a:r>
              <a:rPr lang="fr-FR"/>
              <a:t>Droit d’usage inclus dans la CAL RDS</a:t>
            </a:r>
          </a:p>
          <a:p>
            <a:pPr lvl="1"/>
            <a:r>
              <a:rPr lang="fr-FR"/>
              <a:t>également Microsoft 365 E3/E5, A3/A5, F1/F3 et Business, Windows Entreprise E3/E5, SAL RDS, licence par utilisateur Azure Virtual Desktop</a:t>
            </a:r>
          </a:p>
          <a:p>
            <a:pPr lvl="0"/>
            <a:r>
              <a:rPr lang="fr-FR"/>
              <a:t>Utilisable dans tout centre de données ou cloud, dès lors que l’utilisateur est licencié</a:t>
            </a:r>
          </a:p>
          <a:p>
            <a:pPr lvl="0"/>
            <a:r>
              <a:rPr lang="fr-FR"/>
              <a:t>Systèmes pris en charge : Windows 10 et 11, Windows Server 2016 à 2025</a:t>
            </a:r>
          </a:p>
          <a:p>
            <a:pPr lvl="0"/>
            <a:r>
              <a:rPr lang="fr-FR"/>
              <a:t>Installation identique en première pose et en mise à jour, suivie d’un redémarrage</a:t>
            </a:r>
          </a:p>
          <a:p>
            <a:pPr lvl="0"/>
            <a:r>
              <a:rPr lang="fr-FR"/>
              <a:t>Exclusions antivirus indispensables</a:t>
            </a:r>
          </a:p>
        </p:txBody>
      </p:sp>
      <p:sp>
        <p:nvSpPr>
          <p:cNvPr id="2" name="Title 1"/>
          <p:cNvSpPr>
            <a:spLocks noGrp="1"/>
          </p:cNvSpPr>
          <p:nvPr>
            <p:ph type="title"/>
          </p:nvPr>
        </p:nvSpPr>
        <p:spPr>
          <a:xfrm>
            <a:off x="71406" y="428604"/>
            <a:ext cx="7715304" cy="928694"/>
          </a:xfrm>
        </p:spPr>
        <p:txBody>
          <a:bodyPr/>
          <a:lstStyle/>
          <a:p>
            <a:pPr lvl="0"/>
            <a:r>
              <a:rPr lang="fr-FR"/>
              <a:t>Droits d’usage et prérequis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Points d’attention FSLogix</a:t>
            </a:r>
          </a:p>
        </p:txBody>
      </p:sp>
      <p:sp>
        <p:nvSpPr>
          <p:cNvPr id="6" name="Espace réservé du contenu 2"/>
          <p:cNvSpPr>
            <a:spLocks noGrp="1"/>
          </p:cNvSpPr>
          <p:nvPr>
            <p:ph idx="1"/>
          </p:nvPr>
        </p:nvSpPr>
        <p:spPr/>
        <p:txBody>
          <a:bodyPr/>
          <a:lstStyle/>
          <a:p>
            <a:pPr lvl="0"/>
            <a:r>
              <a:t>Un profil ne peut être monté que dans une session à la fois</a:t>
            </a:r>
          </a:p>
          <a:p>
            <a:pPr lvl="0"/>
            <a:r>
              <a:t>Taille maximale du disque à définir dès le départ</a:t>
            </a:r>
          </a:p>
          <a:p>
            <a:pPr lvl="0"/>
            <a:r>
              <a:t>Antivirus : exclure les fichiers VHDX du partage</a:t>
            </a:r>
          </a:p>
          <a:p>
            <a:pPr lvl="0"/>
            <a:r>
              <a:t>Chiffrement Kerberos : passer le partage en AES-SHA1</a:t>
            </a:r>
          </a:p>
          <a:p>
            <a:pPr lvl="0"/>
            <a:r>
              <a:t>Stockage performant et disponible : c’est un point de défaillance</a:t>
            </a:r>
          </a:p>
          <a:p>
            <a:pPr lvl="0"/>
            <a:r>
              <a:t>Surveiller les journaux FSLogix en cas d’échec d’ouverture</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13</a:t>
            </a:fld>
            <a:endParaRPr lang="fr-B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p:txBody>
          <a:bodyPr/>
          <a:lstStyle/>
          <a:p>
            <a:pPr marL="0" lvl="0" indent="0">
              <a:buNone/>
            </a:pPr>
            <a:r>
              <a:t>Collection ou stratégie de groupe</a:t>
            </a:r>
          </a:p>
        </p:txBody>
      </p:sp>
      <p:sp>
        <p:nvSpPr>
          <p:cNvPr id="3" name="Espace réservé du contenu 2"/>
          <p:cNvSpPr>
            <a:spLocks noGrp="1"/>
          </p:cNvSpPr>
          <p:nvPr>
            <p:ph sz="half" idx="1"/>
          </p:nvPr>
        </p:nvSpPr>
        <p:spPr/>
        <p:txBody>
          <a:bodyPr/>
          <a:lstStyle/>
          <a:p>
            <a:pPr lvl="0"/>
            <a:r>
              <a:t>Propriétés de la collection : paramètres simples, par collection</a:t>
            </a:r>
          </a:p>
          <a:p>
            <a:pPr lvl="0"/>
            <a:r>
              <a:t>Stratégies de groupe : paramètres centralisés, par unité d’organisation</a:t>
            </a:r>
          </a:p>
          <a:p>
            <a:pPr lvl="0"/>
            <a:r>
              <a:t>En cas de conflit, la stratégie de groupe l’emporte</a:t>
            </a:r>
          </a:p>
          <a:p>
            <a:pPr lvl="0"/>
            <a:r>
              <a:t>Hôtes de session regroupés dans une UO dédiée</a:t>
            </a:r>
          </a:p>
        </p:txBody>
      </p:sp>
      <p:pic>
        <p:nvPicPr>
          <p:cNvPr id="2" name="Picture 1" descr="images/diapo-064-01.png"/>
          <p:cNvPicPr>
            <a:picLocks noGrp="1" noChangeAspect="1"/>
          </p:cNvPicPr>
          <p:nvPr/>
        </p:nvPicPr>
        <p:blipFill>
          <a:blip r:embed="rId3"/>
          <a:stretch>
            <a:fillRect/>
          </a:stretch>
        </p:blipFill>
        <p:spPr bwMode="auto">
          <a:xfrm>
            <a:off x="4749800" y="1651000"/>
            <a:ext cx="4318000" cy="4622800"/>
          </a:xfrm>
          <a:prstGeom prst="rect">
            <a:avLst/>
          </a:prstGeom>
          <a:noFill/>
          <a:ln w="9525">
            <a:noFill/>
            <a:headEnd/>
            <a:tailEnd/>
          </a:ln>
        </p:spPr>
      </p:pic>
      <p:sp>
        <p:nvSpPr>
          <p:cNvPr id="7" name="Espace réservé du numéro de diapositive 6"/>
          <p:cNvSpPr>
            <a:spLocks noGrp="1"/>
          </p:cNvSpPr>
          <p:nvPr>
            <p:ph type="sldNum" sz="quarter" idx="12"/>
          </p:nvPr>
        </p:nvSpPr>
        <p:spPr/>
        <p:txBody>
          <a:bodyPr/>
          <a:lstStyle/>
          <a:p>
            <a:fld id="{CF4668DC-857F-487D-BFFA-8C0CA5037977}" type="slidenum">
              <a:rPr lang="fr-BE" smtClean="0"/>
              <a:pPr/>
              <a:t>14</a:t>
            </a:fld>
            <a:endParaRPr lang="fr-B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Ce que centralise la stratégie de groupe</a:t>
            </a:r>
          </a:p>
        </p:txBody>
      </p:sp>
      <p:sp>
        <p:nvSpPr>
          <p:cNvPr id="6" name="Espace réservé du contenu 2"/>
          <p:cNvSpPr>
            <a:spLocks noGrp="1"/>
          </p:cNvSpPr>
          <p:nvPr>
            <p:ph idx="1"/>
          </p:nvPr>
        </p:nvSpPr>
        <p:spPr/>
        <p:txBody>
          <a:bodyPr/>
          <a:lstStyle/>
          <a:p>
            <a:pPr lvl="0"/>
            <a:r>
              <a:t>Serveur et mode de licence</a:t>
            </a:r>
          </a:p>
          <a:p>
            <a:pPr lvl="0"/>
            <a:r>
              <a:t>Options du protocole RDP</a:t>
            </a:r>
          </a:p>
          <a:p>
            <a:pPr lvl="0"/>
            <a:r>
              <a:t>Nombre maximal de sessions et limites de session</a:t>
            </a:r>
          </a:p>
          <a:p>
            <a:pPr lvl="0"/>
            <a:r>
              <a:t>Une seule session par utilisateur</a:t>
            </a:r>
          </a:p>
          <a:p>
            <a:pPr lvl="0"/>
            <a:r>
              <a:t>Redirections de périphériques et de ressources</a:t>
            </a:r>
          </a:p>
          <a:p>
            <a:pPr lvl="0"/>
            <a:r>
              <a:t>Contrôle à distance des sessions</a:t>
            </a:r>
          </a:p>
          <a:p>
            <a:pPr lvl="0"/>
            <a:r>
              <a:t>Paramètres du client Bureau à distance</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15</a:t>
            </a:fld>
            <a:endParaRPr lang="fr-B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 limites de session</a:t>
            </a:r>
          </a:p>
        </p:txBody>
      </p:sp>
      <p:sp>
        <p:nvSpPr>
          <p:cNvPr id="6" name="Espace réservé du contenu 2"/>
          <p:cNvSpPr>
            <a:spLocks noGrp="1"/>
          </p:cNvSpPr>
          <p:nvPr>
            <p:ph idx="1"/>
          </p:nvPr>
        </p:nvSpPr>
        <p:spPr/>
        <p:txBody>
          <a:bodyPr/>
          <a:lstStyle/>
          <a:p>
            <a:pPr lvl="0"/>
            <a:r>
              <a:t>Session déconnectée : fermer après un délai</a:t>
            </a:r>
          </a:p>
          <a:p>
            <a:pPr lvl="0"/>
            <a:r>
              <a:t>Session inactive : déconnecter après un délai</a:t>
            </a:r>
          </a:p>
          <a:p>
            <a:pPr lvl="0"/>
            <a:r>
              <a:t>Session active : limite éventuelle</a:t>
            </a:r>
          </a:p>
          <a:p>
            <a:pPr lvl="0"/>
            <a:r>
              <a:t>Fin de session à l’atteinte d’une limite plutôt que déconnexion</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16</a:t>
            </a:fld>
            <a:endParaRPr lang="fr-B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 redirections</a:t>
            </a:r>
          </a:p>
        </p:txBody>
      </p:sp>
      <p:sp>
        <p:nvSpPr>
          <p:cNvPr id="6" name="Espace réservé du contenu 2"/>
          <p:cNvSpPr>
            <a:spLocks noGrp="1"/>
          </p:cNvSpPr>
          <p:nvPr>
            <p:ph idx="1"/>
          </p:nvPr>
        </p:nvSpPr>
        <p:spPr/>
        <p:txBody>
          <a:bodyPr/>
          <a:lstStyle/>
          <a:p>
            <a:pPr lvl="0"/>
            <a:r>
              <a:t>Presse-papiers : texte, images, sens de transfert</a:t>
            </a:r>
          </a:p>
          <a:p>
            <a:pPr lvl="0"/>
            <a:r>
              <a:t>Lecteurs locaux</a:t>
            </a:r>
          </a:p>
          <a:p>
            <a:pPr lvl="0"/>
            <a:r>
              <a:t>Imprimantes</a:t>
            </a:r>
          </a:p>
          <a:p>
            <a:pPr lvl="0"/>
            <a:r>
              <a:t>Périphériques USB, cartes à puce, caméras, micro</a:t>
            </a:r>
          </a:p>
          <a:p>
            <a:pPr lvl="0"/>
            <a:r>
              <a:t>Principe : n’autoriser que ce qui est nécessaire</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17</a:t>
            </a:fld>
            <a:endParaRPr lang="fr-B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L’administration des sessions</a:t>
            </a:r>
          </a:p>
        </p:txBody>
      </p:sp>
      <p:sp>
        <p:nvSpPr>
          <p:cNvPr id="6" name="Espace réservé du contenu 2"/>
          <p:cNvSpPr>
            <a:spLocks noGrp="1"/>
          </p:cNvSpPr>
          <p:nvPr>
            <p:ph idx="1"/>
          </p:nvPr>
        </p:nvSpPr>
        <p:spPr/>
        <p:txBody>
          <a:bodyPr/>
          <a:lstStyle/>
          <a:p>
            <a:pPr lvl="0"/>
            <a:r>
              <a:t>Visualiser les sessions en cours et leur hôte</a:t>
            </a:r>
          </a:p>
          <a:p>
            <a:pPr lvl="0"/>
            <a:r>
              <a:t>Visualiser les processus de chaque session</a:t>
            </a:r>
          </a:p>
          <a:p>
            <a:pPr lvl="0"/>
            <a:r>
              <a:t>Envoyer un message aux utilisateurs connectés</a:t>
            </a:r>
          </a:p>
          <a:p>
            <a:pPr lvl="0"/>
            <a:r>
              <a:t>Prendre le contrôle d’une session, avec l’accord de l’utilisateur</a:t>
            </a:r>
          </a:p>
          <a:p>
            <a:pPr lvl="0"/>
            <a:r>
              <a:t>Déconnecter ou fermer une ou plusieurs sessions</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18</a:t>
            </a:fld>
            <a:endParaRPr lang="fr-B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L’impression : la problématique</a:t>
            </a:r>
          </a:p>
        </p:txBody>
      </p:sp>
      <p:sp>
        <p:nvSpPr>
          <p:cNvPr id="6" name="Espace réservé du contenu 2"/>
          <p:cNvSpPr>
            <a:spLocks noGrp="1"/>
          </p:cNvSpPr>
          <p:nvPr>
            <p:ph idx="1"/>
          </p:nvPr>
        </p:nvSpPr>
        <p:spPr/>
        <p:txBody>
          <a:bodyPr/>
          <a:lstStyle/>
          <a:p>
            <a:pPr lvl="0"/>
            <a:r>
              <a:t>Les pilotes des imprimantes des utilisateurs ne sont pas installés sur les hôtes</a:t>
            </a:r>
          </a:p>
          <a:p>
            <a:pPr lvl="0"/>
            <a:r>
              <a:t>Chaque pilote constructeur ajouté fragilise le serveur</a:t>
            </a:r>
          </a:p>
          <a:p>
            <a:pPr lvl="0"/>
            <a:r>
              <a:t>Les imprimantes changent selon le lieu de connexion de l’utilisateur</a:t>
            </a:r>
          </a:p>
          <a:p>
            <a:pPr lvl="0"/>
            <a:r>
              <a:t>Les travaux d’impression consomment de la bande passante</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19</a:t>
            </a:fld>
            <a:endParaRPr lang="fr-B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 solution : Easy Print</a:t>
            </a:r>
          </a:p>
        </p:txBody>
      </p:sp>
      <p:sp>
        <p:nvSpPr>
          <p:cNvPr id="6" name="Espace réservé du contenu 2"/>
          <p:cNvSpPr>
            <a:spLocks noGrp="1"/>
          </p:cNvSpPr>
          <p:nvPr>
            <p:ph idx="1"/>
          </p:nvPr>
        </p:nvSpPr>
        <p:spPr/>
        <p:txBody>
          <a:bodyPr/>
          <a:lstStyle/>
          <a:p>
            <a:pPr lvl="0"/>
            <a:r>
              <a:t>Redirection transparente des imprimantes du poste client</a:t>
            </a:r>
          </a:p>
          <a:p>
            <a:pPr lvl="0"/>
            <a:r>
              <a:t>Aucun pilote constructeur à installer sur les hôtes</a:t>
            </a:r>
          </a:p>
          <a:p>
            <a:pPr lvl="0"/>
            <a:r>
              <a:t>Un pilote universel fourni par Windows sur l’hôte de session</a:t>
            </a:r>
          </a:p>
          <a:p>
            <a:pPr lvl="0"/>
            <a:r>
              <a:t>Le rendu final est réalisé par le pilote du poste client</a:t>
            </a:r>
          </a:p>
          <a:p>
            <a:pPr lvl="0"/>
            <a:r>
              <a:t>Toutes les options de l’imprimante restent accessibles dans la session</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20</a:t>
            </a:fld>
            <a:endParaRPr lang="fr-B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Easy Print : le parcours d’une impression</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21</a:t>
            </a:fld>
            <a:endParaRPr lang="fr-BE"/>
          </a:p>
        </p:txBody>
      </p:sp>
      <p:sp>
        <p:nvSpPr>
          <p:cNvPr id="13" name="Rounded Rectangle 12"/>
          <p:cNvSpPr/>
          <p:nvPr/>
        </p:nvSpPr>
        <p:spPr>
          <a:xfrm>
            <a:off x="288000" y="1728000"/>
            <a:ext cx="3816000" cy="4104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60000" y="1746000"/>
            <a:ext cx="3672000" cy="216000"/>
          </a:xfrm>
          <a:prstGeom prst="rect">
            <a:avLst/>
          </a:prstGeom>
          <a:noFill/>
        </p:spPr>
        <p:txBody>
          <a:bodyPr wrap="square" lIns="43200" tIns="18000" rIns="43200" bIns="18000" anchor="ctr">
            <a:spAutoFit/>
          </a:bodyPr>
          <a:lstStyle/>
          <a:p>
            <a:pPr algn="l"/>
            <a:r>
              <a:rPr sz="900" b="1">
                <a:solidFill>
                  <a:srgbClr val="A5A5A5"/>
                </a:solidFill>
                <a:latin typeface="Corbel"/>
              </a:rPr>
              <a:t>Hôte de session</a:t>
            </a:r>
          </a:p>
        </p:txBody>
      </p:sp>
      <p:sp>
        <p:nvSpPr>
          <p:cNvPr id="15" name="Rounded Rectangle 14"/>
          <p:cNvSpPr/>
          <p:nvPr/>
        </p:nvSpPr>
        <p:spPr>
          <a:xfrm>
            <a:off x="540000" y="2160000"/>
            <a:ext cx="3312000" cy="792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Application</a:t>
            </a:r>
          </a:p>
          <a:p>
            <a:pPr algn="ctr"/>
            <a:r>
              <a:rPr sz="950" b="0">
                <a:solidFill>
                  <a:srgbClr val="44546A"/>
                </a:solidFill>
                <a:latin typeface="Corbel"/>
              </a:rPr>
              <a:t>Imprimer</a:t>
            </a:r>
          </a:p>
        </p:txBody>
      </p:sp>
      <p:sp>
        <p:nvSpPr>
          <p:cNvPr id="16" name="Rounded Rectangle 15"/>
          <p:cNvSpPr/>
          <p:nvPr/>
        </p:nvSpPr>
        <p:spPr>
          <a:xfrm>
            <a:off x="540000" y="3744000"/>
            <a:ext cx="3312000" cy="792000"/>
          </a:xfrm>
          <a:prstGeom prst="roundRect">
            <a:avLst>
              <a:gd name="adj" fmla="val 8000"/>
            </a:avLst>
          </a:prstGeom>
          <a:solidFill>
            <a:srgbClr val="5B9BD5"/>
          </a:solidFill>
          <a:ln w="15875">
            <a:solidFill>
              <a:srgbClr val="2E5F8A"/>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FFFFFF"/>
                </a:solidFill>
                <a:latin typeface="Corbel"/>
              </a:rPr>
              <a:t>Pilote Easy Print</a:t>
            </a:r>
          </a:p>
          <a:p>
            <a:pPr algn="ctr"/>
            <a:r>
              <a:rPr sz="950" b="0">
                <a:solidFill>
                  <a:srgbClr val="FFFFFF"/>
                </a:solidFill>
                <a:latin typeface="Corbel"/>
              </a:rPr>
              <a:t>pilote universel de Windows</a:t>
            </a:r>
          </a:p>
        </p:txBody>
      </p:sp>
      <p:sp>
        <p:nvSpPr>
          <p:cNvPr id="17" name="Down Arrow 16"/>
          <p:cNvSpPr/>
          <p:nvPr/>
        </p:nvSpPr>
        <p:spPr>
          <a:xfrm>
            <a:off x="2070000" y="3024000"/>
            <a:ext cx="252000" cy="648000"/>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Rounded Rectangle 17"/>
          <p:cNvSpPr/>
          <p:nvPr/>
        </p:nvSpPr>
        <p:spPr>
          <a:xfrm>
            <a:off x="5040000" y="1728000"/>
            <a:ext cx="3816000" cy="4104000"/>
          </a:xfrm>
          <a:prstGeom prst="roundRect">
            <a:avLst>
              <a:gd name="adj" fmla="val 3000"/>
            </a:avLst>
          </a:prstGeom>
          <a:noFill/>
          <a:ln w="12700">
            <a:solidFill>
              <a:srgbClr val="A5A5A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112000" y="1746000"/>
            <a:ext cx="3672000" cy="216000"/>
          </a:xfrm>
          <a:prstGeom prst="rect">
            <a:avLst/>
          </a:prstGeom>
          <a:noFill/>
        </p:spPr>
        <p:txBody>
          <a:bodyPr wrap="square" lIns="43200" tIns="18000" rIns="43200" bIns="18000" anchor="ctr">
            <a:spAutoFit/>
          </a:bodyPr>
          <a:lstStyle/>
          <a:p>
            <a:pPr algn="l"/>
            <a:r>
              <a:rPr sz="900" b="1">
                <a:solidFill>
                  <a:srgbClr val="A5A5A5"/>
                </a:solidFill>
                <a:latin typeface="Corbel"/>
              </a:rPr>
              <a:t>Poste client</a:t>
            </a:r>
          </a:p>
        </p:txBody>
      </p:sp>
      <p:sp>
        <p:nvSpPr>
          <p:cNvPr id="20" name="Rounded Rectangle 19"/>
          <p:cNvSpPr/>
          <p:nvPr/>
        </p:nvSpPr>
        <p:spPr>
          <a:xfrm>
            <a:off x="5292000" y="2016000"/>
            <a:ext cx="3312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Client RDP</a:t>
            </a:r>
          </a:p>
          <a:p>
            <a:pPr algn="ctr"/>
            <a:r>
              <a:rPr sz="950" b="0">
                <a:solidFill>
                  <a:srgbClr val="44546A"/>
                </a:solidFill>
                <a:latin typeface="Corbel"/>
              </a:rPr>
              <a:t>reçoit le travail</a:t>
            </a:r>
          </a:p>
        </p:txBody>
      </p:sp>
      <p:sp>
        <p:nvSpPr>
          <p:cNvPr id="21" name="Rounded Rectangle 20"/>
          <p:cNvSpPr/>
          <p:nvPr/>
        </p:nvSpPr>
        <p:spPr>
          <a:xfrm>
            <a:off x="5292000" y="3240000"/>
            <a:ext cx="3312000" cy="720000"/>
          </a:xfrm>
          <a:prstGeom prst="roundRect">
            <a:avLst>
              <a:gd name="adj" fmla="val 8000"/>
            </a:avLst>
          </a:prstGeom>
          <a:solidFill>
            <a:srgbClr val="FFFFFF"/>
          </a:solidFill>
          <a:ln w="15875">
            <a:solidFill>
              <a:srgbClr val="5B9BD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Pilote de l'imprimante</a:t>
            </a:r>
          </a:p>
          <a:p>
            <a:pPr algn="ctr"/>
            <a:r>
              <a:rPr sz="950" b="0">
                <a:solidFill>
                  <a:srgbClr val="44546A"/>
                </a:solidFill>
                <a:latin typeface="Corbel"/>
              </a:rPr>
              <a:t>pilote local du poste</a:t>
            </a:r>
          </a:p>
        </p:txBody>
      </p:sp>
      <p:sp>
        <p:nvSpPr>
          <p:cNvPr id="22" name="Rounded Rectangle 21"/>
          <p:cNvSpPr/>
          <p:nvPr/>
        </p:nvSpPr>
        <p:spPr>
          <a:xfrm>
            <a:off x="5292000" y="4464000"/>
            <a:ext cx="3312000" cy="720000"/>
          </a:xfrm>
          <a:prstGeom prst="roundRect">
            <a:avLst>
              <a:gd name="adj" fmla="val 8000"/>
            </a:avLst>
          </a:prstGeom>
          <a:solidFill>
            <a:srgbClr val="E7E6E6"/>
          </a:solidFill>
          <a:ln w="15875">
            <a:solidFill>
              <a:srgbClr val="A5A5A5"/>
            </a:solidFill>
          </a:ln>
          <a:effectLst/>
        </p:spPr>
        <p:style>
          <a:lnRef idx="1">
            <a:schemeClr val="accent1"/>
          </a:lnRef>
          <a:fillRef idx="3">
            <a:schemeClr val="accent1"/>
          </a:fillRef>
          <a:effectRef idx="2">
            <a:schemeClr val="accent1"/>
          </a:effectRef>
          <a:fontRef idx="minor">
            <a:schemeClr val="lt1"/>
          </a:fontRef>
        </p:style>
        <p:txBody>
          <a:bodyPr wrap="square" lIns="43200" tIns="18000" rIns="43200" bIns="18000" rtlCol="0" anchor="ctr"/>
          <a:lstStyle/>
          <a:p>
            <a:pPr algn="ctr"/>
            <a:r>
              <a:rPr sz="1200" b="1">
                <a:solidFill>
                  <a:srgbClr val="44546A"/>
                </a:solidFill>
                <a:latin typeface="Corbel"/>
              </a:rPr>
              <a:t>Imprimante locale</a:t>
            </a:r>
          </a:p>
          <a:p>
            <a:pPr algn="ctr"/>
            <a:r>
              <a:rPr sz="950" b="0">
                <a:solidFill>
                  <a:srgbClr val="44546A"/>
                </a:solidFill>
                <a:latin typeface="Corbel"/>
              </a:rPr>
              <a:t>Microsoft Print to PDF</a:t>
            </a:r>
          </a:p>
        </p:txBody>
      </p:sp>
      <p:sp>
        <p:nvSpPr>
          <p:cNvPr id="23" name="Down Arrow 22"/>
          <p:cNvSpPr/>
          <p:nvPr/>
        </p:nvSpPr>
        <p:spPr>
          <a:xfrm>
            <a:off x="6822000" y="2772000"/>
            <a:ext cx="252000" cy="432000"/>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Down Arrow 23"/>
          <p:cNvSpPr/>
          <p:nvPr/>
        </p:nvSpPr>
        <p:spPr>
          <a:xfrm>
            <a:off x="6822000" y="3996000"/>
            <a:ext cx="252000" cy="432000"/>
          </a:xfrm>
          <a:prstGeom prst="downArrow">
            <a:avLst/>
          </a:prstGeom>
          <a:solidFill>
            <a:srgbClr val="A5A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25" name="Connector 24"/>
          <p:cNvCxnSpPr/>
          <p:nvPr/>
        </p:nvCxnSpPr>
        <p:spPr>
          <a:xfrm flipV="1">
            <a:off x="3852000" y="2376000"/>
            <a:ext cx="1440000" cy="1764000"/>
          </a:xfrm>
          <a:prstGeom prst="line">
            <a:avLst/>
          </a:prstGeom>
          <a:ln w="15875">
            <a:solidFill>
              <a:srgbClr val="5B9BD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104000" y="3186000"/>
            <a:ext cx="936000" cy="252000"/>
          </a:xfrm>
          <a:prstGeom prst="rect">
            <a:avLst/>
          </a:prstGeom>
          <a:noFill/>
        </p:spPr>
        <p:txBody>
          <a:bodyPr wrap="square" lIns="43200" tIns="18000" rIns="43200" bIns="18000" anchor="ctr">
            <a:spAutoFit/>
          </a:bodyPr>
          <a:lstStyle/>
          <a:p>
            <a:pPr algn="ctr"/>
            <a:r>
              <a:rPr sz="900" b="0">
                <a:solidFill>
                  <a:srgbClr val="44546A"/>
                </a:solidFill>
                <a:latin typeface="Corbel"/>
              </a:rPr>
              <a:t>canal RDP</a:t>
            </a:r>
          </a:p>
        </p:txBody>
      </p:sp>
      <p:sp>
        <p:nvSpPr>
          <p:cNvPr id="27" name="TextBox 26"/>
          <p:cNvSpPr txBox="1"/>
          <p:nvPr/>
        </p:nvSpPr>
        <p:spPr>
          <a:xfrm>
            <a:off x="288000" y="5976000"/>
            <a:ext cx="8568000" cy="324000"/>
          </a:xfrm>
          <a:prstGeom prst="rect">
            <a:avLst/>
          </a:prstGeom>
          <a:noFill/>
        </p:spPr>
        <p:txBody>
          <a:bodyPr wrap="square" lIns="43200" tIns="18000" rIns="43200" bIns="18000" anchor="ctr">
            <a:spAutoFit/>
          </a:bodyPr>
          <a:lstStyle/>
          <a:p>
            <a:pPr algn="ctr"/>
            <a:r>
              <a:rPr sz="1050" b="0" i="1">
                <a:solidFill>
                  <a:srgbClr val="A5A5A5"/>
                </a:solidFill>
                <a:latin typeface="Corbel"/>
              </a:rPr>
              <a:t>Aucun pilote constructeur n'est installé sur l'hôte de session.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Easy Print : la mise en œuvre</a:t>
            </a:r>
          </a:p>
        </p:txBody>
      </p:sp>
      <p:sp>
        <p:nvSpPr>
          <p:cNvPr id="6" name="Espace réservé du contenu 2"/>
          <p:cNvSpPr>
            <a:spLocks noGrp="1"/>
          </p:cNvSpPr>
          <p:nvPr>
            <p:ph idx="1"/>
          </p:nvPr>
        </p:nvSpPr>
        <p:spPr/>
        <p:txBody>
          <a:bodyPr/>
          <a:lstStyle/>
          <a:p>
            <a:pPr lvl="0"/>
            <a:r>
              <a:t>Activé par défaut</a:t>
            </a:r>
          </a:p>
          <a:p>
            <a:pPr lvl="0"/>
            <a:r>
              <a:t>Stratégie d’impression</a:t>
            </a:r>
          </a:p>
          <a:p>
            <a:pPr lvl="1"/>
            <a:r>
              <a:t>Easy Print d’abord, puis le pilote de l’imprimante (défaut)</a:t>
            </a:r>
          </a:p>
          <a:p>
            <a:pPr lvl="1"/>
            <a:r>
              <a:t>ou pilote de l’imprimante d’abord, puis Easy Print</a:t>
            </a:r>
          </a:p>
          <a:p>
            <a:pPr lvl="0"/>
            <a:r>
              <a:t>Option : ne rediriger que l’imprimante par défaut du client</a:t>
            </a:r>
          </a:p>
          <a:p>
            <a:pPr lvl="0"/>
            <a:r>
              <a:t>Pour les imprimantes réseau : serveur d’impression et pilotes de classe</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22</a:t>
            </a:fld>
            <a:endParaRPr lang="fr-B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 fin des pilotes d’impression tiers</a:t>
            </a:r>
          </a:p>
        </p:txBody>
      </p:sp>
      <p:sp>
        <p:nvSpPr>
          <p:cNvPr id="6" name="Espace réservé du contenu 2"/>
          <p:cNvSpPr>
            <a:spLocks noGrp="1"/>
          </p:cNvSpPr>
          <p:nvPr>
            <p:ph idx="1"/>
          </p:nvPr>
        </p:nvSpPr>
        <p:spPr/>
        <p:txBody>
          <a:bodyPr/>
          <a:lstStyle/>
          <a:p>
            <a:pPr lvl="0"/>
            <a:r>
              <a:t>Fin de maintenance des pilotes constructeurs v3 et v4</a:t>
            </a:r>
          </a:p>
          <a:p>
            <a:pPr lvl="0"/>
            <a:r>
              <a:t>Depuis janvier 2026, nouveaux pilotes pour Windows Server 2025 signés au cas par cas</a:t>
            </a:r>
          </a:p>
          <a:p>
            <a:pPr lvl="0"/>
            <a:r>
              <a:t>Windows protected print mode : supprime les pilotes tiers</a:t>
            </a:r>
          </a:p>
          <a:p>
            <a:pPr lvl="0"/>
            <a:r>
              <a:t>Cible : imprimantes compatibles Mopria et pilote de classe IPP</a:t>
            </a:r>
          </a:p>
          <a:p>
            <a:pPr lvl="0"/>
            <a:r>
              <a:t>Inventorier le parc d’imprimantes et privilégier les modèles compatibles Mopria</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23</a:t>
            </a:fld>
            <a:endParaRPr lang="fr-B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Microsoft 365 Apps sur un hôte de session</a:t>
            </a:r>
          </a:p>
        </p:txBody>
      </p:sp>
      <p:sp>
        <p:nvSpPr>
          <p:cNvPr id="6" name="Espace réservé du contenu 2"/>
          <p:cNvSpPr>
            <a:spLocks noGrp="1"/>
          </p:cNvSpPr>
          <p:nvPr>
            <p:ph idx="1"/>
          </p:nvPr>
        </p:nvSpPr>
        <p:spPr/>
        <p:txBody>
          <a:bodyPr/>
          <a:lstStyle/>
          <a:p>
            <a:pPr lvl="0"/>
            <a:r>
              <a:t>Installation par l’outil de déploiement d’Office</a:t>
            </a:r>
          </a:p>
          <a:p>
            <a:pPr lvl="0"/>
            <a:r>
              <a:t>Activation d’ordinateur partagé obligatoire : </a:t>
            </a:r>
            <a:r>
              <a:rPr>
                <a:latin typeface="Courier"/>
              </a:rPr>
              <a:t>SharedComputerLicensing = 1</a:t>
            </a:r>
          </a:p>
          <a:p>
            <a:pPr lvl="0"/>
            <a:r>
              <a:t>Plan Microsoft 365 Apps for enterprise ou Business Premium</a:t>
            </a:r>
          </a:p>
          <a:p>
            <a:pPr lvl="0"/>
            <a:r>
              <a:t>Pris en charge sur Windows Server 2025 jusqu’en octobre 2029</a:t>
            </a:r>
          </a:p>
          <a:p>
            <a:pPr lvl="0"/>
            <a:r>
              <a:t>Accès Internet requis pour l’activation et son renouvellement</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24</a:t>
            </a:fld>
            <a:endParaRPr lang="fr-B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Microsoft Teams dans RDS</a:t>
            </a:r>
          </a:p>
        </p:txBody>
      </p:sp>
      <p:sp>
        <p:nvSpPr>
          <p:cNvPr id="6" name="Espace réservé du contenu 2"/>
          <p:cNvSpPr>
            <a:spLocks noGrp="1"/>
          </p:cNvSpPr>
          <p:nvPr>
            <p:ph idx="1"/>
          </p:nvPr>
        </p:nvSpPr>
        <p:spPr/>
        <p:txBody>
          <a:bodyPr/>
          <a:lstStyle/>
          <a:p>
            <a:pPr lvl="0"/>
            <a:r>
              <a:t>Pris en charge sur RDS Windows Server 2022 et 2025 pour la conversation et la collaboration</a:t>
            </a:r>
          </a:p>
          <a:p>
            <a:pPr lvl="0"/>
            <a:r>
              <a:t>Appels et réunions non optimisés : rendu audio et vidéo sur le serveur</a:t>
            </a:r>
          </a:p>
          <a:p>
            <a:pPr lvl="0"/>
            <a:r>
              <a:t>Recommandation : stratégies Teams </a:t>
            </a:r>
            <a:r>
              <a:rPr>
                <a:latin typeface="Courier"/>
              </a:rPr>
              <a:t>DisallowCalling</a:t>
            </a:r>
            <a:r>
              <a:t> et </a:t>
            </a:r>
            <a:r>
              <a:rPr>
                <a:latin typeface="Courier"/>
              </a:rPr>
              <a:t>AllOff</a:t>
            </a:r>
          </a:p>
          <a:p>
            <a:pPr lvl="0"/>
            <a:r>
              <a:t>Optimisation média certifiée uniquement sur AVD, Windows 365, Citrix, Omnissa et Amazon</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25</a:t>
            </a:fld>
            <a:endParaRPr lang="fr-BE"/>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L’accélération graphique</a:t>
            </a:r>
          </a:p>
        </p:txBody>
      </p:sp>
      <p:graphicFrame>
        <p:nvGraphicFramePr>
          <p:cNvPr id="6" name="Content Placeholder 5"/>
          <p:cNvGraphicFramePr>
            <a:graphicFrameLocks noGrp="1"/>
          </p:cNvGraphicFramePr>
          <p:nvPr>
            <p:ph idx="1"/>
          </p:nvPr>
        </p:nvGraphicFramePr>
        <p:xfrm>
          <a:off x="63500" y="1498600"/>
          <a:ext cx="8991600" cy="4927600"/>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20000"/>
                    </a:ext>
                  </a:extLst>
                </a:gridCol>
                <a:gridCol w="2997200">
                  <a:extLst>
                    <a:ext uri="{9D8B030D-6E8A-4147-A177-3AD203B41FA5}">
                      <a16:colId xmlns:a16="http://schemas.microsoft.com/office/drawing/2014/main" val="20001"/>
                    </a:ext>
                  </a:extLst>
                </a:gridCol>
                <a:gridCol w="2997200">
                  <a:extLst>
                    <a:ext uri="{9D8B030D-6E8A-4147-A177-3AD203B41FA5}">
                      <a16:colId xmlns:a16="http://schemas.microsoft.com/office/drawing/2014/main" val="20002"/>
                    </a:ext>
                  </a:extLst>
                </a:gridCol>
              </a:tblGrid>
              <a:tr h="0">
                <a:tc>
                  <a:txBody>
                    <a:bodyPr/>
                    <a:lstStyle/>
                    <a:p>
                      <a:pPr marL="0" lvl="0" indent="0">
                        <a:buNone/>
                      </a:pPr>
                      <a:r>
                        <a:t>Technologie</a:t>
                      </a:r>
                    </a:p>
                  </a:txBody>
                  <a:tcPr/>
                </a:tc>
                <a:tc>
                  <a:txBody>
                    <a:bodyPr/>
                    <a:lstStyle/>
                    <a:p>
                      <a:pPr marL="0" lvl="0" indent="0">
                        <a:buNone/>
                      </a:pPr>
                      <a:r>
                        <a:t>Principe</a:t>
                      </a:r>
                    </a:p>
                  </a:txBody>
                  <a:tcPr/>
                </a:tc>
                <a:tc>
                  <a:txBody>
                    <a:bodyPr/>
                    <a:lstStyle/>
                    <a:p>
                      <a:pPr marL="0" lvl="0" indent="0">
                        <a:buNone/>
                      </a:pPr>
                      <a:r>
                        <a:t>Usage</a:t>
                      </a:r>
                    </a:p>
                  </a:txBody>
                  <a:tcPr/>
                </a:tc>
                <a:extLst>
                  <a:ext uri="{0D108BD9-81ED-4DB2-BD59-A6C34878D82A}">
                    <a16:rowId xmlns:a16="http://schemas.microsoft.com/office/drawing/2014/main" val="10000"/>
                  </a:ext>
                </a:extLst>
              </a:tr>
              <a:tr h="0">
                <a:tc>
                  <a:txBody>
                    <a:bodyPr/>
                    <a:lstStyle/>
                    <a:p>
                      <a:pPr marL="0" lvl="0" indent="0">
                        <a:buNone/>
                      </a:pPr>
                      <a:r>
                        <a:t>GPU physique de l’hôte de session</a:t>
                      </a:r>
                    </a:p>
                  </a:txBody>
                  <a:tcPr/>
                </a:tc>
                <a:tc>
                  <a:txBody>
                    <a:bodyPr/>
                    <a:lstStyle/>
                    <a:p>
                      <a:pPr marL="0" lvl="0" indent="0">
                        <a:buNone/>
                      </a:pPr>
                      <a:r>
                        <a:t>Toutes les sessions partagent le GPU</a:t>
                      </a:r>
                    </a:p>
                  </a:txBody>
                  <a:tcPr/>
                </a:tc>
                <a:tc>
                  <a:txBody>
                    <a:bodyPr/>
                    <a:lstStyle/>
                    <a:p>
                      <a:pPr marL="0" lvl="0" indent="0">
                        <a:buNone/>
                      </a:pPr>
                      <a:r>
                        <a:t>Hôte RDS physique</a:t>
                      </a:r>
                    </a:p>
                  </a:txBody>
                  <a:tcPr/>
                </a:tc>
                <a:extLst>
                  <a:ext uri="{0D108BD9-81ED-4DB2-BD59-A6C34878D82A}">
                    <a16:rowId xmlns:a16="http://schemas.microsoft.com/office/drawing/2014/main" val="10001"/>
                  </a:ext>
                </a:extLst>
              </a:tr>
              <a:tr h="0">
                <a:tc>
                  <a:txBody>
                    <a:bodyPr/>
                    <a:lstStyle/>
                    <a:p>
                      <a:pPr marL="0" lvl="0" indent="0">
                        <a:buNone/>
                      </a:pPr>
                      <a:r>
                        <a:t>Discrete Device Assignment</a:t>
                      </a:r>
                    </a:p>
                  </a:txBody>
                  <a:tcPr/>
                </a:tc>
                <a:tc>
                  <a:txBody>
                    <a:bodyPr/>
                    <a:lstStyle/>
                    <a:p>
                      <a:pPr marL="0" lvl="0" indent="0">
                        <a:buNone/>
                      </a:pPr>
                      <a:r>
                        <a:t>Un GPU entier attribué à une machine virtuelle</a:t>
                      </a:r>
                    </a:p>
                  </a:txBody>
                  <a:tcPr/>
                </a:tc>
                <a:tc>
                  <a:txBody>
                    <a:bodyPr/>
                    <a:lstStyle/>
                    <a:p>
                      <a:pPr marL="0" lvl="0" indent="0">
                        <a:buNone/>
                      </a:pPr>
                      <a:r>
                        <a:t>Charges graphiques lourdes</a:t>
                      </a:r>
                    </a:p>
                  </a:txBody>
                  <a:tcPr/>
                </a:tc>
                <a:extLst>
                  <a:ext uri="{0D108BD9-81ED-4DB2-BD59-A6C34878D82A}">
                    <a16:rowId xmlns:a16="http://schemas.microsoft.com/office/drawing/2014/main" val="10002"/>
                  </a:ext>
                </a:extLst>
              </a:tr>
              <a:tr h="0">
                <a:tc>
                  <a:txBody>
                    <a:bodyPr/>
                    <a:lstStyle/>
                    <a:p>
                      <a:pPr marL="0" lvl="0" indent="0">
                        <a:buNone/>
                      </a:pPr>
                      <a:r>
                        <a:t>Partitionnement de GPU (GPU-P)</a:t>
                      </a:r>
                    </a:p>
                  </a:txBody>
                  <a:tcPr/>
                </a:tc>
                <a:tc>
                  <a:txBody>
                    <a:bodyPr/>
                    <a:lstStyle/>
                    <a:p>
                      <a:pPr marL="0" lvl="0" indent="0">
                        <a:buNone/>
                      </a:pPr>
                      <a:r>
                        <a:t>Un GPU découpé entre plusieurs machines virtuelles</a:t>
                      </a:r>
                    </a:p>
                  </a:txBody>
                  <a:tcPr/>
                </a:tc>
                <a:tc>
                  <a:txBody>
                    <a:bodyPr/>
                    <a:lstStyle/>
                    <a:p>
                      <a:pPr marL="0" lvl="0" indent="0">
                        <a:buNone/>
                      </a:pPr>
                      <a:r>
                        <a:t>VDI et hôtes virtualisés</a:t>
                      </a:r>
                    </a:p>
                  </a:txBody>
                  <a:tcPr/>
                </a:tc>
                <a:extLst>
                  <a:ext uri="{0D108BD9-81ED-4DB2-BD59-A6C34878D82A}">
                    <a16:rowId xmlns:a16="http://schemas.microsoft.com/office/drawing/2014/main" val="10003"/>
                  </a:ext>
                </a:extLst>
              </a:tr>
            </a:tbl>
          </a:graphicData>
        </a:graphic>
      </p:graphicFrame>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26</a:t>
            </a:fld>
            <a:endParaRPr lang="fr-B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Atelier 2 – FSLogix et stratégies de groupe</a:t>
            </a:r>
          </a:p>
        </p:txBody>
      </p:sp>
      <p:sp>
        <p:nvSpPr>
          <p:cNvPr id="6" name="Espace réservé du contenu 2"/>
          <p:cNvSpPr>
            <a:spLocks noGrp="1"/>
          </p:cNvSpPr>
          <p:nvPr>
            <p:ph idx="1"/>
          </p:nvPr>
        </p:nvSpPr>
        <p:spPr/>
        <p:txBody>
          <a:bodyPr/>
          <a:lstStyle/>
          <a:p>
            <a:pPr lvl="0"/>
            <a:r>
              <a:t>Régler les permissions du partage </a:t>
            </a:r>
            <a:r>
              <a:rPr>
                <a:latin typeface="Courier"/>
              </a:rPr>
              <a:t>\\RDS-DC1\ProfilDisk</a:t>
            </a:r>
          </a:p>
          <a:p>
            <a:pPr lvl="0"/>
            <a:r>
              <a:t>Déployer FSLogix sur les quatre hôtes de session</a:t>
            </a:r>
          </a:p>
          <a:p>
            <a:pPr lvl="0"/>
            <a:r>
              <a:t>Créer la stratégie </a:t>
            </a:r>
            <a:r>
              <a:rPr>
                <a:latin typeface="Courier"/>
              </a:rPr>
              <a:t>GPO RD Sessions</a:t>
            </a:r>
            <a:r>
              <a:t> : limites, redirections, impression, contrôle à distance</a:t>
            </a:r>
          </a:p>
          <a:p>
            <a:pPr lvl="0"/>
            <a:r>
              <a:t>Ouvrir une session </a:t>
            </a:r>
            <a:r>
              <a:rPr>
                <a:latin typeface="Courier"/>
              </a:rPr>
              <a:t>lthobois</a:t>
            </a:r>
            <a:r>
              <a:t> sur un hôte, puis sur l’autre</a:t>
            </a:r>
          </a:p>
          <a:p>
            <a:pPr lvl="0"/>
            <a:r>
              <a:t>Vérifier la redirection Easy Print et prendre le contrôle d’une session</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27</a:t>
            </a:fld>
            <a:endParaRPr lang="fr-BE"/>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Avez-vous des questions ?</a:t>
            </a:r>
          </a:p>
        </p:txBody>
      </p:sp>
      <p:sp>
        <p:nvSpPr>
          <p:cNvPr id="12" name="Espace réservé du numéro de diapositive 11"/>
          <p:cNvSpPr>
            <a:spLocks noGrp="1"/>
          </p:cNvSpPr>
          <p:nvPr>
            <p:ph type="sldNum" sz="quarter" idx="10"/>
          </p:nvPr>
        </p:nvSpPr>
        <p:spPr/>
        <p:txBody>
          <a:bodyPr/>
          <a:lstStyle/>
          <a:p>
            <a:fld id="{CF4668DC-857F-487D-BFFA-8C0CA5037977}" type="slidenum">
              <a:rPr lang="fr-BE" smtClean="0"/>
              <a:pPr/>
              <a:t>28</a:t>
            </a:fld>
            <a:endParaRPr lang="fr-BE"/>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èle EGILI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extLst>
    <a:ext uri="{05A4C25C-085E-4340-85A3-A5531E510DB2}">
      <thm15:themeFamily xmlns:thm15="http://schemas.microsoft.com/office/thememl/2012/main" name="_EGILIA-Template.potx" id="{308816F5-4877-444A-9C2E-10E8B589F71D}" vid="{A8E82A1B-84CC-4282-8223-F7357AEA6CE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2566</Words>
  <Application>Microsoft Office PowerPoint</Application>
  <PresentationFormat>Affichage à l'écran (4:3)</PresentationFormat>
  <Paragraphs>323</Paragraphs>
  <Slides>28</Slides>
  <Notes>27</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28</vt:i4>
      </vt:variant>
    </vt:vector>
  </HeadingPairs>
  <TitlesOfParts>
    <vt:vector size="36" baseType="lpstr">
      <vt:lpstr>Arial</vt:lpstr>
      <vt:lpstr>Calibri</vt:lpstr>
      <vt:lpstr>Corbel</vt:lpstr>
      <vt:lpstr>Courier</vt:lpstr>
      <vt:lpstr>Wingdings</vt:lpstr>
      <vt:lpstr>Wingdings 2</vt:lpstr>
      <vt:lpstr>Wingdings 3</vt:lpstr>
      <vt:lpstr>Modèle EGILIA</vt:lpstr>
      <vt:lpstr>Module 3 : Expérience utilisateur</vt:lpstr>
      <vt:lpstr>Agenda</vt:lpstr>
      <vt:lpstr>La montée en charge des hôtes de session</vt:lpstr>
      <vt:lpstr>L’administration à distance d’un serveur</vt:lpstr>
      <vt:lpstr>La configuration des serveurs</vt:lpstr>
      <vt:lpstr>La configuration des utilisateurs</vt:lpstr>
      <vt:lpstr>Le problème des profils en ferme</vt:lpstr>
      <vt:lpstr>Deux approches par disque virtuel</vt:lpstr>
      <vt:lpstr>Les composants de FSLogix</vt:lpstr>
      <vt:lpstr>Le conteneur de profil FSLogix</vt:lpstr>
      <vt:lpstr>Mettre en place FSLogix</vt:lpstr>
      <vt:lpstr>Droits d’usage et prérequis</vt:lpstr>
      <vt:lpstr>Points d’attention FSLogix</vt:lpstr>
      <vt:lpstr>Collection ou stratégie de groupe</vt:lpstr>
      <vt:lpstr>Ce que centralise la stratégie de groupe</vt:lpstr>
      <vt:lpstr>Les limites de session</vt:lpstr>
      <vt:lpstr>Les redirections</vt:lpstr>
      <vt:lpstr>L’administration des sessions</vt:lpstr>
      <vt:lpstr>L’impression : la problématique</vt:lpstr>
      <vt:lpstr>La solution : Easy Print</vt:lpstr>
      <vt:lpstr>Easy Print : le parcours d’une impression</vt:lpstr>
      <vt:lpstr>Easy Print : la mise en œuvre</vt:lpstr>
      <vt:lpstr>La fin des pilotes d’impression tiers</vt:lpstr>
      <vt:lpstr>Microsoft 365 Apps sur un hôte de session</vt:lpstr>
      <vt:lpstr>Microsoft Teams dans RDS</vt:lpstr>
      <vt:lpstr>L’accélération graphique</vt:lpstr>
      <vt:lpstr>Atelier 2 – FSLogix et stratégies de groupe</vt:lpstr>
      <vt:lpstr>Avez-vous des questions ?</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emplate>EGILIA-Template%20v2.5</Template>
  <TotalTime>0</TotalTime>
  <Words>0</Words>
  <Application>Microsoft Office PowerPoint</Application>
  <PresentationFormat>Affichage à l'écran (4:3)</PresentationFormat>
  <Paragraphs>0</Paragraphs>
  <Slides>0</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0</vt:i4>
      </vt:variant>
    </vt:vector>
  </HeadingPairs>
  <TitlesOfParts>
    <vt:vector size="7" baseType="lpstr">
      <vt:lpstr>Arial</vt:lpstr>
      <vt:lpstr>Calibri</vt:lpstr>
      <vt:lpstr>Corbel</vt:lpstr>
      <vt:lpstr>Wingdings</vt:lpstr>
      <vt:lpstr>Wingdings 2</vt:lpstr>
      <vt:lpstr>Wingdings 3</vt:lpstr>
      <vt:lpstr>Modèle EGILIA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revision>1</cp:revision>
  <dcterms:created xsi:type="dcterms:W3CDTF">2026-09-22T19:57:06Z</dcterms:created>
  <dcterms:modified xsi:type="dcterms:W3CDTF">2026-09-23T08:54:24Z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ion">
    <vt:lpwstr>Remote Desktop Services sous Windows Server 2025</vt:lpwstr>
  </property>
</Properties>
</file>