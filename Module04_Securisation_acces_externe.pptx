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57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FF6600"/>
    <a:srgbClr val="003366"/>
    <a:srgbClr val="1C40A4"/>
    <a:srgbClr val="B481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37" autoAdjust="0"/>
  </p:normalViewPr>
  <p:slideViewPr>
    <p:cSldViewPr>
      <p:cViewPr varScale="1">
        <p:scale>
          <a:sx n="144" d="100"/>
          <a:sy n="144" d="100"/>
        </p:scale>
        <p:origin x="17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32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7F6F-E004-4414-8178-04C7568A565A}" type="datetimeFigureOut">
              <a:rPr lang="fr-FR" smtClean="0"/>
              <a:pPr/>
              <a:t>23/09/2026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274BD-2225-430E-B195-718FE1CD5BB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654560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première partie protège la plateforme de l’intérieur ; la seconde l’ouvre vers Internet sans l’exposer.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Rappeler qu’il ne faut jamais exposer directement le port 3389 sur Internet : l’accès externe passe par la passerelle, traitée dans la seconde partie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Ces trois leviers structurent la première partie du module. La passerelle ajoute ensuite un contrôle d’accès en bordure du réseau.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Certains clients anciens ou certaines cartes à puce sur macOS imposent de désactiver NLA : c’est un compromis de sécurité à documenter et à limiter à une collection dédiée.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Ces modes concernent d’abord les connexions d’administration vers les serveurs, pas les sessions des utilisateurs. Ils protègent contre le vol d’identifiants sur un serveur déjà compromis.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Remote Credential Guard est à privilégier lorsque l’administrateur doit accéder à d’autres ressources depuis la session. Vérifier les conditions d’utilisation à travers la passerelle avant de l’imposer.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Ces changements renforcent la sécurité mais peuvent bloquer des configurations existantes : un NAS qui ne sait pas signer, une application qui s’authentifie en NTLM, un fichier RDP avec identifiants enregistrés. Ils sont à tester sur un hôte pilote avant la mise en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Les rôles se nomment </a:t>
            </a:r>
            <a:r>
              <a:rPr>
                <a:latin typeface="Courier"/>
              </a:rPr>
              <a:t>RDRedirector</a:t>
            </a:r>
            <a:r>
              <a:t>, </a:t>
            </a:r>
            <a:r>
              <a:rPr>
                <a:latin typeface="Courier"/>
              </a:rPr>
              <a:t>RDPublishing</a:t>
            </a:r>
            <a:r>
              <a:t>, </a:t>
            </a:r>
            <a:r>
              <a:rPr>
                <a:latin typeface="Courier"/>
              </a:rPr>
              <a:t>RDWebAccess</a:t>
            </a:r>
            <a:r>
              <a:t> et </a:t>
            </a:r>
            <a:r>
              <a:rPr>
                <a:latin typeface="Courier"/>
              </a:rPr>
              <a:t>RDGateway</a:t>
            </a:r>
            <a:r>
              <a:t> dans PowerShell. Le même certificat peut couvrir les quatre usages s’il porte les noms nécessaires.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En laboratoire, </a:t>
            </a:r>
            <a:r>
              <a:rPr>
                <a:latin typeface="Courier"/>
              </a:rPr>
              <a:t>rds.avaedos.lan</a:t>
            </a:r>
            <a:r>
              <a:t> et l’autorité interne RDS-CA suffisent. En production, l’accès externe utilise un nom public et un certificat d’une autorité publique : les postes personnels et les appareils mobiles ne font pas confiance à l’autorité interne.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>
                <a:latin typeface="Courier"/>
              </a:rPr>
              <a:t>Get-RDCertificate</a:t>
            </a:r>
            <a:r>
              <a:t> doit afficher le niveau Trusted pour chaque rôle. Un certificat non approuvé provoque des avertissements pour l’utilisateur, et bloque le client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Les fichiers RDP piégés sont utilisés dans des campagnes d’hameçonnage : un fichier envoyé par courriel connecte l’utilisateur à un serveur contrôlé par l’attaquant avec ses lecteurs redirigés.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Captures de la signature côté serveur et côté client, à refaire sous Windows Server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Bloquer les fichiers non signés sur les postes est une mesure simple et efficace contre les fichiers RDP piégés. Chez Avaedos, la stratégie </a:t>
            </a:r>
            <a:r>
              <a:rPr>
                <a:latin typeface="Courier"/>
              </a:rPr>
              <a:t>GPO RD Clients SSO</a:t>
            </a:r>
            <a:r>
              <a:t> approuve l’empreinte du certificat de publication.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trois cas de fichier RDP et la réaction du client, du plus sûr au bloqué.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Avec l’empreinte du certificat de publication approuvée par stratégie, les RemoteApp d’Avaedos s’ouvrent sans avertissement.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Chemin : Configuration ordinateur, Modèles d’administration, Système, Délégation des informations d’identification.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Credential Guard, activé par défaut sur les postes Windows 11 éligibles, empêche la délégation des identifiants par défaut : si le SSO ne fonctionne pas, vérifier son état dans </a:t>
            </a:r>
            <a:r>
              <a:rPr>
                <a:latin typeface="Courier"/>
              </a:rPr>
              <a:t>msinfo32</a:t>
            </a:r>
            <a: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Si le port UDP 3391 n’est pas ouvert, la connexion fonctionne en HTTPS seul, avec une expérience moins fluide sur les liens à latence élevée.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le client encapsule RDP dans HTTPS jusqu’à la passerelle, qui l’extrait et le transmet en RDP aux hôtes internes.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Seule la passerelle est exposée : les hôtes de session ne sont jamais joignables directement depuis Internet.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 proxy d’application Microsoft Entra permet aussi de publier l’accès Web et la passerelle ; Web Application Proxy n’est pas pris en charge avec 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les clients externes (domicile, hôtel, partenaire) traversent le pare-feu externe jusqu’à la passerelle en DMZ, qui atteint les hôtes internes à travers le pare-feu interne.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Variante courante : la passerelle reste dans le réseau interne derrière un reverse proxy ou un équilibreur de charge qui termine ou relaie le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Schéma : une demande de connexion traverse d’abord la CAP, puis la RAP ; un refus à l’une ou l’autre bloque la connexion.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Le stockage sur un serveur NPS central permet de partager les CAP entre plusieurs passerelles, et d’ajouter l’authentification multifacteur.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Capture du Gestionnaire de la passerelle RDS à refaire sous Windows Server 2025.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Dans un déploiement RDS, la RAP s’appuie sur un groupe de ressources géré par le Connection Broker : il contient les hôtes des collections.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L’ajout au déploiement crée des stratégies CAP et RAP par défaut, trop larges : elles sont à restreindre aux groupes autorisés, comme le fait l’atelier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C’est la première attente sécurité des clients qui exposent RDS sur Internet. Traiter ce point en démonstration : il nécessite un tenant Microsoft Entra.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Procédure et modes de vérification pris en charge à revalider sur la documentation en vigueur au moment de la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passerelle et l’accès Web sont exposés à Internet : ce sont les premiers serveurs à mettre à jour. Les journaux de la passerelle indiquent pour chaque connexion l’utilisateur, l’adresse source et la ressource 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Résultat attendu : Loïc THOBOIS se connecte depuis le poste externe, sans accès direct au réseau interne, et la connexion apparaît dans le journal </a:t>
            </a:r>
            <a:r>
              <a:rPr>
                <a:latin typeface="Courier"/>
              </a:rPr>
              <a:t>TerminalServices-Gateway</a:t>
            </a:r>
            <a:r>
              <a:t>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Vérification complémentaire : un utilisateur hors du groupe autorisé est refusé par la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Faire lister les points de défaillance de la plateforme construite jusqu’ici : ils introduisent le module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274BD-2225-430E-B195-718FE1CD5BBA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 anchor="ctr"/>
          <a:lstStyle>
            <a:lvl1pPr marL="0" algn="r" defTabSz="914400" rtl="0" eaLnBrk="1" latinLnBrk="0" hangingPunct="1">
              <a:defRPr lang="fr-FR" sz="2800" b="0" kern="1200" cap="none" spc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fr-FR" dirty="0"/>
              <a:t>MODULE : Titre du module</a:t>
            </a:r>
          </a:p>
        </p:txBody>
      </p:sp>
      <p:sp>
        <p:nvSpPr>
          <p:cNvPr id="7" name="Espace réservé du pied de page 13"/>
          <p:cNvSpPr txBox="1">
            <a:spLocks/>
          </p:cNvSpPr>
          <p:nvPr userDrawn="1"/>
        </p:nvSpPr>
        <p:spPr>
          <a:xfrm>
            <a:off x="6000728" y="6476998"/>
            <a:ext cx="3070678" cy="381002"/>
          </a:xfrm>
          <a:prstGeom prst="rect">
            <a:avLst/>
          </a:prstGeom>
        </p:spPr>
        <p:txBody>
          <a:bodyPr anchor="ctr" anchorCtr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cs typeface="Arial" pitchFamily="34" charset="0"/>
              </a:rPr>
              <a:t>Copyright © AVAEDOS. All rights reserved</a:t>
            </a:r>
            <a:endParaRPr kumimoji="0" lang="fr-BE" sz="1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71406" y="5893635"/>
            <a:ext cx="9000000" cy="360000"/>
          </a:xfrm>
        </p:spPr>
        <p:txBody>
          <a:bodyPr>
            <a:noAutofit/>
          </a:bodyPr>
          <a:lstStyle>
            <a:lvl1pPr marL="0" indent="0" algn="r" defTabSz="900000">
              <a:buNone/>
              <a:defRPr lang="en-US" sz="1600" b="1" kern="1200" dirty="0" smtClean="0">
                <a:solidFill>
                  <a:srgbClr val="FF990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defRPr sz="1100" b="1"/>
            </a:lvl2pPr>
            <a:lvl3pPr>
              <a:defRPr sz="105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fr-FR" noProof="0" dirty="0"/>
              <a:t>Titre de la formation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0" y="5759"/>
            <a:ext cx="9144000" cy="5057265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4" grpId="0" build="p">
        <p:tmplLst>
          <p:tmpl lvl="1">
            <p:tnLst>
              <p:par>
                <p:cTn presetID="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71406" y="1500174"/>
            <a:ext cx="9001188" cy="4929221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gauche et 2 blocs à dro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492922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8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colonne à droite et 2 blocs à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49292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1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2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13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haut et 2 blocs en b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14"/>
          </p:nvPr>
        </p:nvSpPr>
        <p:spPr>
          <a:xfrm>
            <a:off x="4750388" y="400050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, 1 ligne en bas et 2 blocs en ha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5" name="Espace réservé du contenu 2"/>
          <p:cNvSpPr>
            <a:spLocks noGrp="1"/>
          </p:cNvSpPr>
          <p:nvPr>
            <p:ph sz="half" idx="13"/>
          </p:nvPr>
        </p:nvSpPr>
        <p:spPr>
          <a:xfrm>
            <a:off x="71406" y="4000504"/>
            <a:ext cx="9001188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6" name="Espace réservé du contenu 2"/>
          <p:cNvSpPr>
            <a:spLocks noGrp="1"/>
          </p:cNvSpPr>
          <p:nvPr>
            <p:ph sz="half" idx="1"/>
          </p:nvPr>
        </p:nvSpPr>
        <p:spPr>
          <a:xfrm>
            <a:off x="71406" y="1500174"/>
            <a:ext cx="4320000" cy="2428892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  <p:sp>
        <p:nvSpPr>
          <p:cNvPr id="7" name="Espace réservé du contenu 3"/>
          <p:cNvSpPr>
            <a:spLocks noGrp="1"/>
          </p:cNvSpPr>
          <p:nvPr>
            <p:ph sz="half" idx="2"/>
          </p:nvPr>
        </p:nvSpPr>
        <p:spPr>
          <a:xfrm>
            <a:off x="4750388" y="1500174"/>
            <a:ext cx="4320000" cy="242889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27556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noProof="0" dirty="0"/>
              <a:t>Avez-vous des questions ?</a:t>
            </a:r>
          </a:p>
        </p:txBody>
      </p:sp>
      <p:pic>
        <p:nvPicPr>
          <p:cNvPr id="4" name="Picture 5" descr="questionmark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407" y="1500188"/>
            <a:ext cx="4929187" cy="492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13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9"/>
          <p:cNvGrpSpPr/>
          <p:nvPr userDrawn="1"/>
        </p:nvGrpSpPr>
        <p:grpSpPr>
          <a:xfrm>
            <a:off x="285720" y="428604"/>
            <a:ext cx="8643998" cy="5929354"/>
            <a:chOff x="285720" y="428604"/>
            <a:chExt cx="8643998" cy="5929354"/>
          </a:xfrm>
        </p:grpSpPr>
        <p:pic>
          <p:nvPicPr>
            <p:cNvPr id="5" name="Picture 4" descr="C:\Users\EGILIAlearning\Desktop\EGILIA ACADEMY Marie\LOGOS\fond diplome.jp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285720" y="428604"/>
              <a:ext cx="8643998" cy="592935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Rectangle 71"/>
            <p:cNvSpPr>
              <a:spLocks noChangeArrowheads="1"/>
            </p:cNvSpPr>
            <p:nvPr/>
          </p:nvSpPr>
          <p:spPr bwMode="auto">
            <a:xfrm>
              <a:off x="1285853" y="1214422"/>
              <a:ext cx="6715172" cy="4429156"/>
            </a:xfrm>
            <a:prstGeom prst="rect">
              <a:avLst/>
            </a:prstGeom>
            <a:solidFill>
              <a:srgbClr val="FFFFFF"/>
            </a:solidFill>
            <a:ln w="12700" algn="ctr">
              <a:solidFill>
                <a:srgbClr val="80808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8" name="Rectangle 2"/>
          <p:cNvSpPr txBox="1">
            <a:spLocks noChangeArrowheads="1"/>
          </p:cNvSpPr>
          <p:nvPr userDrawn="1"/>
        </p:nvSpPr>
        <p:spPr bwMode="auto">
          <a:xfrm>
            <a:off x="1357290" y="2691466"/>
            <a:ext cx="6586538" cy="553998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3000" b="1" dirty="0">
                <a:latin typeface="Arial" pitchFamily="34" charset="0"/>
                <a:cs typeface="Arial" pitchFamily="34" charset="0"/>
              </a:rPr>
              <a:t>Félicitations</a:t>
            </a:r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1357290" y="4383107"/>
            <a:ext cx="6586538" cy="928694"/>
          </a:xfrm>
        </p:spPr>
        <p:txBody>
          <a:bodyPr/>
          <a:lstStyle>
            <a:lvl1pPr algn="ctr">
              <a:defRPr b="0" i="0" baseline="0">
                <a:ln w="18415" cmpd="sng">
                  <a:noFill/>
                  <a:prstDash val="solid"/>
                </a:ln>
                <a:solidFill>
                  <a:srgbClr val="FF9900"/>
                </a:solidFill>
                <a:effectLst>
                  <a:reflection blurRad="6350" stA="55000" endA="50" endPos="85000" dir="5400000" sy="-100000" algn="bl" rotWithShape="0"/>
                </a:effectLst>
              </a:defRPr>
            </a:lvl1pPr>
          </a:lstStyle>
          <a:p>
            <a:pPr algn="ctr">
              <a:spcBef>
                <a:spcPct val="50000"/>
              </a:spcBef>
            </a:pPr>
            <a:r>
              <a:rPr lang="fr-FR" sz="3200" b="1" dirty="0">
                <a:solidFill>
                  <a:srgbClr val="FF9900"/>
                </a:solidFill>
                <a:latin typeface="Arial" pitchFamily="34" charset="0"/>
                <a:cs typeface="Arial" pitchFamily="34" charset="0"/>
              </a:rPr>
              <a:t>Titre du Module</a:t>
            </a:r>
            <a:endParaRPr lang="fr-FR" sz="3200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Text Box 77"/>
          <p:cNvSpPr txBox="1">
            <a:spLocks noChangeArrowheads="1"/>
          </p:cNvSpPr>
          <p:nvPr userDrawn="1"/>
        </p:nvSpPr>
        <p:spPr bwMode="auto">
          <a:xfrm>
            <a:off x="1928024" y="3429000"/>
            <a:ext cx="5329237" cy="954107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2800" u="none" dirty="0">
                <a:latin typeface="Arial" pitchFamily="34" charset="0"/>
                <a:cs typeface="Arial" pitchFamily="34" charset="0"/>
              </a:rPr>
              <a:t>Vous avez suivi avec succès le module</a:t>
            </a:r>
            <a:endParaRPr lang="fr-FR" sz="3200" u="none" dirty="0">
              <a:solidFill>
                <a:srgbClr val="FF99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588" y="1635622"/>
            <a:ext cx="4033636" cy="1498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31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5760"/>
            <a:ext cx="9144000" cy="135153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Picture 10" descr="C:\Users\EGILIAlearning\Desktop\EGILIA ACADEMY Marie\LOGOS\Essai bandeau bas 1.png"/>
          <p:cNvPicPr>
            <a:picLocks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500834"/>
            <a:ext cx="9144000" cy="360000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 userDrawn="1"/>
        </p:nvSpPr>
        <p:spPr>
          <a:xfrm>
            <a:off x="0" y="6596390"/>
            <a:ext cx="9144000" cy="26161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noProof="0" dirty="0">
                <a:solidFill>
                  <a:schemeClr val="bg1"/>
                </a:solidFill>
              </a:rPr>
              <a:t>Copyright © AVAEDOS. All rights reserved</a:t>
            </a:r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71406" y="428604"/>
            <a:ext cx="7715304" cy="928694"/>
          </a:xfrm>
          <a:prstGeom prst="rect">
            <a:avLst/>
          </a:prstGeom>
          <a:noFill/>
        </p:spPr>
        <p:txBody>
          <a:bodyPr vert="horz" lIns="91440" rIns="45720" rtlCol="0" anchor="ctr">
            <a:noAutofit/>
          </a:bodyPr>
          <a:lstStyle/>
          <a:p>
            <a:r>
              <a:rPr kumimoji="0" lang="fr-FR" dirty="0"/>
              <a:t>Cliquez pour modifier le style du titre</a:t>
            </a:r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1406" y="1500174"/>
            <a:ext cx="9001188" cy="4929222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fr-FR" dirty="0"/>
              <a:t>Cliquez pour modifier les styles du texte du masque</a:t>
            </a:r>
          </a:p>
          <a:p>
            <a:pPr lvl="1" eaLnBrk="1" latinLnBrk="0" hangingPunct="1"/>
            <a:r>
              <a:rPr kumimoji="0" lang="fr-FR" dirty="0"/>
              <a:t>Deuxième niveau</a:t>
            </a:r>
          </a:p>
          <a:p>
            <a:pPr lvl="2" eaLnBrk="1" latinLnBrk="0" hangingPunct="1"/>
            <a:r>
              <a:rPr kumimoji="0" lang="fr-FR" dirty="0"/>
              <a:t>Troisième niveau</a:t>
            </a:r>
          </a:p>
          <a:p>
            <a:pPr lvl="3" eaLnBrk="1" latinLnBrk="0" hangingPunct="1"/>
            <a:r>
              <a:rPr kumimoji="0" lang="fr-FR" dirty="0"/>
              <a:t>Quatrième niveau</a:t>
            </a:r>
          </a:p>
          <a:p>
            <a:pPr lvl="4" eaLnBrk="1" latinLnBrk="0" hangingPunct="1"/>
            <a:r>
              <a:rPr kumimoji="0" lang="fr-FR" dirty="0"/>
              <a:t>Cinquième niveau</a:t>
            </a:r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38730" y="6593556"/>
            <a:ext cx="733864" cy="21429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bg1"/>
                </a:solidFill>
              </a:defRPr>
            </a:lvl1pPr>
            <a:extLst/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871" y="44624"/>
            <a:ext cx="1490633" cy="55395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504136"/>
            <a:ext cx="971600" cy="3610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1" r:id="rId3"/>
    <p:sldLayoutId id="2147484063" r:id="rId4"/>
    <p:sldLayoutId id="2147484068" r:id="rId5"/>
    <p:sldLayoutId id="2147484062" r:id="rId6"/>
    <p:sldLayoutId id="2147484069" r:id="rId7"/>
    <p:sldLayoutId id="2147484070" r:id="rId8"/>
    <p:sldLayoutId id="2147484071" r:id="rId9"/>
    <p:sldLayoutId id="2147484074" r:id="rId10"/>
    <p:sldLayoutId id="2147484073" r:id="rId11"/>
    <p:sldLayoutId id="2147484072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b="0" kern="1200" cap="none" spc="0">
          <a:ln w="18415" cmpd="sng">
            <a:solidFill>
              <a:srgbClr val="FFFFFF"/>
            </a:solidFill>
            <a:prstDash val="solid"/>
          </a:ln>
          <a:solidFill>
            <a:srgbClr val="FFFFFF"/>
          </a:solidFill>
          <a:effectLst>
            <a:outerShdw blurRad="63500" dir="36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re 18"/>
          <p:cNvSpPr>
            <a:spLocks noGrp="1"/>
          </p:cNvSpPr>
          <p:nvPr>
            <p:ph type="title" hasCustomPrompt="1"/>
          </p:nvPr>
        </p:nvSpPr>
        <p:spPr>
          <a:xfrm>
            <a:off x="71406" y="5286388"/>
            <a:ext cx="9001188" cy="571504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0" lvl="0" indent="0">
              <a:buNone/>
            </a:pPr>
            <a:r>
              <a:t>Module 4 : Sécurisation et accès externe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Remote Desktop Services sous Windows Server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Agenda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Les risques d’une infrastructure RDS</a:t>
            </a:r>
          </a:p>
          <a:p>
            <a:pPr lvl="0"/>
            <a:r>
              <a:t>Sécuriser l’authentification</a:t>
            </a:r>
          </a:p>
          <a:p>
            <a:pPr lvl="0"/>
            <a:r>
              <a:t>Les durcissements de Windows Server 2025</a:t>
            </a:r>
          </a:p>
          <a:p>
            <a:pPr lvl="0"/>
            <a:r>
              <a:t>Certificats et signature des fichiers RDP</a:t>
            </a:r>
          </a:p>
          <a:p>
            <a:pPr lvl="0"/>
            <a:r>
              <a:t>Authentification unique</a:t>
            </a:r>
          </a:p>
          <a:p>
            <a:pPr lvl="0"/>
            <a:r>
              <a:t>La passerelle des services Bureau à distance</a:t>
            </a:r>
          </a:p>
          <a:p>
            <a:pPr lvl="0"/>
            <a:r>
              <a:t>Stratégies d’accès CAP et RAP</a:t>
            </a:r>
          </a:p>
          <a:p>
            <a:pPr lvl="0"/>
            <a:r>
              <a:t>Authentification multifacteur et durcissement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Pourquoi RDS est une cible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 hôte de session concentre les sessions de nombreux utilisateurs</a:t>
            </a:r>
          </a:p>
          <a:p>
            <a:pPr lvl="0"/>
            <a:r>
              <a:t>Des identifiants de comptes privilégiés y transitent</a:t>
            </a:r>
          </a:p>
          <a:p>
            <a:pPr lvl="0"/>
            <a:r>
              <a:t>RDP exposé sur Internet est une porte d’entrée classique des rançongiciels</a:t>
            </a:r>
          </a:p>
          <a:p>
            <a:pPr lvl="0"/>
            <a:r>
              <a:t>Les redirections ouvrent des canaux entre poste et serveur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leviers de sécurisation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Authentification au niveau du réseau (NLA)</a:t>
            </a:r>
          </a:p>
          <a:p>
            <a:pPr lvl="1"/>
            <a:r>
              <a:t>authentification avant la création de la session</a:t>
            </a:r>
          </a:p>
          <a:p>
            <a:pPr lvl="0"/>
            <a:r>
              <a:t>Stratégies de groupe</a:t>
            </a:r>
          </a:p>
          <a:p>
            <a:pPr lvl="1"/>
            <a:r>
              <a:t>paramètres locaux ou de domaine</a:t>
            </a:r>
          </a:p>
          <a:p>
            <a:pPr lvl="0"/>
            <a:r>
              <a:t>Certificats</a:t>
            </a:r>
          </a:p>
          <a:p>
            <a:pPr lvl="1"/>
            <a:r>
              <a:t>applications : signature des fichiers RDP</a:t>
            </a:r>
          </a:p>
          <a:p>
            <a:pPr lvl="1"/>
            <a:r>
              <a:t>connexion : identité des serveurs, TLS</a:t>
            </a:r>
          </a:p>
          <a:p>
            <a:pPr lvl="1"/>
            <a:r>
              <a:t>données : chiffrement du protocole RDP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L’authentification au niveau du réseau (NLA)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L’utilisateur s’authentifie avant la création de la session</a:t>
            </a:r>
          </a:p>
          <a:p>
            <a:pPr lvl="0"/>
            <a:r>
              <a:t>Évite de consommer des ressources pour des connexions non authentifiées</a:t>
            </a:r>
          </a:p>
          <a:p>
            <a:pPr lvl="0"/>
            <a:r>
              <a:t>Réduit la surface d’attaque de l’écran d’ouverture de session</a:t>
            </a:r>
          </a:p>
          <a:p>
            <a:pPr lvl="0"/>
            <a:r>
              <a:t>Activée par défaut sur les collections : ne pas la désactiver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Protéger les identifiants des administrateurs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Principe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Limite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Classique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Les identifiants sont transmis au serveur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Récupérables sur un serveur compromis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Restricted Admin (</a:t>
                      </a:r>
                      <a:r>
                        <a:rPr>
                          <a:latin typeface="Courier"/>
                        </a:rPr>
                        <a:t>mstsc /restrictedAdmin</a:t>
                      </a:r>
                      <a: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Aucun identifiant réutilisable envoyé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L’administrateur n’accède pas au réseau depuis la session sous son identité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Remote Credential Guard (</a:t>
                      </a:r>
                      <a:r>
                        <a:rPr>
                          <a:latin typeface="Courier"/>
                        </a:rPr>
                        <a:t>mstsc /remoteGuard</a:t>
                      </a:r>
                      <a: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Les demandes Kerberos sont renvoyées au poste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Kerberos obligatoire, poste et serveur compatibles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durcissements par défaut de Windows Server 2025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Signature SMB </a:t>
            </a:r>
            <a:r>
              <a:rPr dirty="0" err="1"/>
              <a:t>exigée</a:t>
            </a:r>
            <a:r>
              <a:rPr dirty="0"/>
              <a:t> pour </a:t>
            </a:r>
            <a:r>
              <a:rPr dirty="0" err="1"/>
              <a:t>toutes</a:t>
            </a:r>
            <a:r>
              <a:rPr dirty="0"/>
              <a:t> les </a:t>
            </a:r>
            <a:r>
              <a:rPr dirty="0" err="1"/>
              <a:t>connexions</a:t>
            </a:r>
            <a:endParaRPr dirty="0"/>
          </a:p>
          <a:p>
            <a:pPr lvl="1"/>
            <a:r>
              <a:rPr dirty="0"/>
              <a:t>partages de </a:t>
            </a:r>
            <a:r>
              <a:rPr dirty="0" err="1"/>
              <a:t>profils</a:t>
            </a:r>
            <a:r>
              <a:rPr dirty="0"/>
              <a:t>, scripts, partages </a:t>
            </a:r>
            <a:r>
              <a:rPr dirty="0" err="1"/>
              <a:t>applicatifs</a:t>
            </a:r>
            <a:endParaRPr dirty="0"/>
          </a:p>
          <a:p>
            <a:pPr lvl="0"/>
            <a:r>
              <a:rPr dirty="0" err="1"/>
              <a:t>Blocage</a:t>
            </a:r>
            <a:r>
              <a:rPr dirty="0"/>
              <a:t> NTLM configurable pour SMB</a:t>
            </a:r>
          </a:p>
          <a:p>
            <a:pPr lvl="0"/>
            <a:r>
              <a:rPr dirty="0"/>
              <a:t>Limitation du </a:t>
            </a:r>
            <a:r>
              <a:rPr dirty="0" err="1"/>
              <a:t>débit</a:t>
            </a:r>
            <a:r>
              <a:rPr dirty="0"/>
              <a:t> des </a:t>
            </a:r>
            <a:r>
              <a:rPr dirty="0" err="1"/>
              <a:t>tentatives</a:t>
            </a:r>
            <a:r>
              <a:rPr dirty="0"/>
              <a:t> </a:t>
            </a:r>
            <a:r>
              <a:rPr dirty="0" err="1"/>
              <a:t>d’authentification</a:t>
            </a:r>
            <a:r>
              <a:rPr dirty="0"/>
              <a:t> SMB</a:t>
            </a:r>
          </a:p>
          <a:p>
            <a:pPr lvl="0"/>
            <a:r>
              <a:rPr dirty="0"/>
              <a:t>Credential Guard : état à </a:t>
            </a:r>
            <a:r>
              <a:rPr dirty="0" err="1"/>
              <a:t>vérifier</a:t>
            </a:r>
            <a:r>
              <a:rPr dirty="0"/>
              <a:t> sur les </a:t>
            </a:r>
            <a:r>
              <a:rPr dirty="0" err="1"/>
              <a:t>hôtes</a:t>
            </a:r>
            <a:r>
              <a:rPr dirty="0"/>
              <a:t> et les </a:t>
            </a:r>
            <a:r>
              <a:rPr dirty="0" err="1"/>
              <a:t>postes</a:t>
            </a:r>
            <a:endParaRPr dirty="0"/>
          </a:p>
          <a:p>
            <a:pPr lvl="1"/>
            <a:r>
              <a:rPr dirty="0" err="1"/>
              <a:t>effet</a:t>
            </a:r>
            <a:r>
              <a:rPr dirty="0"/>
              <a:t> sur </a:t>
            </a:r>
            <a:r>
              <a:rPr dirty="0" err="1"/>
              <a:t>l’authentification</a:t>
            </a:r>
            <a:r>
              <a:rPr dirty="0"/>
              <a:t> unique et les </a:t>
            </a:r>
            <a:r>
              <a:rPr dirty="0" err="1"/>
              <a:t>identifiants</a:t>
            </a:r>
            <a:r>
              <a:rPr dirty="0"/>
              <a:t> </a:t>
            </a:r>
            <a:r>
              <a:rPr dirty="0" err="1"/>
              <a:t>enregistrés</a:t>
            </a:r>
            <a:endParaRPr dirty="0"/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certificats d’un déploiement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63500" y="1498600"/>
          <a:ext cx="8991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9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9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Rôle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Usage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Connection Broker – authentification unique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Authentification unique vers les hôtes de session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Connection Broker – publication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Signature des fichiers RDP et des RemoteApp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Accès Web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Portail, client web, flux d’abonnement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Passerelle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Tunnel HTTPS depuis Internet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Affecter les certificats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indent="0">
              <a:buNone/>
            </a:pPr>
            <a:r>
              <a:rPr sz="2400" dirty="0">
                <a:solidFill>
                  <a:srgbClr val="19177C"/>
                </a:solidFill>
                <a:latin typeface="Courier"/>
              </a:rPr>
              <a:t>$</a:t>
            </a:r>
            <a:r>
              <a:rPr sz="2400" dirty="0" err="1">
                <a:solidFill>
                  <a:srgbClr val="19177C"/>
                </a:solidFill>
                <a:latin typeface="Courier"/>
              </a:rPr>
              <a:t>mdp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=</a:t>
            </a:r>
            <a:r>
              <a:rPr sz="2400" dirty="0">
                <a:latin typeface="Courier"/>
              </a:rPr>
              <a:t> </a:t>
            </a:r>
            <a:r>
              <a:rPr sz="2400" dirty="0" err="1">
                <a:solidFill>
                  <a:srgbClr val="06287E"/>
                </a:solidFill>
                <a:latin typeface="Courier"/>
              </a:rPr>
              <a:t>ConvertTo-SecureString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"P@ssw0rd"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 err="1">
                <a:latin typeface="Courier"/>
              </a:rPr>
              <a:t>AsPlainText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>
                <a:latin typeface="Courier"/>
              </a:rPr>
              <a:t>Force</a:t>
            </a:r>
            <a:br>
              <a:rPr sz="2400" dirty="0"/>
            </a:br>
            <a:r>
              <a:rPr sz="2400" b="1" dirty="0">
                <a:solidFill>
                  <a:srgbClr val="007020"/>
                </a:solidFill>
                <a:latin typeface="Courier"/>
              </a:rPr>
              <a:t>foreach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(</a:t>
            </a:r>
            <a:r>
              <a:rPr sz="2400" dirty="0">
                <a:solidFill>
                  <a:srgbClr val="19177C"/>
                </a:solidFill>
                <a:latin typeface="Courier"/>
              </a:rPr>
              <a:t>$role</a:t>
            </a:r>
            <a:r>
              <a:rPr sz="2400" dirty="0">
                <a:latin typeface="Courier"/>
              </a:rPr>
              <a:t> </a:t>
            </a:r>
            <a:r>
              <a:rPr sz="2400" b="1" dirty="0">
                <a:solidFill>
                  <a:srgbClr val="007020"/>
                </a:solidFill>
                <a:latin typeface="Courier"/>
              </a:rPr>
              <a:t>in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 err="1">
                <a:solidFill>
                  <a:srgbClr val="4070A0"/>
                </a:solidFill>
                <a:latin typeface="Courier"/>
              </a:rPr>
              <a:t>RDRedirector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>
                <a:solidFill>
                  <a:srgbClr val="666666"/>
                </a:solidFill>
                <a:latin typeface="Courier"/>
              </a:rPr>
              <a:t>,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 err="1">
                <a:solidFill>
                  <a:srgbClr val="4070A0"/>
                </a:solidFill>
                <a:latin typeface="Courier"/>
              </a:rPr>
              <a:t>RDPublishing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>
                <a:solidFill>
                  <a:srgbClr val="666666"/>
                </a:solidFill>
                <a:latin typeface="Courier"/>
              </a:rPr>
              <a:t>,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 err="1">
                <a:solidFill>
                  <a:srgbClr val="4070A0"/>
                </a:solidFill>
                <a:latin typeface="Courier"/>
              </a:rPr>
              <a:t>RDWebAccess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>
                <a:solidFill>
                  <a:srgbClr val="666666"/>
                </a:solidFill>
                <a:latin typeface="Courier"/>
              </a:rPr>
              <a:t>,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 err="1">
                <a:solidFill>
                  <a:srgbClr val="4070A0"/>
                </a:solidFill>
                <a:latin typeface="Courier"/>
              </a:rPr>
              <a:t>RDGateway</a:t>
            </a:r>
            <a:r>
              <a:rPr sz="2400" dirty="0">
                <a:solidFill>
                  <a:srgbClr val="4070A0"/>
                </a:solidFill>
                <a:latin typeface="Courier"/>
              </a:rPr>
              <a:t>"</a:t>
            </a:r>
            <a:r>
              <a:rPr sz="2400" dirty="0">
                <a:solidFill>
                  <a:srgbClr val="666666"/>
                </a:solidFill>
                <a:latin typeface="Courier"/>
              </a:rPr>
              <a:t>)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{</a:t>
            </a:r>
            <a:br>
              <a:rPr sz="2400" dirty="0"/>
            </a:br>
            <a:r>
              <a:rPr sz="2400" dirty="0">
                <a:latin typeface="Courier"/>
              </a:rPr>
              <a:t>    Set-</a:t>
            </a:r>
            <a:r>
              <a:rPr sz="2400" dirty="0" err="1">
                <a:latin typeface="Courier"/>
              </a:rPr>
              <a:t>RDCertificate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>
                <a:latin typeface="Courier"/>
              </a:rPr>
              <a:t>Role </a:t>
            </a:r>
            <a:r>
              <a:rPr sz="2400" dirty="0">
                <a:solidFill>
                  <a:srgbClr val="19177C"/>
                </a:solidFill>
                <a:latin typeface="Courier"/>
              </a:rPr>
              <a:t>$role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 err="1">
                <a:latin typeface="Courier"/>
              </a:rPr>
              <a:t>ImportPath</a:t>
            </a:r>
            <a:r>
              <a:rPr sz="2400" dirty="0">
                <a:latin typeface="Courier"/>
              </a:rPr>
              <a:t> C</a:t>
            </a:r>
            <a:r>
              <a:rPr sz="2400" dirty="0">
                <a:solidFill>
                  <a:srgbClr val="666666"/>
                </a:solidFill>
                <a:latin typeface="Courier"/>
              </a:rPr>
              <a:t>:</a:t>
            </a:r>
            <a:r>
              <a:rPr sz="2400" dirty="0">
                <a:latin typeface="Courier"/>
              </a:rPr>
              <a:t>\Certificats\rds-avaedos</a:t>
            </a:r>
            <a:r>
              <a:rPr sz="2400" dirty="0">
                <a:solidFill>
                  <a:srgbClr val="666666"/>
                </a:solidFill>
                <a:latin typeface="Courier"/>
              </a:rPr>
              <a:t>.</a:t>
            </a:r>
            <a:r>
              <a:rPr sz="2400" dirty="0">
                <a:solidFill>
                  <a:srgbClr val="06287E"/>
                </a:solidFill>
                <a:latin typeface="Courier"/>
              </a:rPr>
              <a:t>pfx</a:t>
            </a:r>
            <a:r>
              <a:rPr sz="2400" dirty="0">
                <a:latin typeface="Courier"/>
              </a:rPr>
              <a:t> `</a:t>
            </a:r>
            <a:br>
              <a:rPr sz="2400" dirty="0"/>
            </a:br>
            <a:r>
              <a:rPr sz="2400" dirty="0">
                <a:latin typeface="Courier"/>
              </a:rPr>
              <a:t>       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>
                <a:latin typeface="Courier"/>
              </a:rPr>
              <a:t>Password </a:t>
            </a:r>
            <a:r>
              <a:rPr sz="2400" dirty="0">
                <a:solidFill>
                  <a:srgbClr val="19177C"/>
                </a:solidFill>
                <a:latin typeface="Courier"/>
              </a:rPr>
              <a:t>$</a:t>
            </a:r>
            <a:r>
              <a:rPr sz="2400" dirty="0" err="1">
                <a:solidFill>
                  <a:srgbClr val="19177C"/>
                </a:solidFill>
                <a:latin typeface="Courier"/>
              </a:rPr>
              <a:t>mdp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 err="1">
                <a:latin typeface="Courier"/>
              </a:rPr>
              <a:t>ConnectionBroker</a:t>
            </a:r>
            <a:r>
              <a:rPr sz="2400" dirty="0">
                <a:latin typeface="Courier"/>
              </a:rPr>
              <a:t> RDS-CBROKER1</a:t>
            </a:r>
            <a:r>
              <a:rPr sz="2400" dirty="0">
                <a:solidFill>
                  <a:srgbClr val="666666"/>
                </a:solidFill>
                <a:latin typeface="Courier"/>
              </a:rPr>
              <a:t>.</a:t>
            </a:r>
            <a:r>
              <a:rPr sz="24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2400" dirty="0">
                <a:solidFill>
                  <a:srgbClr val="666666"/>
                </a:solidFill>
                <a:latin typeface="Courier"/>
              </a:rPr>
              <a:t>.</a:t>
            </a:r>
            <a:r>
              <a:rPr sz="2400" dirty="0">
                <a:solidFill>
                  <a:srgbClr val="06287E"/>
                </a:solidFill>
                <a:latin typeface="Courier"/>
              </a:rPr>
              <a:t>lan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>
                <a:latin typeface="Courier"/>
              </a:rPr>
              <a:t>Force</a:t>
            </a:r>
            <a:br>
              <a:rPr sz="2400" dirty="0"/>
            </a:br>
            <a:r>
              <a:rPr sz="2400" dirty="0">
                <a:solidFill>
                  <a:srgbClr val="666666"/>
                </a:solidFill>
                <a:latin typeface="Courier"/>
              </a:rPr>
              <a:t>}</a:t>
            </a:r>
            <a:br>
              <a:rPr sz="2400" dirty="0"/>
            </a:br>
            <a:r>
              <a:rPr sz="2400" dirty="0">
                <a:latin typeface="Courier"/>
              </a:rPr>
              <a:t>Get-</a:t>
            </a:r>
            <a:r>
              <a:rPr sz="2400" dirty="0" err="1">
                <a:latin typeface="Courier"/>
              </a:rPr>
              <a:t>RDCertificate</a:t>
            </a:r>
            <a:r>
              <a:rPr sz="2400" dirty="0">
                <a:latin typeface="Courier"/>
              </a:rPr>
              <a:t> </a:t>
            </a:r>
            <a:r>
              <a:rPr sz="2400" dirty="0">
                <a:solidFill>
                  <a:srgbClr val="666666"/>
                </a:solidFill>
                <a:latin typeface="Courier"/>
              </a:rPr>
              <a:t>-</a:t>
            </a:r>
            <a:r>
              <a:rPr sz="2400" dirty="0" err="1">
                <a:latin typeface="Courier"/>
              </a:rPr>
              <a:t>ConnectionBroker</a:t>
            </a:r>
            <a:r>
              <a:rPr sz="2400" dirty="0">
                <a:latin typeface="Courier"/>
              </a:rPr>
              <a:t> RDS-CBROKER1</a:t>
            </a:r>
            <a:r>
              <a:rPr sz="2400" dirty="0">
                <a:solidFill>
                  <a:srgbClr val="666666"/>
                </a:solidFill>
                <a:latin typeface="Courier"/>
              </a:rPr>
              <a:t>.</a:t>
            </a:r>
            <a:r>
              <a:rPr sz="2400" dirty="0">
                <a:solidFill>
                  <a:srgbClr val="06287E"/>
                </a:solidFill>
                <a:latin typeface="Courier"/>
              </a:rPr>
              <a:t>avaedos</a:t>
            </a:r>
            <a:r>
              <a:rPr sz="2400" dirty="0">
                <a:solidFill>
                  <a:srgbClr val="666666"/>
                </a:solidFill>
                <a:latin typeface="Courier"/>
              </a:rPr>
              <a:t>.</a:t>
            </a:r>
            <a:r>
              <a:rPr sz="2400" dirty="0">
                <a:solidFill>
                  <a:srgbClr val="06287E"/>
                </a:solidFill>
                <a:latin typeface="Courier"/>
              </a:rPr>
              <a:t>lan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risques de l’exécution distante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Les applications distantes</a:t>
            </a:r>
          </a:p>
          <a:p>
            <a:pPr lvl="1"/>
            <a:r>
              <a:t>ont l’apparence d’applications locales</a:t>
            </a:r>
          </a:p>
          <a:p>
            <a:pPr lvl="1"/>
            <a:r>
              <a:t>accèdent aux ressources locales par les redirections</a:t>
            </a:r>
          </a:p>
          <a:p>
            <a:pPr lvl="1"/>
            <a:r>
              <a:t>sont donc un vecteur d’attaque potentiel contre les postes</a:t>
            </a:r>
          </a:p>
          <a:p>
            <a:pPr lvl="0"/>
            <a:r>
              <a:t>Un fichier RDP piégé peut rediriger lecteurs et identifiants vers un serveur malveillant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 signature des fichiers RDP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Le certificat de l’éditeur prouve l’origine du fichier</a:t>
            </a:r>
          </a:p>
          <a:p>
            <a:pPr lvl="0"/>
            <a:r>
              <a:t>Le client affiche l’éditeur et demande la confiance</a:t>
            </a:r>
          </a:p>
          <a:p>
            <a:pPr lvl="0"/>
            <a:r>
              <a:t>La décision de l’utilisateur est contrôlable par stratégie de groupe</a:t>
            </a:r>
          </a:p>
          <a:p>
            <a:pPr lvl="0"/>
            <a:r>
              <a:t>Les RemoteApp et le flux sont signés par le certificat de publication</a:t>
            </a:r>
          </a:p>
        </p:txBody>
      </p:sp>
      <p:pic>
        <p:nvPicPr>
          <p:cNvPr id="2" name="Picture 1" descr="images/diapo-078-0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755900"/>
            <a:ext cx="4318000" cy="2400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comportement du client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Aucun éditeur approuvé par défaut</a:t>
            </a:r>
          </a:p>
          <a:p>
            <a:pPr lvl="0"/>
            <a:r>
              <a:t>Fichier RDP signé par un éditeur valide : avertissement simple</a:t>
            </a:r>
          </a:p>
          <a:p>
            <a:pPr lvl="0"/>
            <a:r>
              <a:t>Fichier RDP non signé : avertissement renforcé</a:t>
            </a:r>
          </a:p>
          <a:p>
            <a:pPr lvl="0"/>
            <a:r>
              <a:t>Certificat expiré, invalide ou corrompu : connexion bloquée</a:t>
            </a:r>
          </a:p>
          <a:p>
            <a:pPr lvl="0"/>
            <a:r>
              <a:t>Stratégies de groupe</a:t>
            </a:r>
          </a:p>
          <a:p>
            <a:pPr lvl="1"/>
            <a:r>
              <a:t>définir les éditeurs approuvés par leur empreinte</a:t>
            </a:r>
          </a:p>
          <a:p>
            <a:pPr lvl="1"/>
            <a:r>
              <a:t>bloquer les fichiers RDP non signés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réactions du client selon le fichier RDP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1800000"/>
            <a:ext cx="345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Éditeur approuvé par stratégie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60000" y="2016000"/>
            <a:ext cx="864000" cy="360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40000" y="1800000"/>
            <a:ext cx="381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Ouverture sans avertissement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8000" y="2844000"/>
            <a:ext cx="345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Fichier signé, éditeur non approuvé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60000" y="3060000"/>
            <a:ext cx="864000" cy="360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40000" y="2844000"/>
            <a:ext cx="3816000" cy="792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Avertissement : l'utilisateur décide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8000" y="3888000"/>
            <a:ext cx="345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Fichier non signé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960000" y="4104000"/>
            <a:ext cx="864000" cy="360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5040000" y="3888000"/>
            <a:ext cx="381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Avertissement renforcé, ou blocage par stratégie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88000" y="4932000"/>
            <a:ext cx="345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Signature expirée ou invalide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960000" y="5148000"/>
            <a:ext cx="864000" cy="360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040000" y="4932000"/>
            <a:ext cx="3816000" cy="7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Connexion bloquée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00" y="6048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Les RemoteApp d'Avaedos sont signées et leur éditeur approuvé par GPO RD Clients SSO.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L’authentification unique (SSO)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Réutilise les identifiants de l’ouverture de session Windows, sans nouvelle saisie</a:t>
            </a:r>
          </a:p>
          <a:p>
            <a:pPr lvl="1"/>
            <a:r>
              <a:t>depuis les postes Windows membres du domaine</a:t>
            </a:r>
          </a:p>
          <a:p>
            <a:pPr lvl="0"/>
            <a:r>
              <a:t>Kerberos recommandé : authentification mutuelle du serveur</a:t>
            </a:r>
          </a:p>
          <a:p>
            <a:pPr lvl="0"/>
            <a:r>
              <a:t>Contrôle par stratégie de groupe des serveurs vers lesquels le SSO est autorisé</a:t>
            </a:r>
          </a:p>
          <a:p>
            <a:pPr lvl="1"/>
            <a:r>
              <a:t>« Autoriser la délégation des informations d’identification par défaut »</a:t>
            </a:r>
          </a:p>
          <a:p>
            <a:pPr lvl="1"/>
            <a:r>
              <a:rPr>
                <a:latin typeface="Courier"/>
              </a:rPr>
              <a:t>TERMSRV/*.avaedos.lan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principe de la passerelle RDS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Accès transparent aux ressources sans VPN</a:t>
            </a:r>
          </a:p>
          <a:p>
            <a:pPr lvl="0"/>
            <a:r>
              <a:t>Encapsulation de RDP dans HTTPS</a:t>
            </a:r>
          </a:p>
          <a:p>
            <a:pPr lvl="1"/>
            <a:r>
              <a:t>seul le port TCP 443 est ouvert vers la passerelle</a:t>
            </a:r>
          </a:p>
          <a:p>
            <a:pPr lvl="1"/>
            <a:r>
              <a:t>transport UDP complémentaire sur le port 3391</a:t>
            </a:r>
          </a:p>
          <a:p>
            <a:pPr lvl="0"/>
            <a:r>
              <a:t>Donne accès aux bureaux, aux RemoteApp et aux postes virtuels</a:t>
            </a:r>
          </a:p>
          <a:p>
            <a:pPr lvl="0"/>
            <a:r>
              <a:t>Mise en œuvre recommandée sur un serveur dédié</a:t>
            </a:r>
          </a:p>
          <a:p>
            <a:pPr lvl="0"/>
            <a:r>
              <a:t>Contrôle d’accès granulaire et journalisation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tunnel de la passerelle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  <p:sp>
        <p:nvSpPr>
          <p:cNvPr id="13" name="TextBox 12"/>
          <p:cNvSpPr txBox="1"/>
          <p:nvPr/>
        </p:nvSpPr>
        <p:spPr>
          <a:xfrm>
            <a:off x="288000" y="1728000"/>
            <a:ext cx="2160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6000" y="1728000"/>
            <a:ext cx="2664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DMZ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2000" y="1728000"/>
            <a:ext cx="2304000" cy="25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100" b="1">
                <a:solidFill>
                  <a:srgbClr val="44546A"/>
                </a:solidFill>
                <a:latin typeface="Corbel"/>
              </a:rPr>
              <a:t>Réseau interne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28000" y="2016000"/>
            <a:ext cx="180000" cy="33840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12000" y="2016000"/>
            <a:ext cx="180000" cy="33840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00" y="3240000"/>
            <a:ext cx="1872000" cy="86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Client externe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RDS-EXT1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2000" y="3240000"/>
            <a:ext cx="2160000" cy="864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Passerelle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RDS-GATEWAY1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96000" y="3240000"/>
            <a:ext cx="2160000" cy="864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Hôte de session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RDS-SESSION1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60000" y="3672000"/>
            <a:ext cx="1152000" cy="0"/>
          </a:xfrm>
          <a:prstGeom prst="line">
            <a:avLst/>
          </a:prstGeom>
          <a:ln w="38100">
            <a:solidFill>
              <a:srgbClr val="ED7D3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472000" y="3672000"/>
            <a:ext cx="1224000" cy="0"/>
          </a:xfrm>
          <a:prstGeom prst="line">
            <a:avLst/>
          </a:prstGeom>
          <a:ln w="38100">
            <a:solidFill>
              <a:srgbClr val="5B9BD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88000" y="4320000"/>
            <a:ext cx="2232000" cy="50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ED7D31"/>
                </a:solidFill>
                <a:latin typeface="Corbel"/>
              </a:rPr>
              <a:t>RDP encapsulé dans HTTPS</a:t>
            </a:r>
          </a:p>
          <a:p>
            <a:pPr algn="ctr"/>
            <a:r>
              <a:rPr sz="1000" b="0">
                <a:solidFill>
                  <a:srgbClr val="ED7D31"/>
                </a:solidFill>
                <a:latin typeface="Corbel"/>
              </a:rPr>
              <a:t>TCP 443, UDP 3391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12000" y="4320000"/>
            <a:ext cx="2160000" cy="50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extrait RDP du flux HTTPS</a:t>
            </a:r>
          </a:p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applique CAP et 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6000" y="4320000"/>
            <a:ext cx="2160000" cy="50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5B9BD5"/>
                </a:solidFill>
                <a:latin typeface="Corbel"/>
              </a:rPr>
              <a:t>RDP 3389</a:t>
            </a:r>
          </a:p>
          <a:p>
            <a:pPr algn="ctr"/>
            <a:r>
              <a:rPr sz="1000" b="0">
                <a:solidFill>
                  <a:srgbClr val="5B9BD5"/>
                </a:solidFill>
                <a:latin typeface="Corbel"/>
              </a:rPr>
              <a:t>réseau interne uniquement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88000" y="5436000"/>
            <a:ext cx="1260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A5A5A5"/>
                </a:solidFill>
                <a:latin typeface="Corbel"/>
              </a:rPr>
              <a:t>pare-feu externe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2000" y="5436000"/>
            <a:ext cx="1260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A5A5A5"/>
                </a:solidFill>
                <a:latin typeface="Corbel"/>
              </a:rPr>
              <a:t>pare-feu interne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00" y="5976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Seule la passerelle est exposée : les hôtes de session ne sont jamais joignables depuis Internet.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L’architecture de la passerelle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Plusieurs passerelles peuvent former une ferme</a:t>
            </a:r>
          </a:p>
          <a:p>
            <a:pPr lvl="1"/>
            <a:r>
              <a:t>montée en charge</a:t>
            </a:r>
          </a:p>
          <a:p>
            <a:pPr lvl="1"/>
            <a:r>
              <a:t>disponibilité</a:t>
            </a:r>
          </a:p>
          <a:p>
            <a:pPr lvl="0"/>
            <a:r>
              <a:t>TLS authentifie la passerelle auprès des clients</a:t>
            </a:r>
          </a:p>
          <a:p>
            <a:pPr lvl="1"/>
            <a:r>
              <a:t>limite les risques d’usurpation d’identité et d’interception</a:t>
            </a:r>
          </a:p>
          <a:p>
            <a:pPr lvl="0"/>
            <a:r>
              <a:t>Le TLS peut être terminé en amont par un reverse proxy ou un équilibreur</a:t>
            </a:r>
          </a:p>
          <a:p>
            <a:pPr lvl="0"/>
            <a:r>
              <a:t>Audit de tous les accès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L’architecture d’accès externe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16000" y="1692000"/>
            <a:ext cx="2340000" cy="417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000" y="1710000"/>
            <a:ext cx="2196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Internet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6000" y="1692000"/>
            <a:ext cx="2664000" cy="417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88000" y="1710000"/>
            <a:ext cx="2520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DMZ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0000" y="1692000"/>
            <a:ext cx="2988000" cy="417600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A5A5A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12000" y="1710000"/>
            <a:ext cx="2844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l"/>
            <a:r>
              <a:rPr sz="900" b="1">
                <a:solidFill>
                  <a:srgbClr val="A5A5A5"/>
                </a:solidFill>
                <a:latin typeface="Corbel"/>
              </a:rPr>
              <a:t>Réseau interne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38800" y="1692000"/>
            <a:ext cx="198000" cy="41760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662800" y="1692000"/>
            <a:ext cx="198000" cy="4176000"/>
          </a:xfrm>
          <a:prstGeom prst="roundRect">
            <a:avLst>
              <a:gd name="adj" fmla="val 8000"/>
            </a:avLst>
          </a:prstGeom>
          <a:solidFill>
            <a:srgbClr val="44546A"/>
          </a:solidFill>
          <a:ln w="15875"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360000" y="2160000"/>
            <a:ext cx="2052000" cy="648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Domicile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3096000"/>
            <a:ext cx="2052000" cy="648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Hôtel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0000" y="4032000"/>
            <a:ext cx="2052000" cy="648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0">
                <a:solidFill>
                  <a:srgbClr val="44546A"/>
                </a:solidFill>
                <a:latin typeface="Corbel"/>
              </a:rPr>
              <a:t>Partenaire,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96000" y="3024000"/>
            <a:ext cx="2304000" cy="1008000"/>
          </a:xfrm>
          <a:prstGeom prst="roundRect">
            <a:avLst>
              <a:gd name="adj" fmla="val 8000"/>
            </a:avLst>
          </a:prstGeom>
          <a:solidFill>
            <a:srgbClr val="FFC000"/>
          </a:solidFill>
          <a:ln w="158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RDS-GATEWAY1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passerelle et accès Web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0000" y="2016000"/>
            <a:ext cx="2664000" cy="720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RDS-CBROKER1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Corbel"/>
              </a:rPr>
              <a:t>Connection Broker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0000" y="3096000"/>
            <a:ext cx="2664000" cy="7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RDS-SESSION1, RDS-SESSION2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hôtes de session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0000" y="4176000"/>
            <a:ext cx="2664000" cy="720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RDS-DC1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Active Directory, DNS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12000" y="2484000"/>
            <a:ext cx="684000" cy="1044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412000" y="3420000"/>
            <a:ext cx="684000" cy="108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412000" y="3528000"/>
            <a:ext cx="684000" cy="828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0000" y="5004000"/>
            <a:ext cx="2052000" cy="432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HTTPS 443</a:t>
            </a:r>
          </a:p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UDP 3391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5400000" y="2376000"/>
            <a:ext cx="720000" cy="936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400000" y="3456000"/>
            <a:ext cx="720000" cy="72000"/>
          </a:xfrm>
          <a:prstGeom prst="line">
            <a:avLst/>
          </a:prstGeom>
          <a:ln w="15875">
            <a:solidFill>
              <a:srgbClr val="A5A5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400000" y="3816000"/>
            <a:ext cx="720000" cy="720000"/>
          </a:xfrm>
          <a:prstGeom prst="line">
            <a:avLst/>
          </a:prstGeom>
          <a:ln w="15875">
            <a:solidFill>
              <a:srgbClr val="A5A5A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96000" y="4320000"/>
            <a:ext cx="2304000" cy="50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vers l'interne : RDP 3389</a:t>
            </a:r>
          </a:p>
          <a:p>
            <a:pPr algn="ctr"/>
            <a:r>
              <a:rPr sz="1000" b="0">
                <a:solidFill>
                  <a:srgbClr val="44546A"/>
                </a:solidFill>
                <a:latin typeface="Corbel"/>
              </a:rPr>
              <a:t>Active Directory, DNS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6000" y="5868000"/>
            <a:ext cx="1440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A5A5A5"/>
                </a:solidFill>
                <a:latin typeface="Corbel"/>
              </a:rPr>
              <a:t>pare-feu externe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0000" y="5868000"/>
            <a:ext cx="1440000" cy="216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900" b="0">
                <a:solidFill>
                  <a:srgbClr val="A5A5A5"/>
                </a:solidFill>
                <a:latin typeface="Corbel"/>
              </a:rPr>
              <a:t>pare-feu interne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Les stratégies d’accès CAP et RAP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  <p:sp>
        <p:nvSpPr>
          <p:cNvPr id="13" name="Rounded Rectangle 12"/>
          <p:cNvSpPr/>
          <p:nvPr/>
        </p:nvSpPr>
        <p:spPr>
          <a:xfrm>
            <a:off x="288000" y="3096000"/>
            <a:ext cx="1584000" cy="864000"/>
          </a:xfrm>
          <a:prstGeom prst="roundRect">
            <a:avLst>
              <a:gd name="adj" fmla="val 8000"/>
            </a:avLst>
          </a:prstGeom>
          <a:solidFill>
            <a:srgbClr val="E7E6E6"/>
          </a:solidFill>
          <a:ln w="15875">
            <a:solidFill>
              <a:srgbClr val="A5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Utilisateur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lthobois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6000" y="2592000"/>
            <a:ext cx="2088000" cy="1872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orbel"/>
              </a:rPr>
              <a:t>CAP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Qui ?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orbel"/>
              </a:rPr>
              <a:t>groupes d'utilisateurs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orbel"/>
              </a:rPr>
              <a:t>méthode d'authentification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orbel"/>
              </a:rPr>
              <a:t>redirections autorisées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8000" y="2592000"/>
            <a:ext cx="2088000" cy="1872000"/>
          </a:xfrm>
          <a:prstGeom prst="roundRect">
            <a:avLst>
              <a:gd name="adj" fmla="val 8000"/>
            </a:avLst>
          </a:prstGeom>
          <a:solidFill>
            <a:srgbClr val="5B9BD5"/>
          </a:solidFill>
          <a:ln w="15875">
            <a:solidFill>
              <a:srgbClr val="2E5F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orbel"/>
              </a:rPr>
              <a:t>RAP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orbel"/>
              </a:rPr>
              <a:t>Vers quoi ?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orbel"/>
              </a:rPr>
              <a:t>groupes de machines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orbel"/>
              </a:rPr>
              <a:t>ports autorisés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0000" y="3096000"/>
            <a:ext cx="1296000" cy="86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Hôte</a:t>
            </a:r>
          </a:p>
          <a:p>
            <a:pPr algn="ctr"/>
            <a:r>
              <a:rPr sz="950" b="0">
                <a:solidFill>
                  <a:srgbClr val="44546A"/>
                </a:solidFill>
                <a:latin typeface="Corbel"/>
              </a:rPr>
              <a:t>connexion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908000" y="3384000"/>
            <a:ext cx="432000" cy="288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ight Arrow 17"/>
          <p:cNvSpPr/>
          <p:nvPr/>
        </p:nvSpPr>
        <p:spPr>
          <a:xfrm>
            <a:off x="4500000" y="3384000"/>
            <a:ext cx="432000" cy="288000"/>
          </a:xfrm>
          <a:prstGeom prst="rightArrow">
            <a:avLst/>
          </a:prstGeom>
          <a:solidFill>
            <a:srgbClr val="A5A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7092000" y="3384000"/>
            <a:ext cx="432000" cy="288000"/>
          </a:xfrm>
          <a:prstGeom prst="rightArrow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Down Arrow 19"/>
          <p:cNvSpPr/>
          <p:nvPr/>
        </p:nvSpPr>
        <p:spPr>
          <a:xfrm>
            <a:off x="3294000" y="4536000"/>
            <a:ext cx="252000" cy="36000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376000" y="4968000"/>
            <a:ext cx="2088000" cy="5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Refus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5886000" y="4536000"/>
            <a:ext cx="252000" cy="36000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968000" y="4968000"/>
            <a:ext cx="2088000" cy="5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3200" tIns="18000" rIns="43200" bIns="18000" rtlCol="0" anchor="ctr"/>
          <a:lstStyle/>
          <a:p>
            <a:pPr algn="ctr"/>
            <a:r>
              <a:rPr sz="1200" b="1">
                <a:solidFill>
                  <a:srgbClr val="44546A"/>
                </a:solidFill>
                <a:latin typeface="Corbel"/>
              </a:rPr>
              <a:t>Refus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00" y="5832000"/>
            <a:ext cx="8568000" cy="324000"/>
          </a:xfrm>
          <a:prstGeom prst="rect">
            <a:avLst/>
          </a:prstGeom>
          <a:noFill/>
        </p:spPr>
        <p:txBody>
          <a:bodyPr wrap="square" lIns="43200" tIns="18000" rIns="43200" bIns="18000" anchor="ctr">
            <a:spAutoFit/>
          </a:bodyPr>
          <a:lstStyle/>
          <a:p>
            <a:pPr algn="ctr"/>
            <a:r>
              <a:rPr sz="1050" b="0" i="1">
                <a:solidFill>
                  <a:srgbClr val="A5A5A5"/>
                </a:solidFill>
                <a:latin typeface="Corbel"/>
              </a:rPr>
              <a:t>Une connexion doit satisfaire au moins une CAP et une RAP.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 stratégie d’autorisation des connexions (CAP)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Définit les conditions d’accès à la passerelle</a:t>
            </a:r>
          </a:p>
          <a:p>
            <a:pPr lvl="1"/>
            <a:r>
              <a:t>appartenance de l’utilisateur à des groupes</a:t>
            </a:r>
          </a:p>
          <a:p>
            <a:pPr lvl="1"/>
            <a:r>
              <a:t>appartenance de l’ordinateur client à des groupes</a:t>
            </a:r>
          </a:p>
          <a:p>
            <a:pPr lvl="1"/>
            <a:r>
              <a:t>méthode d’authentification : mot de passe ou carte à puce</a:t>
            </a:r>
          </a:p>
          <a:p>
            <a:pPr lvl="1"/>
            <a:r>
              <a:t>redirections des ressources locales autorisées</a:t>
            </a:r>
          </a:p>
          <a:p>
            <a:pPr lvl="1"/>
            <a:r>
              <a:t>délais de session</a:t>
            </a:r>
          </a:p>
          <a:p>
            <a:pPr lvl="0"/>
            <a:r>
              <a:t>Stockée localement ou sur un serveur NPS central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 stratégie d’autorisation des ressources (RAP)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Définit les conditions d’accès aux ressources</a:t>
            </a:r>
          </a:p>
          <a:p>
            <a:pPr lvl="1"/>
            <a:r>
              <a:t>appartenance des utilisateurs à des groupes</a:t>
            </a:r>
          </a:p>
          <a:p>
            <a:pPr lvl="1"/>
            <a:r>
              <a:t>groupes de machines cibles</a:t>
            </a:r>
          </a:p>
          <a:p>
            <a:pPr lvl="1"/>
            <a:r>
              <a:t>ports autorisés : 3389 par défaut</a:t>
            </a:r>
          </a:p>
          <a:p>
            <a:pPr lvl="0"/>
            <a:r>
              <a:t>Un groupe de ressources géré par le déploiement RDS</a:t>
            </a:r>
          </a:p>
        </p:txBody>
      </p:sp>
      <p:pic>
        <p:nvPicPr>
          <p:cNvPr id="2" name="Picture 1" descr="images/diapo-110-0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49800" y="2374900"/>
            <a:ext cx="4318000" cy="3175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Déployer la passerelle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Serveur spécifique, souvent en DMZ</a:t>
            </a:r>
          </a:p>
          <a:p>
            <a:pPr lvl="0"/>
            <a:r>
              <a:t>Certificat d’authentification serveur</a:t>
            </a:r>
          </a:p>
          <a:p>
            <a:pPr lvl="1"/>
            <a:r>
              <a:t>public pour faciliter l’accès des utilisateurs externes</a:t>
            </a:r>
          </a:p>
          <a:p>
            <a:pPr lvl="0"/>
            <a:r>
              <a:t>Ajout au déploiement : Server Manager ou </a:t>
            </a:r>
            <a:r>
              <a:rPr>
                <a:latin typeface="Courier"/>
              </a:rPr>
              <a:t>Add-RDServer -Role RDS-GATEWAY</a:t>
            </a:r>
          </a:p>
          <a:p>
            <a:pPr lvl="0"/>
            <a:r>
              <a:t>Configuration</a:t>
            </a:r>
          </a:p>
          <a:p>
            <a:pPr lvl="1"/>
            <a:r>
              <a:t>Gestionnaire de la passerelle RDS</a:t>
            </a:r>
          </a:p>
          <a:p>
            <a:pPr lvl="1"/>
            <a:r>
              <a:t>stratégies CAP et RAP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L’authentification multifacteur sur la passerelle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La passerelle délègue ses CAP à un serveur NPS central</a:t>
            </a:r>
          </a:p>
          <a:p>
            <a:pPr lvl="0"/>
            <a:r>
              <a:t>L’extension NPS de Microsoft Entra MFA ajoute la seconde vérification</a:t>
            </a:r>
          </a:p>
          <a:p>
            <a:pPr lvl="0"/>
            <a:r>
              <a:t>Notification push ou appel sur l’application Microsoft Authenticator</a:t>
            </a:r>
          </a:p>
          <a:p>
            <a:pPr lvl="0"/>
            <a:r>
              <a:t>Prérequis : tenant Microsoft Entra, utilisateurs synchronisés, licences adaptées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Durcir la plateforme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107316" y="1500174"/>
            <a:ext cx="9001188" cy="4929221"/>
          </a:xfrm>
        </p:spPr>
        <p:txBody>
          <a:bodyPr>
            <a:noAutofit/>
          </a:bodyPr>
          <a:lstStyle/>
          <a:p>
            <a:pPr lvl="0"/>
            <a:r>
              <a:rPr sz="2800" dirty="0"/>
              <a:t>Appliquer la </a:t>
            </a:r>
            <a:r>
              <a:rPr sz="2800" dirty="0" err="1"/>
              <a:t>ligne</a:t>
            </a:r>
            <a:r>
              <a:rPr sz="2800" dirty="0"/>
              <a:t> de base de sécurité Windows Server 2025</a:t>
            </a:r>
          </a:p>
          <a:p>
            <a:pPr lvl="0"/>
            <a:r>
              <a:rPr sz="2800" dirty="0" err="1"/>
              <a:t>Restreindre</a:t>
            </a:r>
            <a:r>
              <a:rPr sz="2800" dirty="0"/>
              <a:t> les redirections </a:t>
            </a:r>
            <a:r>
              <a:rPr sz="2800" dirty="0" err="1"/>
              <a:t>selon</a:t>
            </a:r>
            <a:r>
              <a:rPr sz="2800" dirty="0"/>
              <a:t> la </a:t>
            </a:r>
            <a:r>
              <a:rPr sz="2800" dirty="0" err="1"/>
              <a:t>sensibilité</a:t>
            </a:r>
            <a:r>
              <a:rPr sz="2800" dirty="0"/>
              <a:t> des collections</a:t>
            </a:r>
          </a:p>
          <a:p>
            <a:pPr lvl="0"/>
            <a:r>
              <a:rPr sz="2800" dirty="0" err="1"/>
              <a:t>Séparer</a:t>
            </a:r>
            <a:r>
              <a:rPr sz="2800" dirty="0"/>
              <a:t> les </a:t>
            </a:r>
            <a:r>
              <a:rPr sz="2800" dirty="0" err="1"/>
              <a:t>comptes</a:t>
            </a:r>
            <a:r>
              <a:rPr sz="2800" dirty="0"/>
              <a:t> </a:t>
            </a:r>
            <a:r>
              <a:rPr sz="2800" dirty="0" err="1"/>
              <a:t>d’administration</a:t>
            </a:r>
            <a:r>
              <a:rPr sz="2800" dirty="0"/>
              <a:t> des </a:t>
            </a:r>
            <a:r>
              <a:rPr sz="2800" dirty="0" err="1"/>
              <a:t>comptes</a:t>
            </a:r>
            <a:r>
              <a:rPr sz="2800" dirty="0"/>
              <a:t> </a:t>
            </a:r>
            <a:r>
              <a:rPr sz="2800" dirty="0" err="1"/>
              <a:t>d’usage</a:t>
            </a:r>
            <a:endParaRPr sz="2800" dirty="0"/>
          </a:p>
          <a:p>
            <a:pPr lvl="0"/>
            <a:r>
              <a:rPr sz="2800" dirty="0" err="1"/>
              <a:t>Mettre</a:t>
            </a:r>
            <a:r>
              <a:rPr sz="2800" dirty="0"/>
              <a:t> à jour la </a:t>
            </a:r>
            <a:r>
              <a:rPr sz="2800" dirty="0" err="1"/>
              <a:t>passerelle</a:t>
            </a:r>
            <a:r>
              <a:rPr sz="2800" dirty="0"/>
              <a:t> et </a:t>
            </a:r>
            <a:r>
              <a:rPr sz="2800" dirty="0" err="1"/>
              <a:t>l’accès</a:t>
            </a:r>
            <a:r>
              <a:rPr sz="2800" dirty="0"/>
              <a:t> Web </a:t>
            </a:r>
            <a:r>
              <a:rPr sz="2800" dirty="0" err="1"/>
              <a:t>en</a:t>
            </a:r>
            <a:r>
              <a:rPr sz="2800" dirty="0"/>
              <a:t> </a:t>
            </a:r>
            <a:r>
              <a:rPr sz="2800" dirty="0" err="1"/>
              <a:t>priorité</a:t>
            </a:r>
            <a:endParaRPr sz="2800" dirty="0"/>
          </a:p>
          <a:p>
            <a:pPr lvl="0"/>
            <a:r>
              <a:rPr sz="2800" dirty="0" err="1"/>
              <a:t>Surveiller</a:t>
            </a:r>
            <a:r>
              <a:rPr sz="2800" dirty="0"/>
              <a:t> les </a:t>
            </a:r>
            <a:r>
              <a:rPr sz="2800" dirty="0" err="1"/>
              <a:t>journaux</a:t>
            </a:r>
            <a:endParaRPr sz="2800" dirty="0"/>
          </a:p>
          <a:p>
            <a:pPr lvl="1"/>
            <a:r>
              <a:rPr sz="2400" dirty="0" err="1">
                <a:latin typeface="Courier"/>
              </a:rPr>
              <a:t>TerminalServices</a:t>
            </a:r>
            <a:r>
              <a:rPr sz="2400" dirty="0">
                <a:latin typeface="Courier"/>
              </a:rPr>
              <a:t>-Gateway</a:t>
            </a:r>
            <a:r>
              <a:rPr sz="2400" dirty="0"/>
              <a:t> : </a:t>
            </a:r>
            <a:r>
              <a:rPr sz="2400" dirty="0" err="1"/>
              <a:t>connexions</a:t>
            </a:r>
            <a:r>
              <a:rPr sz="2400" dirty="0"/>
              <a:t> via la </a:t>
            </a:r>
            <a:r>
              <a:rPr sz="2400" dirty="0" err="1"/>
              <a:t>passerelle</a:t>
            </a:r>
            <a:endParaRPr sz="2400" dirty="0"/>
          </a:p>
          <a:p>
            <a:pPr lvl="1"/>
            <a:r>
              <a:rPr sz="2400" dirty="0" err="1">
                <a:latin typeface="Courier"/>
              </a:rPr>
              <a:t>TerminalServices-RemoteConnectionManager</a:t>
            </a:r>
            <a:r>
              <a:rPr sz="2400" dirty="0"/>
              <a:t> : ouvertures de session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24</a:t>
            </a:fld>
            <a:endParaRPr lang="fr-B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Atelier 3 – Sécurisation et passerelle RDS</a:t>
            </a:r>
          </a:p>
        </p:txBody>
      </p:sp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Signer les fichiers RDP, approuver l’éditeur et activer l’authentification unique</a:t>
            </a:r>
          </a:p>
          <a:p>
            <a:pPr lvl="0"/>
            <a:r>
              <a:t>Ajouter la passerelle et restreindre la CAP à </a:t>
            </a:r>
            <a:r>
              <a:rPr>
                <a:latin typeface="Courier"/>
              </a:rPr>
              <a:t>RDS Users</a:t>
            </a:r>
          </a:p>
          <a:p>
            <a:pPr lvl="0"/>
            <a:r>
              <a:t>Installer le client web sur RDS-GATEWAY1</a:t>
            </a:r>
          </a:p>
          <a:p>
            <a:pPr lvl="0"/>
            <a:r>
              <a:t>Se connecter depuis le poste hors domaine RDS-EXT1 par la passerelle </a:t>
            </a:r>
            <a:r>
              <a:rPr>
                <a:latin typeface="Courier"/>
              </a:rPr>
              <a:t>rds.avaedos.lan</a:t>
            </a:r>
          </a:p>
          <a:p>
            <a:pPr lvl="0"/>
            <a:r>
              <a:t>Retrouver la connexion dans le journal de la passerelle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25</a:t>
            </a:fld>
            <a:endParaRPr lang="fr-BE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Avez-vous des questions ?</a:t>
            </a:r>
          </a:p>
        </p:txBody>
      </p:sp>
      <p:sp>
        <p:nvSpPr>
          <p:cNvPr id="12" name="Espace réservé du numéro de diapositive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26</a:t>
            </a:fld>
            <a:endParaRPr lang="fr-BE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èle EGILI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_EGILIA-Template.potx" id="{308816F5-4877-444A-9C2E-10E8B589F71D}" vid="{A8E82A1B-84CC-4282-8223-F7357AEA6CE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2157</Words>
  <Application>Microsoft Office PowerPoint</Application>
  <PresentationFormat>Affichage à l'écran (4:3)</PresentationFormat>
  <Paragraphs>307</Paragraphs>
  <Slides>26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Corbel</vt:lpstr>
      <vt:lpstr>Courier</vt:lpstr>
      <vt:lpstr>Wingdings</vt:lpstr>
      <vt:lpstr>Wingdings 2</vt:lpstr>
      <vt:lpstr>Wingdings 3</vt:lpstr>
      <vt:lpstr>Modèle EGILIA</vt:lpstr>
      <vt:lpstr>Module 4 : Sécurisation et accès externe</vt:lpstr>
      <vt:lpstr>Agenda</vt:lpstr>
      <vt:lpstr>Pourquoi RDS est une cible</vt:lpstr>
      <vt:lpstr>Les leviers de sécurisation</vt:lpstr>
      <vt:lpstr>L’authentification au niveau du réseau (NLA)</vt:lpstr>
      <vt:lpstr>Protéger les identifiants des administrateurs</vt:lpstr>
      <vt:lpstr>Les durcissements par défaut de Windows Server 2025</vt:lpstr>
      <vt:lpstr>Les certificats d’un déploiement</vt:lpstr>
      <vt:lpstr>Affecter les certificats</vt:lpstr>
      <vt:lpstr>Les risques de l’exécution distante</vt:lpstr>
      <vt:lpstr>La signature des fichiers RDP</vt:lpstr>
      <vt:lpstr>Le comportement du client</vt:lpstr>
      <vt:lpstr>Les réactions du client selon le fichier RDP</vt:lpstr>
      <vt:lpstr>L’authentification unique (SSO)</vt:lpstr>
      <vt:lpstr>Le principe de la passerelle RDS</vt:lpstr>
      <vt:lpstr>Le tunnel de la passerelle</vt:lpstr>
      <vt:lpstr>L’architecture de la passerelle</vt:lpstr>
      <vt:lpstr>L’architecture d’accès externe</vt:lpstr>
      <vt:lpstr>Les stratégies d’accès CAP et RAP</vt:lpstr>
      <vt:lpstr>La stratégie d’autorisation des connexions (CAP)</vt:lpstr>
      <vt:lpstr>La stratégie d’autorisation des ressources (RAP)</vt:lpstr>
      <vt:lpstr>Déployer la passerelle</vt:lpstr>
      <vt:lpstr>L’authentification multifacteur sur la passerelle</vt:lpstr>
      <vt:lpstr>Durcir la plateforme</vt:lpstr>
      <vt:lpstr>Atelier 3 – Sécurisation et passerelle RDS</vt:lpstr>
      <vt:lpstr>Avez-vous des questions ?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>EGILIA-Template%20v2.5</Template>
  <TotalTime>0</TotalTime>
  <Words>0</Words>
  <Application>Microsoft Office PowerPoint</Application>
  <PresentationFormat>Affichage à l'écran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Arial</vt:lpstr>
      <vt:lpstr>Calibri</vt:lpstr>
      <vt:lpstr>Corbel</vt:lpstr>
      <vt:lpstr>Wingdings</vt:lpstr>
      <vt:lpstr>Wingdings 2</vt:lpstr>
      <vt:lpstr>Wingdings 3</vt:lpstr>
      <vt:lpstr>Modèle EGILIA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revision>1</cp:revision>
  <dcterms:created xsi:type="dcterms:W3CDTF">2026-09-22T19:57:06Z</dcterms:created>
  <dcterms:modified xsi:type="dcterms:W3CDTF">2026-09-23T14:23:37Z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ormation">
    <vt:lpwstr>Remote Desktop Services sous Windows Server 2025</vt:lpwstr>
  </property>
</Properties>
</file>