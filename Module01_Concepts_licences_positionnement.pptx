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removePersonalInfoOnSave="1" saveSubsetFonts="1" showSpecialPlsOnTitleSld="0">
  <p:sldMasterIdLst>
    <p:sldMasterId id="2147484057"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6858000" type="screen4x3"/>
  <p:notesSz cx="6858000" cy="9144000"/>
  <p:defaultTextStyle>
    <a:defPPr>
      <a:defRPr lang="fr-FR"/>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000000"/>
    <a:srgbClr val="FF6600"/>
    <a:srgbClr val="003366"/>
    <a:srgbClr val="1C40A4"/>
    <a:srgbClr val="B481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4994"/>
    <p:restoredTop autoAdjust="0" sz="99642"/>
  </p:normalViewPr>
  <p:slideViewPr>
    <p:cSldViewPr>
      <p:cViewPr varScale="1">
        <p:scale>
          <a:sx d="100" n="111"/>
          <a:sy d="100" n="111"/>
        </p:scale>
        <p:origin x="1650" y="108"/>
      </p:cViewPr>
      <p:guideLst>
        <p:guide orient="horz" pos="2160"/>
        <p:guide pos="2880"/>
      </p:guideLst>
    </p:cSldViewPr>
  </p:slideViewPr>
  <p:notesTextViewPr>
    <p:cViewPr>
      <p:scale>
        <a:sx d="100" n="100"/>
        <a:sy d="100" n="100"/>
      </p:scale>
      <p:origin x="0" y="0"/>
    </p:cViewPr>
  </p:notesTextViewPr>
  <p:notesViewPr>
    <p:cSldViewPr>
      <p:cViewPr varScale="1">
        <p:scale>
          <a:sx d="100" n="71"/>
          <a:sy d="100" n="71"/>
        </p:scale>
        <p:origin x="3222" y="7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B37F6F-E004-4414-8178-04C7568A565A}" type="datetimeFigureOut">
              <a:rPr lang="fr-FR" smtClean="0"/>
              <a:pPr/>
              <a:t>03/04/2020</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1274BD-2225-430E-B195-718FE1CD5BBA}" type="slidenum">
              <a:rPr lang="fr-FR" smtClean="0"/>
              <a:pPr/>
              <a:t>‹N°›</a:t>
            </a:fld>
            <a:endParaRPr lang="fr-FR"/>
          </a:p>
        </p:txBody>
      </p:sp>
    </p:spTree>
    <p:extLst>
      <p:ext uri="{BB962C8B-B14F-4D97-AF65-F5344CB8AC3E}">
        <p14:creationId xmlns:p14="http://schemas.microsoft.com/office/powerpoint/2010/main" val="377654560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Ce module est entièrement conceptuel : il pose le vocabulaire et les mécanismes que les ateliers mettent ensuite en œuvre.</a:t>
            </a:r>
          </a:p>
        </p:txBody>
      </p:sp>
      <p:sp>
        <p:nvSpPr>
          <p:cNvPr id="4" name="Slide Number Placeholder 3"/>
          <p:cNvSpPr>
            <a:spLocks noGrp="1"/>
          </p:cNvSpPr>
          <p:nvPr>
            <p:ph type="sldNum" sz="quarter" idx="10"/>
          </p:nvPr>
        </p:nvSpPr>
        <p:spPr/>
        <p:txBody>
          <a:bodyPr/>
          <a:lstStyle/>
          <a:p>
            <a:fld id="{D61274BD-2225-430E-B195-718FE1CD5BBA}"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Insister sur la simultanéité : c’est ce qui distingue RDS du simple Bureau à distance d’administration. Plusieurs utilisateurs travaillent en même temps sur le même serveur, chacun dans sa propre session isolée.</a:t>
            </a:r>
          </a:p>
        </p:txBody>
      </p:sp>
      <p:sp>
        <p:nvSpPr>
          <p:cNvPr id="4" name="Slide Number Placeholder 3"/>
          <p:cNvSpPr>
            <a:spLocks noGrp="1"/>
          </p:cNvSpPr>
          <p:nvPr>
            <p:ph type="sldNum" sz="quarter" idx="10"/>
          </p:nvPr>
        </p:nvSpPr>
        <p:spPr/>
        <p:txBody>
          <a:bodyPr/>
          <a:lstStyle/>
          <a:p>
            <a:fld id="{D61274BD-2225-430E-B195-718FE1CD5BBA}"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Tout ce qui suit dans la formation découle de ce principe : centralisation de l’administration, maîtrise des données, mais aussi dépendance forte au serveur et au réseau.</a:t>
            </a:r>
          </a:p>
        </p:txBody>
      </p:sp>
      <p:sp>
        <p:nvSpPr>
          <p:cNvPr id="4" name="Slide Number Placeholder 3"/>
          <p:cNvSpPr>
            <a:spLocks noGrp="1"/>
          </p:cNvSpPr>
          <p:nvPr>
            <p:ph type="sldNum" sz="quarter" idx="10"/>
          </p:nvPr>
        </p:nvSpPr>
        <p:spPr/>
        <p:txBody>
          <a:bodyPr/>
          <a:lstStyle/>
          <a:p>
            <a:fld id="{D61274BD-2225-430E-B195-718FE1CD5BBA}"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Schéma : le poste client échange uniquement l’affichage et les entrées avec le serveur ; les applications et les données restent côté serveur.</a:t>
            </a:r>
          </a:p>
          <a:p>
            <a:pPr lvl="0" indent="0" marL="0">
              <a:buNone/>
            </a:pPr>
          </a:p>
          <a:p>
            <a:pPr lvl="0" indent="0" marL="0">
              <a:buNone/>
            </a:pPr>
            <a:r>
              <a:rPr/>
              <a:t>Faire décrire le schéma par les participants : qu’est-ce qui ne traverse jamais le réseau ?</a:t>
            </a:r>
          </a:p>
        </p:txBody>
      </p:sp>
      <p:sp>
        <p:nvSpPr>
          <p:cNvPr id="4" name="Slide Number Placeholder 3"/>
          <p:cNvSpPr>
            <a:spLocks noGrp="1"/>
          </p:cNvSpPr>
          <p:nvPr>
            <p:ph type="sldNum" sz="quarter" idx="10"/>
          </p:nvPr>
        </p:nvSpPr>
        <p:spPr/>
        <p:txBody>
          <a:bodyPr/>
          <a:lstStyle/>
          <a:p>
            <a:fld id="{D61274BD-2225-430E-B195-718FE1CD5BBA}"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 client léger ne fait qu’afficher : il peut donc être ancien, bon marché ou mobile. Toute la puissance est concentrée sur les serveurs, qui doivent être dimensionnés en conséquence.</a:t>
            </a:r>
          </a:p>
        </p:txBody>
      </p:sp>
      <p:sp>
        <p:nvSpPr>
          <p:cNvPr id="4" name="Slide Number Placeholder 3"/>
          <p:cNvSpPr>
            <a:spLocks noGrp="1"/>
          </p:cNvSpPr>
          <p:nvPr>
            <p:ph type="sldNum" sz="quarter" idx="10"/>
          </p:nvPr>
        </p:nvSpPr>
        <p:spPr/>
        <p:txBody>
          <a:bodyPr/>
          <a:lstStyle/>
          <a:p>
            <a:fld id="{D61274BD-2225-430E-B195-718FE1CD5BBA}"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Les trois premières lignes reposent sur le multisession de Windows Server : plusieurs utilisateurs sur le même système. Le VDI donne à chaque utilisateur son propre système client, au prix de beaucoup plus de ressources.</a:t>
            </a:r>
          </a:p>
          <a:p>
            <a:pPr lvl="0" indent="0" marL="0">
              <a:buNone/>
            </a:pPr>
          </a:p>
          <a:p>
            <a:pPr lvl="0" indent="0" marL="0">
              <a:buNone/>
            </a:pPr>
            <a:r>
              <a:rPr/>
              <a:t>Chez Avaedos, la comptabilité utilisera le bureau de session et les RemoteApp, le bureau d’études le VDI.</a:t>
            </a:r>
          </a:p>
        </p:txBody>
      </p:sp>
      <p:sp>
        <p:nvSpPr>
          <p:cNvPr id="4" name="Slide Number Placeholder 3"/>
          <p:cNvSpPr>
            <a:spLocks noGrp="1"/>
          </p:cNvSpPr>
          <p:nvPr>
            <p:ph type="sldNum" sz="quarter" idx="10"/>
          </p:nvPr>
        </p:nvSpPr>
        <p:spPr/>
        <p:txBody>
          <a:bodyPr/>
          <a:lstStyle/>
          <a:p>
            <a:fld id="{D61274BD-2225-430E-B195-718FE1CD5BBA}"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Schéma : plusieurs terminaux ouvrent chacun une session RDP sur le même serveur des services Bureau à distance.</a:t>
            </a:r>
          </a:p>
          <a:p>
            <a:pPr lvl="0" indent="0" marL="0">
              <a:buNone/>
            </a:pPr>
          </a:p>
          <a:p>
            <a:pPr lvl="0" indent="0" marL="0">
              <a:buNone/>
            </a:pPr>
            <a:r>
              <a:rPr/>
              <a:t>Chaque session possède son bureau, ses processus et son profil. Un utilisateur ne voit pas les applications des autres, mais tous partagent le processeur, la mémoire et les disques du serveur.</a:t>
            </a:r>
          </a:p>
        </p:txBody>
      </p:sp>
      <p:sp>
        <p:nvSpPr>
          <p:cNvPr id="4" name="Slide Number Placeholder 3"/>
          <p:cNvSpPr>
            <a:spLocks noGrp="1"/>
          </p:cNvSpPr>
          <p:nvPr>
            <p:ph type="sldNum" sz="quarter" idx="10"/>
          </p:nvPr>
        </p:nvSpPr>
        <p:spPr/>
        <p:txBody>
          <a:bodyPr/>
          <a:lstStyle/>
          <a:p>
            <a:fld id="{D61274BD-2225-430E-B195-718FE1CD5BBA}"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Schéma : les différents lieux d’accès convergent vers la même ferme RDS, via la passerelle pour les accès depuis Internet.</a:t>
            </a:r>
          </a:p>
          <a:p>
            <a:pPr lvl="0" indent="0" marL="0">
              <a:buNone/>
            </a:pPr>
          </a:p>
          <a:p>
            <a:pPr lvl="0" indent="0" marL="0">
              <a:buNone/>
            </a:pPr>
            <a:r>
              <a:rPr/>
              <a:t>Pour l’utilisateur, l’environnement est identique quel que soit le lieu et le terminal.</a:t>
            </a:r>
          </a:p>
        </p:txBody>
      </p:sp>
      <p:sp>
        <p:nvSpPr>
          <p:cNvPr id="4" name="Slide Number Placeholder 3"/>
          <p:cNvSpPr>
            <a:spLocks noGrp="1"/>
          </p:cNvSpPr>
          <p:nvPr>
            <p:ph type="sldNum" sz="quarter" idx="10"/>
          </p:nvPr>
        </p:nvSpPr>
        <p:spPr/>
        <p:txBody>
          <a:bodyPr/>
          <a:lstStyle/>
          <a:p>
            <a:fld id="{D61274BD-2225-430E-B195-718FE1CD5BBA}"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Nuancer le discours sur le coût : RDS réduit le coût d’administration des postes, mais il déplace la dépense vers les serveurs, le stockage, les licences et la haute disponibilité. Le module 5 montre qu’une ferme non redondante est un point de défaillance unique pour tous les utilisateurs.</a:t>
            </a:r>
          </a:p>
        </p:txBody>
      </p:sp>
      <p:sp>
        <p:nvSpPr>
          <p:cNvPr id="4" name="Slide Number Placeholder 3"/>
          <p:cNvSpPr>
            <a:spLocks noGrp="1"/>
          </p:cNvSpPr>
          <p:nvPr>
            <p:ph type="sldNum" sz="quarter" idx="10"/>
          </p:nvPr>
        </p:nvSpPr>
        <p:spPr/>
        <p:txBody>
          <a:bodyPr/>
          <a:lstStyle/>
          <a:p>
            <a:fld id="{D61274BD-2225-430E-B195-718FE1CD5BBA}"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Erreur fréquente : utiliser le mode administration à distance pour faire travailler des utilisateurs. C’est une infraction de licence et cela bloque au-delà de deux sessions.</a:t>
            </a:r>
          </a:p>
        </p:txBody>
      </p:sp>
      <p:sp>
        <p:nvSpPr>
          <p:cNvPr id="4" name="Slide Number Placeholder 3"/>
          <p:cNvSpPr>
            <a:spLocks noGrp="1"/>
          </p:cNvSpPr>
          <p:nvPr>
            <p:ph type="sldNum" sz="quarter" idx="10"/>
          </p:nvPr>
        </p:nvSpPr>
        <p:spPr/>
        <p:txBody>
          <a:bodyPr/>
          <a:lstStyle/>
          <a:p>
            <a:fld id="{D61274BD-2225-430E-B195-718FE1CD5BBA}"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Schéma : l’architecture complète d’un déploiement, du client jusqu’aux hôtes, avec les rôles d’infrastructure.</a:t>
            </a:r>
          </a:p>
          <a:p>
            <a:pPr lvl="0" indent="0" marL="0">
              <a:buNone/>
            </a:pPr>
          </a:p>
          <a:p>
            <a:pPr lvl="0" indent="0" marL="0">
              <a:buNone/>
            </a:pPr>
            <a:r>
              <a:rPr/>
              <a:t>Le Connection Broker est le cœur du déploiement : il stocke la configuration des collections et décide sur quel serveur ouvrir chaque session. Les diapositives suivantes détaillent chaque rôle.</a:t>
            </a:r>
          </a:p>
        </p:txBody>
      </p:sp>
      <p:sp>
        <p:nvSpPr>
          <p:cNvPr id="4" name="Slide Number Placeholder 3"/>
          <p:cNvSpPr>
            <a:spLocks noGrp="1"/>
          </p:cNvSpPr>
          <p:nvPr>
            <p:ph type="sldNum" sz="quarter" idx="10"/>
          </p:nvPr>
        </p:nvSpPr>
        <p:spPr/>
        <p:txBody>
          <a:bodyPr/>
          <a:lstStyle/>
          <a:p>
            <a:fld id="{D61274BD-2225-430E-B195-718FE1CD5BBA}"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C’est le rôle qui consomme les ressources : processeur, mémoire, disque. Chez Avaedos, RDS-SESSION1 et RDS-SESSION2 forment la collection de bureaux RdsSesColl1, RDS-SESSION3 et RDS-SESSION4 la collection d’applications RdsAppColl1.</a:t>
            </a:r>
          </a:p>
        </p:txBody>
      </p:sp>
      <p:sp>
        <p:nvSpPr>
          <p:cNvPr id="4" name="Slide Number Placeholder 3"/>
          <p:cNvSpPr>
            <a:spLocks noGrp="1"/>
          </p:cNvSpPr>
          <p:nvPr>
            <p:ph type="sldNum" sz="quarter" idx="10"/>
          </p:nvPr>
        </p:nvSpPr>
        <p:spPr/>
        <p:txBody>
          <a:bodyPr/>
          <a:lstStyle/>
          <a:p>
            <a:fld id="{D61274BD-2225-430E-B195-718FE1CD5BBA}"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Ce rôle est traité au module 6. Chez Avaedos, il est porté par RDS-HYPERV1 et RDS-HYPERV2.</a:t>
            </a:r>
          </a:p>
        </p:txBody>
      </p:sp>
      <p:sp>
        <p:nvSpPr>
          <p:cNvPr id="4" name="Slide Number Placeholder 3"/>
          <p:cNvSpPr>
            <a:spLocks noGrp="1"/>
          </p:cNvSpPr>
          <p:nvPr>
            <p:ph type="sldNum" sz="quarter" idx="10"/>
          </p:nvPr>
        </p:nvSpPr>
        <p:spPr/>
        <p:txBody>
          <a:bodyPr/>
          <a:lstStyle/>
          <a:p>
            <a:fld id="{D61274BD-2225-430E-B195-718FE1CD5BBA}"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L’accès Web n’exécute rien : il présente la liste des ressources et fournit les informations de connexion. Chez Avaedos, il est installé sur RDS-GATEWAY1.</a:t>
            </a:r>
          </a:p>
        </p:txBody>
      </p:sp>
      <p:sp>
        <p:nvSpPr>
          <p:cNvPr id="4" name="Slide Number Placeholder 3"/>
          <p:cNvSpPr>
            <a:spLocks noGrp="1"/>
          </p:cNvSpPr>
          <p:nvPr>
            <p:ph type="sldNum" sz="quarter" idx="10"/>
          </p:nvPr>
        </p:nvSpPr>
        <p:spPr/>
        <p:txBody>
          <a:bodyPr/>
          <a:lstStyle/>
          <a:p>
            <a:fld id="{D61274BD-2225-430E-B195-718FE1CD5BBA}"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Sans Connection Broker, pas de déploiement : c’est pourquoi sa haute disponibilité est l’objet du module 5. Chez Avaedos, RDS-CBROKER1 puis RDS-CBROKER2.</a:t>
            </a:r>
          </a:p>
        </p:txBody>
      </p:sp>
      <p:sp>
        <p:nvSpPr>
          <p:cNvPr id="4" name="Slide Number Placeholder 3"/>
          <p:cNvSpPr>
            <a:spLocks noGrp="1"/>
          </p:cNvSpPr>
          <p:nvPr>
            <p:ph type="sldNum" sz="quarter" idx="10"/>
          </p:nvPr>
        </p:nvSpPr>
        <p:spPr/>
        <p:txBody>
          <a:bodyPr/>
          <a:lstStyle/>
          <a:p>
            <a:fld id="{D61274BD-2225-430E-B195-718FE1CD5BBA}"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Ce rôle est traité au module 4. Chez Avaedos, il partage RDS-GATEWAY1 et RDS-GATEWAY2 avec l’accès Web, derrière le nom </a:t>
            </a:r>
            <a:r>
              <a:rPr>
                <a:latin typeface="Courier"/>
              </a:rPr>
              <a:t>rds.avaedos.lan</a:t>
            </a:r>
            <a:r>
              <a:rPr/>
              <a:t>.</a:t>
            </a:r>
          </a:p>
        </p:txBody>
      </p:sp>
      <p:sp>
        <p:nvSpPr>
          <p:cNvPr id="4" name="Slide Number Placeholder 3"/>
          <p:cNvSpPr>
            <a:spLocks noGrp="1"/>
          </p:cNvSpPr>
          <p:nvPr>
            <p:ph type="sldNum" sz="quarter" idx="10"/>
          </p:nvPr>
        </p:nvSpPr>
        <p:spPr/>
        <p:txBody>
          <a:bodyPr/>
          <a:lstStyle/>
          <a:p>
            <a:fld id="{D61274BD-2225-430E-B195-718FE1CD5BBA}"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Il peut être installé sur un serveur existant : chez Avaedos, sur RDS-CBROKER1.</a:t>
            </a:r>
          </a:p>
        </p:txBody>
      </p:sp>
      <p:sp>
        <p:nvSpPr>
          <p:cNvPr id="4" name="Slide Number Placeholder 3"/>
          <p:cNvSpPr>
            <a:spLocks noGrp="1"/>
          </p:cNvSpPr>
          <p:nvPr>
            <p:ph type="sldNum" sz="quarter" idx="10"/>
          </p:nvPr>
        </p:nvSpPr>
        <p:spPr/>
        <p:txBody>
          <a:bodyPr/>
          <a:lstStyle/>
          <a:p>
            <a:fld id="{D61274BD-2225-430E-B195-718FE1CD5BBA}"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Schéma : les cinq étapes numérotées entre le client, l’accès Web, la passerelle, le Connection Broker, l’hôte de session et le serveur de licences.</a:t>
            </a:r>
          </a:p>
          <a:p>
            <a:pPr lvl="0" indent="0" marL="0">
              <a:buNone/>
            </a:pPr>
          </a:p>
          <a:p>
            <a:pPr lvl="0" indent="0" marL="0">
              <a:buNone/>
            </a:pPr>
            <a:r>
              <a:rPr/>
              <a:t>Ce parcours sert de grille de diagnostic au module 5 : pour un incident de connexion, on cherche à quelle étape la chaîne se rompt.</a:t>
            </a:r>
          </a:p>
        </p:txBody>
      </p:sp>
      <p:sp>
        <p:nvSpPr>
          <p:cNvPr id="4" name="Slide Number Placeholder 3"/>
          <p:cNvSpPr>
            <a:spLocks noGrp="1"/>
          </p:cNvSpPr>
          <p:nvPr>
            <p:ph type="sldNum" sz="quarter" idx="10"/>
          </p:nvPr>
        </p:nvSpPr>
        <p:spPr/>
        <p:txBody>
          <a:bodyPr/>
          <a:lstStyle/>
          <a:p>
            <a:fld id="{D61274BD-2225-430E-B195-718FE1CD5BBA}"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RDP n’est pas propre à RDS : le même protocole sert à l’administration, à l’assistance et aux offres cloud de Microsoft. Les compétences acquises ici s’y transposent.</a:t>
            </a:r>
          </a:p>
        </p:txBody>
      </p:sp>
      <p:sp>
        <p:nvSpPr>
          <p:cNvPr id="4" name="Slide Number Placeholder 3"/>
          <p:cNvSpPr>
            <a:spLocks noGrp="1"/>
          </p:cNvSpPr>
          <p:nvPr>
            <p:ph type="sldNum" sz="quarter" idx="10"/>
          </p:nvPr>
        </p:nvSpPr>
        <p:spPr/>
        <p:txBody>
          <a:bodyPr/>
          <a:lstStyle/>
          <a:p>
            <a:fld id="{D61274BD-2225-430E-B195-718FE1CD5BBA}"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Chaque redirection est un canal virtuel que l’on peut autoriser ou interdire par stratégie : c’est la base du durcissement vu au module 4.</a:t>
            </a:r>
          </a:p>
        </p:txBody>
      </p:sp>
      <p:sp>
        <p:nvSpPr>
          <p:cNvPr id="4" name="Slide Number Placeholder 3"/>
          <p:cNvSpPr>
            <a:spLocks noGrp="1"/>
          </p:cNvSpPr>
          <p:nvPr>
            <p:ph type="sldNum" sz="quarter" idx="10"/>
          </p:nvPr>
        </p:nvSpPr>
        <p:spPr/>
        <p:txBody>
          <a:bodyPr/>
          <a:lstStyle/>
          <a:p>
            <a:fld id="{D61274BD-2225-430E-B195-718FE1CD5BBA}"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Schéma : une connexion RDP unique transporte plusieurs canaux virtuels entre le client et l’hôte de session.</a:t>
            </a:r>
          </a:p>
          <a:p>
            <a:pPr lvl="0" indent="0" marL="0">
              <a:buNone/>
            </a:pPr>
          </a:p>
          <a:p>
            <a:pPr lvl="0" indent="0" marL="0">
              <a:buNone/>
            </a:pPr>
            <a:r>
              <a:rPr/>
              <a:t>Chaque canal peut être autorisé ou interdit indépendamment : c’est ce qui rend les redirections pilotables par stratégie.</a:t>
            </a:r>
          </a:p>
        </p:txBody>
      </p:sp>
      <p:sp>
        <p:nvSpPr>
          <p:cNvPr id="4" name="Slide Number Placeholder 3"/>
          <p:cNvSpPr>
            <a:spLocks noGrp="1"/>
          </p:cNvSpPr>
          <p:nvPr>
            <p:ph type="sldNum" sz="quarter" idx="10"/>
          </p:nvPr>
        </p:nvSpPr>
        <p:spPr/>
        <p:txBody>
          <a:bodyPr/>
          <a:lstStyle/>
          <a:p>
            <a:fld id="{D61274BD-2225-430E-B195-718FE1CD5BBA}"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 transport UDP améliore nettement l’expérience sur les réseaux à latence élevée ; s’il est bloqué, la session repasse en TCP sans erreur visible, mais l’expérience se dégrade. C’est un point à vérifier au module 4 lorsqu’on ouvre la passerelle.</a:t>
            </a:r>
          </a:p>
          <a:p>
            <a:pPr lvl="0" indent="0" marL="0">
              <a:buNone/>
            </a:pPr>
          </a:p>
          <a:p>
            <a:pPr lvl="0" indent="0" marL="0">
              <a:buNone/>
            </a:pPr>
            <a:r>
              <a:rPr/>
              <a:t>L’authentification unique et Easy Print sont détaillés aux modules 3 et 4.</a:t>
            </a:r>
          </a:p>
        </p:txBody>
      </p:sp>
      <p:sp>
        <p:nvSpPr>
          <p:cNvPr id="4" name="Slide Number Placeholder 3"/>
          <p:cNvSpPr>
            <a:spLocks noGrp="1"/>
          </p:cNvSpPr>
          <p:nvPr>
            <p:ph type="sldNum" sz="quarter" idx="10"/>
          </p:nvPr>
        </p:nvSpPr>
        <p:spPr/>
        <p:txBody>
          <a:bodyPr/>
          <a:lstStyle/>
          <a:p>
            <a:fld id="{D61274BD-2225-430E-B195-718FE1CD5BBA}"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RemoteFX vGPU a été retiré pour des raisons de sécurité : l’accélération graphique des machines virtuelles passe par DDA (un GPU entier par machine virtuelle) ou par le partitionnement de GPU, présenté au module 3.</a:t>
            </a:r>
          </a:p>
          <a:p>
            <a:pPr lvl="0" indent="0" marL="0">
              <a:buNone/>
            </a:pPr>
          </a:p>
          <a:p>
            <a:pPr lvl="0" indent="0" marL="0">
              <a:buNone/>
            </a:pPr>
            <a:r>
              <a:rPr/>
              <a:t>Vérifier les conditions de licence du fabricant du GPU pour un usage en multisession.</a:t>
            </a:r>
          </a:p>
        </p:txBody>
      </p:sp>
      <p:sp>
        <p:nvSpPr>
          <p:cNvPr id="4" name="Slide Number Placeholder 3"/>
          <p:cNvSpPr>
            <a:spLocks noGrp="1"/>
          </p:cNvSpPr>
          <p:nvPr>
            <p:ph type="sldNum" sz="quarter" idx="10"/>
          </p:nvPr>
        </p:nvSpPr>
        <p:spPr/>
        <p:txBody>
          <a:bodyPr/>
          <a:lstStyle/>
          <a:p>
            <a:fld id="{D61274BD-2225-430E-B195-718FE1CD5BBA}"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Les CAL RDS sont liées à un accord de licence et s’activent à partir des informations de l’accord, pas d’une clé produit.</a:t>
            </a:r>
          </a:p>
        </p:txBody>
      </p:sp>
      <p:sp>
        <p:nvSpPr>
          <p:cNvPr id="4" name="Slide Number Placeholder 3"/>
          <p:cNvSpPr>
            <a:spLocks noGrp="1"/>
          </p:cNvSpPr>
          <p:nvPr>
            <p:ph type="sldNum" sz="quarter" idx="10"/>
          </p:nvPr>
        </p:nvSpPr>
        <p:spPr/>
        <p:txBody>
          <a:bodyPr/>
          <a:lstStyle/>
          <a:p>
            <a:fld id="{D61274BD-2225-430E-B195-718FE1CD5BBA}"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Choix du type : par utilisateur pour des nomades multi-appareils, par périphérique pour des postes partagés par plusieurs équipes successives. Le client web exige le mode par utilisateur : c’est le choix d’Avaedos.</a:t>
            </a:r>
          </a:p>
        </p:txBody>
      </p:sp>
      <p:sp>
        <p:nvSpPr>
          <p:cNvPr id="4" name="Slide Number Placeholder 3"/>
          <p:cNvSpPr>
            <a:spLocks noGrp="1"/>
          </p:cNvSpPr>
          <p:nvPr>
            <p:ph type="sldNum" sz="quarter" idx="10"/>
          </p:nvPr>
        </p:nvSpPr>
        <p:spPr/>
        <p:txBody>
          <a:bodyPr/>
          <a:lstStyle/>
          <a:p>
            <a:fld id="{D61274BD-2225-430E-B195-718FE1CD5BBA}"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Schéma : un serveur de licences relié aux hôtes de session, avec les types de CAL qu’il délivre.</a:t>
            </a:r>
          </a:p>
        </p:txBody>
      </p:sp>
      <p:sp>
        <p:nvSpPr>
          <p:cNvPr id="4" name="Slide Number Placeholder 3"/>
          <p:cNvSpPr>
            <a:spLocks noGrp="1"/>
          </p:cNvSpPr>
          <p:nvPr>
            <p:ph type="sldNum" sz="quarter" idx="10"/>
          </p:nvPr>
        </p:nvSpPr>
        <p:spPr/>
        <p:txBody>
          <a:bodyPr/>
          <a:lstStyle/>
          <a:p>
            <a:fld id="{D61274BD-2225-430E-B195-718FE1CD5BBA}"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Conséquence pratique : des hôtes de session Windows Server 2025 exigent des CAL 2025, et seul un serveur de licences Windows Server 2025 peut les délivrer. Chez Avaedos, RDS-CBROKER1 porte le serveur de licences en Windows Server 2025.</a:t>
            </a:r>
          </a:p>
        </p:txBody>
      </p:sp>
      <p:sp>
        <p:nvSpPr>
          <p:cNvPr id="4" name="Slide Number Placeholder 3"/>
          <p:cNvSpPr>
            <a:spLocks noGrp="1"/>
          </p:cNvSpPr>
          <p:nvPr>
            <p:ph type="sldNum" sz="quarter" idx="10"/>
          </p:nvPr>
        </p:nvSpPr>
        <p:spPr/>
        <p:txBody>
          <a:bodyPr/>
          <a:lstStyle/>
          <a:p>
            <a:fld id="{D61274BD-2225-430E-B195-718FE1CD5BBA}" type="slidenum">
              <a:rPr lang="en-US"/>
              <a:t>28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Une ferme qui refuse brusquement toutes les connexions après quatre mois a presque toujours un serveur de licences mal déclaré.</a:t>
            </a:r>
          </a:p>
          <a:p>
            <a:pPr lvl="0" indent="0" marL="0">
              <a:buNone/>
            </a:pPr>
          </a:p>
          <a:p>
            <a:pPr lvl="0" indent="0" marL="0">
              <a:buNone/>
            </a:pPr>
            <a:r>
              <a:rPr/>
              <a:t>Pour l’administration à distance, aucune CAL RDS n’est nécessaire : ne pas installer le rôle d’hôte de session sur un serveur qui n’en a pas besoin.</a:t>
            </a:r>
          </a:p>
        </p:txBody>
      </p:sp>
      <p:sp>
        <p:nvSpPr>
          <p:cNvPr id="4" name="Slide Number Placeholder 3"/>
          <p:cNvSpPr>
            <a:spLocks noGrp="1"/>
          </p:cNvSpPr>
          <p:nvPr>
            <p:ph type="sldNum" sz="quarter" idx="10"/>
          </p:nvPr>
        </p:nvSpPr>
        <p:spPr/>
        <p:txBody>
          <a:bodyPr/>
          <a:lstStyle/>
          <a:p>
            <a:fld id="{D61274BD-2225-430E-B195-718FE1CD5BBA}" type="slidenum">
              <a:rPr lang="en-US"/>
              <a:t>29</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L’inclusion de FSLogix dans la CAL RDS est un argument fort pour l’adopter : aucun coût supplémentaire. FSLogix est détaillé au module 3.</a:t>
            </a:r>
          </a:p>
        </p:txBody>
      </p:sp>
      <p:sp>
        <p:nvSpPr>
          <p:cNvPr id="4" name="Slide Number Placeholder 3"/>
          <p:cNvSpPr>
            <a:spLocks noGrp="1"/>
          </p:cNvSpPr>
          <p:nvPr>
            <p:ph type="sldNum" sz="quarter" idx="10"/>
          </p:nvPr>
        </p:nvSpPr>
        <p:spPr/>
        <p:txBody>
          <a:bodyPr/>
          <a:lstStyle/>
          <a:p>
            <a:fld id="{D61274BD-2225-430E-B195-718FE1CD5BBA}" type="slidenum">
              <a:rPr lang="en-US"/>
              <a:t>30</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RDS reste pertinent lorsque les données doivent rester sur site, lorsque la connexion Internet n’est pas garantie ou lorsque l’investissement matériel existe. Azure Virtual Desktop apporte Windows 11 multisession et supprime la gestion des passerelles et du Connection Broker. Windows 365 vise la simplicité, avec un poste cloud par utilisateur.</a:t>
            </a:r>
          </a:p>
        </p:txBody>
      </p:sp>
      <p:sp>
        <p:nvSpPr>
          <p:cNvPr id="4" name="Slide Number Placeholder 3"/>
          <p:cNvSpPr>
            <a:spLocks noGrp="1"/>
          </p:cNvSpPr>
          <p:nvPr>
            <p:ph type="sldNum" sz="quarter" idx="10"/>
          </p:nvPr>
        </p:nvSpPr>
        <p:spPr/>
        <p:txBody>
          <a:bodyPr/>
          <a:lstStyle/>
          <a:p>
            <a:fld id="{D61274BD-2225-430E-B195-718FE1CD5BBA}" type="slidenum">
              <a:rPr lang="en-US"/>
              <a:t>31</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C’est l’option hybride : l’expérience et les fonctionnalités d’Azure Virtual Desktop avec des machines sur site. Elle répond aux contraintes de localisation des données, mais suppose une infrastructure Azure Local et une connexion permanente à Azure.</a:t>
            </a:r>
          </a:p>
          <a:p>
            <a:pPr lvl="0" indent="0" marL="0">
              <a:buNone/>
            </a:pPr>
          </a:p>
          <a:p>
            <a:pPr lvl="0" indent="0" marL="0">
              <a:buNone/>
            </a:pPr>
            <a:r>
              <a:rPr/>
              <a:t>Microsoft oriente ses évolutions vers Azure Virtual Desktop et Windows 365 : RDS évolue peu, ce qui plaide pour un choix d’architecture réfléchi.</a:t>
            </a:r>
          </a:p>
        </p:txBody>
      </p:sp>
      <p:sp>
        <p:nvSpPr>
          <p:cNvPr id="4" name="Slide Number Placeholder 3"/>
          <p:cNvSpPr>
            <a:spLocks noGrp="1"/>
          </p:cNvSpPr>
          <p:nvPr>
            <p:ph type="sldNum" sz="quarter" idx="10"/>
          </p:nvPr>
        </p:nvSpPr>
        <p:spPr/>
        <p:txBody>
          <a:bodyPr/>
          <a:lstStyle/>
          <a:p>
            <a:fld id="{D61274BD-2225-430E-B195-718FE1CD5BBA}" type="slidenum">
              <a:rPr lang="en-US"/>
              <a:t>32</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Cette diapositive annonce les points de vigilance traités dans les modules suivants.</a:t>
            </a:r>
          </a:p>
          <a:p>
            <a:pPr lvl="0" indent="0" marL="0">
              <a:buNone/>
            </a:pPr>
          </a:p>
          <a:p>
            <a:pPr lvl="0" indent="0" marL="0">
              <a:buNone/>
            </a:pPr>
            <a:r>
              <a:rPr/>
              <a:t>Le support de Microsoft 365 Apps sur Windows Server 2025 court jusqu’en octobre 2029, contre octobre 2026 sur Windows Server 2022.</a:t>
            </a:r>
          </a:p>
        </p:txBody>
      </p:sp>
      <p:sp>
        <p:nvSpPr>
          <p:cNvPr id="4" name="Slide Number Placeholder 3"/>
          <p:cNvSpPr>
            <a:spLocks noGrp="1"/>
          </p:cNvSpPr>
          <p:nvPr>
            <p:ph type="sldNum" sz="quarter" idx="10"/>
          </p:nvPr>
        </p:nvSpPr>
        <p:spPr/>
        <p:txBody>
          <a:bodyPr/>
          <a:lstStyle/>
          <a:p>
            <a:fld id="{D61274BD-2225-430E-B195-718FE1CD5BBA}" type="slidenum">
              <a:rPr lang="en-US"/>
              <a:t>33</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Vérifier que les participants savent distinguer les six rôles et les deux types de CAL : le module 2 les déploie.</a:t>
            </a:r>
          </a:p>
        </p:txBody>
      </p:sp>
      <p:sp>
        <p:nvSpPr>
          <p:cNvPr id="4" name="Slide Number Placeholder 3"/>
          <p:cNvSpPr>
            <a:spLocks noGrp="1"/>
          </p:cNvSpPr>
          <p:nvPr>
            <p:ph type="sldNum" sz="quarter" idx="10"/>
          </p:nvPr>
        </p:nvSpPr>
        <p:spPr/>
        <p:txBody>
          <a:bodyPr/>
          <a:lstStyle/>
          <a:p>
            <a:fld id="{D61274BD-2225-430E-B195-718FE1CD5BBA}" type="slidenum">
              <a:rPr lang="en-US"/>
              <a:t>34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5.jp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Ref idx="1001">
        <a:schemeClr val="bg1"/>
      </p:bgRef>
    </p:bg>
    <p:spTree>
      <p:nvGrpSpPr>
        <p:cNvPr id="1" name=""/>
        <p:cNvGrpSpPr/>
        <p:nvPr/>
      </p:nvGrpSpPr>
      <p:grpSpPr>
        <a:xfrm>
          <a:off x="0" y="0"/>
          <a:ext cx="0" cy="0"/>
          <a:chOff x="0" y="0"/>
          <a:chExt cx="0" cy="0"/>
        </a:xfrm>
      </p:grpSpPr>
      <p:sp>
        <p:nvSpPr>
          <p:cNvPr id="19" name="Titre 18"/>
          <p:cNvSpPr>
            <a:spLocks noGrp="1"/>
          </p:cNvSpPr>
          <p:nvPr>
            <p:ph type="title" hasCustomPrompt="1"/>
          </p:nvPr>
        </p:nvSpPr>
        <p:spPr>
          <a:xfrm>
            <a:off x="71406" y="5286388"/>
            <a:ext cx="9001188" cy="571504"/>
          </a:xfrm>
          <a:noFill/>
          <a:ln w="9525">
            <a:noFill/>
            <a:miter lim="800000"/>
            <a:headEnd/>
            <a:tailEnd/>
          </a:ln>
        </p:spPr>
        <p:txBody>
          <a:bodyPr anchor="ctr"/>
          <a:lstStyle>
            <a:lvl1pPr marL="0" algn="r" defTabSz="914400" rtl="0" eaLnBrk="1" latinLnBrk="0" hangingPunct="1">
              <a:defRPr lang="fr-FR" sz="2800" b="0" kern="1200" cap="none" spc="0" baseline="0" dirty="0">
                <a:ln>
                  <a:noFill/>
                </a:ln>
                <a:solidFill>
                  <a:srgbClr val="000000"/>
                </a:solidFill>
                <a:effectLst/>
                <a:latin typeface="Arial" pitchFamily="34" charset="0"/>
                <a:ea typeface="+mn-ea"/>
                <a:cs typeface="Arial" pitchFamily="34" charset="0"/>
              </a:defRPr>
            </a:lvl1pPr>
          </a:lstStyle>
          <a:p>
            <a:r>
              <a:rPr lang="fr-FR" dirty="0"/>
              <a:t>MODULE : Titre du module</a:t>
            </a:r>
          </a:p>
        </p:txBody>
      </p:sp>
      <p:sp>
        <p:nvSpPr>
          <p:cNvPr id="7" name="Espace réservé du pied de page 13"/>
          <p:cNvSpPr txBox="1">
            <a:spLocks/>
          </p:cNvSpPr>
          <p:nvPr userDrawn="1"/>
        </p:nvSpPr>
        <p:spPr>
          <a:xfrm>
            <a:off x="6000728" y="6476998"/>
            <a:ext cx="3070678" cy="381002"/>
          </a:xfrm>
          <a:prstGeom prst="rect">
            <a:avLst/>
          </a:prstGeom>
        </p:spPr>
        <p:txBody>
          <a:bodyPr anchor="ctr" anchorCtr="0"/>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effectLst/>
                <a:uLnTx/>
                <a:uFillTx/>
                <a:latin typeface="Arial" pitchFamily="34" charset="0"/>
                <a:cs typeface="Arial" pitchFamily="34" charset="0"/>
              </a:rPr>
              <a:t>Copyright © AVAEDOS. All rights reserved</a:t>
            </a:r>
            <a:endParaRPr kumimoji="0" lang="fr-BE" sz="1000" b="1" i="0" u="none" strike="noStrike" kern="1200" cap="none" spc="0" normalizeH="0" baseline="0" noProof="0" dirty="0">
              <a:ln>
                <a:noFill/>
              </a:ln>
              <a:effectLst/>
              <a:uLnTx/>
              <a:uFillTx/>
              <a:latin typeface="Arial" pitchFamily="34" charset="0"/>
              <a:cs typeface="Arial" pitchFamily="34" charset="0"/>
            </a:endParaRPr>
          </a:p>
        </p:txBody>
      </p:sp>
      <p:sp>
        <p:nvSpPr>
          <p:cNvPr id="4" name="Text Placeholder 3"/>
          <p:cNvSpPr>
            <a:spLocks noGrp="1"/>
          </p:cNvSpPr>
          <p:nvPr>
            <p:ph type="body" sz="quarter" idx="10" hasCustomPrompt="1"/>
          </p:nvPr>
        </p:nvSpPr>
        <p:spPr>
          <a:xfrm>
            <a:off x="71406" y="5893635"/>
            <a:ext cx="9000000" cy="360000"/>
          </a:xfrm>
        </p:spPr>
        <p:txBody>
          <a:bodyPr>
            <a:noAutofit/>
          </a:bodyPr>
          <a:lstStyle>
            <a:lvl1pPr marL="0" indent="0" algn="r" defTabSz="900000">
              <a:buNone/>
              <a:defRPr lang="en-US" sz="1600" b="1" kern="1200" dirty="0" smtClean="0">
                <a:solidFill>
                  <a:srgbClr val="FF9900"/>
                </a:solidFill>
                <a:latin typeface="Arial" pitchFamily="34" charset="0"/>
                <a:ea typeface="+mn-ea"/>
                <a:cs typeface="Arial" pitchFamily="34" charset="0"/>
              </a:defRPr>
            </a:lvl1pPr>
            <a:lvl2pPr>
              <a:defRPr sz="1100" b="1"/>
            </a:lvl2pPr>
            <a:lvl3pPr>
              <a:defRPr sz="1050" b="1"/>
            </a:lvl3pPr>
            <a:lvl4pPr>
              <a:defRPr sz="1000" b="1"/>
            </a:lvl4pPr>
            <a:lvl5pPr>
              <a:defRPr sz="1000" b="1"/>
            </a:lvl5pPr>
          </a:lstStyle>
          <a:p>
            <a:pPr lvl="0"/>
            <a:r>
              <a:rPr lang="fr-FR" noProof="0" dirty="0"/>
              <a:t>Titre de la formation</a:t>
            </a:r>
          </a:p>
        </p:txBody>
      </p:sp>
      <p:sp>
        <p:nvSpPr>
          <p:cNvPr id="10" name="Rectangle 9"/>
          <p:cNvSpPr/>
          <p:nvPr userDrawn="1"/>
        </p:nvSpPr>
        <p:spPr>
          <a:xfrm>
            <a:off x="0" y="5759"/>
            <a:ext cx="9144000" cy="5057265"/>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54588" y="1635622"/>
            <a:ext cx="4033636" cy="1498988"/>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1+#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 calcmode="lin" valueType="num">
                                      <p:cBhvr additive="base">
                                        <p:cTn id="12" dur="500" fill="hold"/>
                                        <p:tgtEl>
                                          <p:spTgt spid="4">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 grpId="0" build="p">
        <p:tmplLst>
          <p:tmpl lvl="1">
            <p:tnLst>
              <p:par>
                <p:cTn presetID="2" presetClass="entr" presetSubtype="2" fill="hold" nodeType="afterEffect">
                  <p:stCondLst>
                    <p:cond delay="0"/>
                  </p:stCondLst>
                  <p:childTnLst>
                    <p:set>
                      <p:cBhvr>
                        <p:cTn dur="1" fill="hold">
                          <p:stCondLst>
                            <p:cond delay="0"/>
                          </p:stCondLst>
                        </p:cTn>
                        <p:tgtEl>
                          <p:spTgt spid="4"/>
                        </p:tgtEl>
                        <p:attrNameLst>
                          <p:attrName>style.visibility</p:attrName>
                        </p:attrNameLst>
                      </p:cBhvr>
                      <p:to>
                        <p:strVal val="visible"/>
                      </p:to>
                    </p:set>
                    <p:anim calcmode="lin" valueType="num">
                      <p:cBhvr additive="base">
                        <p:cTn dur="500" fill="hold"/>
                        <p:tgtEl>
                          <p:spTgt spid="4"/>
                        </p:tgtEl>
                        <p:attrNameLst>
                          <p:attrName>ppt_x</p:attrName>
                        </p:attrNameLst>
                      </p:cBhvr>
                      <p:tavLst>
                        <p:tav tm="0">
                          <p:val>
                            <p:strVal val="1+#ppt_w/2"/>
                          </p:val>
                        </p:tav>
                        <p:tav tm="100000">
                          <p:val>
                            <p:strVal val="#ppt_x"/>
                          </p:val>
                        </p:tav>
                      </p:tavLst>
                    </p:anim>
                    <p:anim calcmode="lin" valueType="num">
                      <p:cBhvr additive="base">
                        <p:cTn dur="500" fill="hold"/>
                        <p:tgtEl>
                          <p:spTgt spid="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2" name="Espace réservé du numéro de diapositive 11"/>
          <p:cNvSpPr>
            <a:spLocks noGrp="1"/>
          </p:cNvSpPr>
          <p:nvPr>
            <p:ph type="sldNum" sz="quarter" idx="10"/>
          </p:nvPr>
        </p:nvSpPr>
        <p:spPr/>
        <p:txBody>
          <a:bodyPr/>
          <a:lstStyle/>
          <a:p>
            <a:fld id="{CF4668DC-857F-487D-BFFA-8C0CA5037977}" type="slidenum">
              <a:rPr lang="fr-BE" smtClean="0"/>
              <a:pPr/>
              <a:t>‹N°›</a:t>
            </a:fld>
            <a:endParaRPr lang="fr-BE"/>
          </a:p>
        </p:txBody>
      </p:sp>
      <p:sp>
        <p:nvSpPr>
          <p:cNvPr id="6" name="Espace réservé du contenu 2"/>
          <p:cNvSpPr>
            <a:spLocks noGrp="1"/>
          </p:cNvSpPr>
          <p:nvPr>
            <p:ph idx="1"/>
          </p:nvPr>
        </p:nvSpPr>
        <p:spPr>
          <a:xfrm>
            <a:off x="71406" y="1500174"/>
            <a:ext cx="9001188" cy="4929221"/>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Title 1"/>
          <p:cNvSpPr>
            <a:spLocks noGrp="1"/>
          </p:cNvSpPr>
          <p:nvPr>
            <p:ph type="title"/>
          </p:nvPr>
        </p:nvSpPr>
        <p:spPr/>
        <p:txBody>
          <a:bodyPr/>
          <a:lstStyle/>
          <a:p>
            <a:r>
              <a:rPr lang="en-US"/>
              <a:t>Click to edit Master title style</a:t>
            </a:r>
            <a:endParaRPr lang="fr-FR"/>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71406" y="1500174"/>
            <a:ext cx="4320000" cy="492922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4" name="Espace réservé du contenu 3"/>
          <p:cNvSpPr>
            <a:spLocks noGrp="1"/>
          </p:cNvSpPr>
          <p:nvPr>
            <p:ph sz="half" idx="2"/>
          </p:nvPr>
        </p:nvSpPr>
        <p:spPr>
          <a:xfrm>
            <a:off x="4750388" y="1500174"/>
            <a:ext cx="4320000" cy="492922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
        <p:nvSpPr>
          <p:cNvPr id="8" name="Titre 7"/>
          <p:cNvSpPr>
            <a:spLocks noGrp="1"/>
          </p:cNvSpPr>
          <p:nvPr>
            <p:ph type="title"/>
          </p:nvPr>
        </p:nvSpPr>
        <p:spPr/>
        <p:txBody>
          <a:bodyPr/>
          <a:lstStyle/>
          <a:p>
            <a:r>
              <a:rPr lang="en-US"/>
              <a:t>Click to edit Master title style</a:t>
            </a:r>
            <a:endParaRPr lang="fr-FR"/>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1 colonne à gauche et 2 blocs à droit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en-US"/>
              <a:t>Click to edit Master title style</a:t>
            </a:r>
          </a:p>
        </p:txBody>
      </p:sp>
      <p:sp>
        <p:nvSpPr>
          <p:cNvPr id="5" name="Espace réservé du numéro de diapositive 4"/>
          <p:cNvSpPr>
            <a:spLocks noGrp="1"/>
          </p:cNvSpPr>
          <p:nvPr>
            <p:ph type="sldNum" sz="quarter" idx="12"/>
          </p:nvPr>
        </p:nvSpPr>
        <p:spPr/>
        <p:txBody>
          <a:bodyPr/>
          <a:lstStyle/>
          <a:p>
            <a:fld id="{CF4668DC-857F-487D-BFFA-8C0CA5037977}" type="slidenum">
              <a:rPr lang="fr-BE" smtClean="0"/>
              <a:pPr/>
              <a:t>‹N°›</a:t>
            </a:fld>
            <a:endParaRPr lang="fr-BE"/>
          </a:p>
        </p:txBody>
      </p:sp>
      <p:sp>
        <p:nvSpPr>
          <p:cNvPr id="6" name="Espace réservé du contenu 2"/>
          <p:cNvSpPr>
            <a:spLocks noGrp="1"/>
          </p:cNvSpPr>
          <p:nvPr>
            <p:ph sz="half" idx="1"/>
          </p:nvPr>
        </p:nvSpPr>
        <p:spPr>
          <a:xfrm>
            <a:off x="71406" y="1500174"/>
            <a:ext cx="4320000" cy="492922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7" name="Espace réservé du contenu 3"/>
          <p:cNvSpPr>
            <a:spLocks noGrp="1"/>
          </p:cNvSpPr>
          <p:nvPr>
            <p:ph sz="half" idx="2"/>
          </p:nvPr>
        </p:nvSpPr>
        <p:spPr>
          <a:xfrm>
            <a:off x="4750388" y="1500174"/>
            <a:ext cx="4320000" cy="24288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8" name="Espace réservé du contenu 3"/>
          <p:cNvSpPr>
            <a:spLocks noGrp="1"/>
          </p:cNvSpPr>
          <p:nvPr>
            <p:ph sz="half" idx="14"/>
          </p:nvPr>
        </p:nvSpPr>
        <p:spPr>
          <a:xfrm>
            <a:off x="4750388" y="4000504"/>
            <a:ext cx="4320000" cy="24288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1 colonne à droite et 2 blocs à gauch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4" name="Espace réservé du numéro de diapositive 3"/>
          <p:cNvSpPr>
            <a:spLocks noGrp="1"/>
          </p:cNvSpPr>
          <p:nvPr>
            <p:ph type="sldNum" sz="quarter" idx="11"/>
          </p:nvPr>
        </p:nvSpPr>
        <p:spPr/>
        <p:txBody>
          <a:bodyPr/>
          <a:lstStyle/>
          <a:p>
            <a:fld id="{CF4668DC-857F-487D-BFFA-8C0CA5037977}" type="slidenum">
              <a:rPr lang="fr-BE" smtClean="0"/>
              <a:pPr/>
              <a:t>‹N°›</a:t>
            </a:fld>
            <a:endParaRPr lang="fr-BE"/>
          </a:p>
        </p:txBody>
      </p:sp>
      <p:sp>
        <p:nvSpPr>
          <p:cNvPr id="5" name="Espace réservé du contenu 3"/>
          <p:cNvSpPr>
            <a:spLocks noGrp="1"/>
          </p:cNvSpPr>
          <p:nvPr>
            <p:ph sz="half" idx="2"/>
          </p:nvPr>
        </p:nvSpPr>
        <p:spPr>
          <a:xfrm>
            <a:off x="4750388" y="1500174"/>
            <a:ext cx="4320000" cy="492922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6" name="Espace réservé du contenu 2"/>
          <p:cNvSpPr>
            <a:spLocks noGrp="1"/>
          </p:cNvSpPr>
          <p:nvPr>
            <p:ph sz="half" idx="1"/>
          </p:nvPr>
        </p:nvSpPr>
        <p:spPr>
          <a:xfrm>
            <a:off x="71406" y="1500174"/>
            <a:ext cx="4320000"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7" name="Espace réservé du contenu 2"/>
          <p:cNvSpPr>
            <a:spLocks noGrp="1"/>
          </p:cNvSpPr>
          <p:nvPr>
            <p:ph sz="half" idx="13"/>
          </p:nvPr>
        </p:nvSpPr>
        <p:spPr>
          <a:xfrm>
            <a:off x="71406" y="4000504"/>
            <a:ext cx="4320000"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extLst/>
          </a:lstStyle>
          <a:p>
            <a:r>
              <a:rPr kumimoji="0" lang="en-US"/>
              <a:t>Click to edit Master title style</a:t>
            </a:r>
          </a:p>
        </p:txBody>
      </p:sp>
      <p:sp>
        <p:nvSpPr>
          <p:cNvPr id="9" name="Espace réservé du numéro de diapositive 8"/>
          <p:cNvSpPr>
            <a:spLocks noGrp="1"/>
          </p:cNvSpPr>
          <p:nvPr>
            <p:ph type="sldNum" sz="quarter" idx="12"/>
          </p:nvPr>
        </p:nvSpPr>
        <p:spPr/>
        <p:txBody>
          <a:bodyPr/>
          <a:lstStyle/>
          <a:p>
            <a:fld id="{CF4668DC-857F-487D-BFFA-8C0CA5037977}" type="slidenum">
              <a:rPr lang="fr-BE" smtClean="0"/>
              <a:pPr/>
              <a:t>‹N°›</a:t>
            </a:fld>
            <a:endParaRPr lang="fr-BE"/>
          </a:p>
        </p:txBody>
      </p:sp>
      <p:sp>
        <p:nvSpPr>
          <p:cNvPr id="10" name="Espace réservé du contenu 2"/>
          <p:cNvSpPr>
            <a:spLocks noGrp="1"/>
          </p:cNvSpPr>
          <p:nvPr>
            <p:ph sz="half" idx="1"/>
          </p:nvPr>
        </p:nvSpPr>
        <p:spPr>
          <a:xfrm>
            <a:off x="71406" y="1500174"/>
            <a:ext cx="4320000"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11" name="Espace réservé du contenu 3"/>
          <p:cNvSpPr>
            <a:spLocks noGrp="1"/>
          </p:cNvSpPr>
          <p:nvPr>
            <p:ph sz="half" idx="2"/>
          </p:nvPr>
        </p:nvSpPr>
        <p:spPr>
          <a:xfrm>
            <a:off x="4750388" y="1500174"/>
            <a:ext cx="4320000" cy="24288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12" name="Espace réservé du contenu 2"/>
          <p:cNvSpPr>
            <a:spLocks noGrp="1"/>
          </p:cNvSpPr>
          <p:nvPr>
            <p:ph sz="half" idx="13"/>
          </p:nvPr>
        </p:nvSpPr>
        <p:spPr>
          <a:xfrm>
            <a:off x="71406" y="4000504"/>
            <a:ext cx="4320000"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13" name="Espace réservé du contenu 3"/>
          <p:cNvSpPr>
            <a:spLocks noGrp="1"/>
          </p:cNvSpPr>
          <p:nvPr>
            <p:ph sz="half" idx="14"/>
          </p:nvPr>
        </p:nvSpPr>
        <p:spPr>
          <a:xfrm>
            <a:off x="4750388" y="4000504"/>
            <a:ext cx="4320000" cy="24288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4" name="Espace réservé du numéro de diapositive 3"/>
          <p:cNvSpPr>
            <a:spLocks noGrp="1"/>
          </p:cNvSpPr>
          <p:nvPr>
            <p:ph type="sldNum" sz="quarter" idx="11"/>
          </p:nvPr>
        </p:nvSpPr>
        <p:spPr/>
        <p:txBody>
          <a:bodyPr/>
          <a:lstStyle/>
          <a:p>
            <a:fld id="{CF4668DC-857F-487D-BFFA-8C0CA5037977}" type="slidenum">
              <a:rPr lang="fr-BE" smtClean="0"/>
              <a:pPr/>
              <a:t>‹N°›</a:t>
            </a:fld>
            <a:endParaRPr lang="fr-BE"/>
          </a:p>
        </p:txBody>
      </p:sp>
      <p:sp>
        <p:nvSpPr>
          <p:cNvPr id="5" name="Espace réservé du contenu 2"/>
          <p:cNvSpPr>
            <a:spLocks noGrp="1"/>
          </p:cNvSpPr>
          <p:nvPr>
            <p:ph sz="half" idx="1"/>
          </p:nvPr>
        </p:nvSpPr>
        <p:spPr>
          <a:xfrm>
            <a:off x="71406" y="1500174"/>
            <a:ext cx="9001188"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7" name="Espace réservé du contenu 2"/>
          <p:cNvSpPr>
            <a:spLocks noGrp="1"/>
          </p:cNvSpPr>
          <p:nvPr>
            <p:ph sz="half" idx="13"/>
          </p:nvPr>
        </p:nvSpPr>
        <p:spPr>
          <a:xfrm>
            <a:off x="71406" y="4000504"/>
            <a:ext cx="9001188"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1 ligne en haut et 2 blocs en ba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4" name="Espace réservé du numéro de diapositive 3"/>
          <p:cNvSpPr>
            <a:spLocks noGrp="1"/>
          </p:cNvSpPr>
          <p:nvPr>
            <p:ph type="sldNum" sz="quarter" idx="11"/>
          </p:nvPr>
        </p:nvSpPr>
        <p:spPr/>
        <p:txBody>
          <a:bodyPr/>
          <a:lstStyle/>
          <a:p>
            <a:fld id="{CF4668DC-857F-487D-BFFA-8C0CA5037977}" type="slidenum">
              <a:rPr lang="fr-BE" smtClean="0"/>
              <a:pPr/>
              <a:t>‹N°›</a:t>
            </a:fld>
            <a:endParaRPr lang="fr-BE"/>
          </a:p>
        </p:txBody>
      </p:sp>
      <p:sp>
        <p:nvSpPr>
          <p:cNvPr id="5" name="Espace réservé du contenu 2"/>
          <p:cNvSpPr>
            <a:spLocks noGrp="1"/>
          </p:cNvSpPr>
          <p:nvPr>
            <p:ph sz="half" idx="1"/>
          </p:nvPr>
        </p:nvSpPr>
        <p:spPr>
          <a:xfrm>
            <a:off x="71406" y="1500174"/>
            <a:ext cx="9001188"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6" name="Espace réservé du contenu 2"/>
          <p:cNvSpPr>
            <a:spLocks noGrp="1"/>
          </p:cNvSpPr>
          <p:nvPr>
            <p:ph sz="half" idx="13"/>
          </p:nvPr>
        </p:nvSpPr>
        <p:spPr>
          <a:xfrm>
            <a:off x="71406" y="4000504"/>
            <a:ext cx="4320000"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7" name="Espace réservé du contenu 3"/>
          <p:cNvSpPr>
            <a:spLocks noGrp="1"/>
          </p:cNvSpPr>
          <p:nvPr>
            <p:ph sz="half" idx="14"/>
          </p:nvPr>
        </p:nvSpPr>
        <p:spPr>
          <a:xfrm>
            <a:off x="4750388" y="4000504"/>
            <a:ext cx="4320000" cy="24288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1 ligne en bas et 2 blocs en haut">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4" name="Espace réservé du numéro de diapositive 3"/>
          <p:cNvSpPr>
            <a:spLocks noGrp="1"/>
          </p:cNvSpPr>
          <p:nvPr>
            <p:ph type="sldNum" sz="quarter" idx="11"/>
          </p:nvPr>
        </p:nvSpPr>
        <p:spPr/>
        <p:txBody>
          <a:bodyPr/>
          <a:lstStyle/>
          <a:p>
            <a:fld id="{CF4668DC-857F-487D-BFFA-8C0CA5037977}" type="slidenum">
              <a:rPr lang="fr-BE" smtClean="0"/>
              <a:pPr/>
              <a:t>‹N°›</a:t>
            </a:fld>
            <a:endParaRPr lang="fr-BE"/>
          </a:p>
        </p:txBody>
      </p:sp>
      <p:sp>
        <p:nvSpPr>
          <p:cNvPr id="5" name="Espace réservé du contenu 2"/>
          <p:cNvSpPr>
            <a:spLocks noGrp="1"/>
          </p:cNvSpPr>
          <p:nvPr>
            <p:ph sz="half" idx="13"/>
          </p:nvPr>
        </p:nvSpPr>
        <p:spPr>
          <a:xfrm>
            <a:off x="71406" y="4000504"/>
            <a:ext cx="9001188"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6" name="Espace réservé du contenu 2"/>
          <p:cNvSpPr>
            <a:spLocks noGrp="1"/>
          </p:cNvSpPr>
          <p:nvPr>
            <p:ph sz="half" idx="1"/>
          </p:nvPr>
        </p:nvSpPr>
        <p:spPr>
          <a:xfrm>
            <a:off x="71406" y="1500174"/>
            <a:ext cx="4320000"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7" name="Espace réservé du contenu 3"/>
          <p:cNvSpPr>
            <a:spLocks noGrp="1"/>
          </p:cNvSpPr>
          <p:nvPr>
            <p:ph sz="half" idx="2"/>
          </p:nvPr>
        </p:nvSpPr>
        <p:spPr>
          <a:xfrm>
            <a:off x="4750388" y="1500174"/>
            <a:ext cx="4320000" cy="24288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Slide Number Placeholder 2"/>
          <p:cNvSpPr>
            <a:spLocks noGrp="1"/>
          </p:cNvSpPr>
          <p:nvPr>
            <p:ph type="sldNum" sz="quarter" idx="10"/>
          </p:nvPr>
        </p:nvSpPr>
        <p:spPr/>
        <p:txBody>
          <a:bodyPr/>
          <a:lstStyle/>
          <a:p>
            <a:fld id="{CF4668DC-857F-487D-BFFA-8C0CA5037977}" type="slidenum">
              <a:rPr lang="fr-BE" smtClean="0"/>
              <a:pPr/>
              <a:t>‹N°›</a:t>
            </a:fld>
            <a:endParaRPr lang="fr-BE"/>
          </a:p>
        </p:txBody>
      </p:sp>
    </p:spTree>
    <p:extLst>
      <p:ext uri="{BB962C8B-B14F-4D97-AF65-F5344CB8AC3E}">
        <p14:creationId xmlns:p14="http://schemas.microsoft.com/office/powerpoint/2010/main" val="262755647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fr-FR" noProof="0" dirty="0"/>
              <a:t>Avez-vous des questions ?</a:t>
            </a:r>
          </a:p>
        </p:txBody>
      </p:sp>
      <p:pic>
        <p:nvPicPr>
          <p:cNvPr id="4" name="Picture 5" descr="questionmark"/>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107407" y="1500188"/>
            <a:ext cx="4929187" cy="4929187"/>
          </a:xfrm>
          <a:prstGeom prst="rect">
            <a:avLst/>
          </a:prstGeom>
        </p:spPr>
      </p:pic>
    </p:spTree>
    <p:extLst>
      <p:ext uri="{BB962C8B-B14F-4D97-AF65-F5344CB8AC3E}">
        <p14:creationId xmlns:p14="http://schemas.microsoft.com/office/powerpoint/2010/main" val="2027132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pSp>
        <p:nvGrpSpPr>
          <p:cNvPr id="4" name="Groupe 9"/>
          <p:cNvGrpSpPr/>
          <p:nvPr userDrawn="1"/>
        </p:nvGrpSpPr>
        <p:grpSpPr>
          <a:xfrm>
            <a:off x="285720" y="428604"/>
            <a:ext cx="8643998" cy="5929354"/>
            <a:chOff x="285720" y="428604"/>
            <a:chExt cx="8643998" cy="5929354"/>
          </a:xfrm>
        </p:grpSpPr>
        <p:pic>
          <p:nvPicPr>
            <p:cNvPr id="5" name="Picture 4" descr="C:\Users\EGILIAlearning\Desktop\EGILIA ACADEMY Marie\LOGOS\fond diplome.jpg"/>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285720" y="428604"/>
              <a:ext cx="8643998" cy="5929354"/>
            </a:xfrm>
            <a:prstGeom prst="rect">
              <a:avLst/>
            </a:prstGeom>
            <a:noFill/>
            <a:ln>
              <a:noFill/>
            </a:ln>
          </p:spPr>
        </p:pic>
        <p:sp>
          <p:nvSpPr>
            <p:cNvPr id="6" name="Rectangle 71"/>
            <p:cNvSpPr>
              <a:spLocks noChangeArrowheads="1"/>
            </p:cNvSpPr>
            <p:nvPr/>
          </p:nvSpPr>
          <p:spPr bwMode="auto">
            <a:xfrm>
              <a:off x="1285853" y="1214422"/>
              <a:ext cx="6715172" cy="4429156"/>
            </a:xfrm>
            <a:prstGeom prst="rect">
              <a:avLst/>
            </a:prstGeom>
            <a:solidFill>
              <a:srgbClr val="FFFFFF"/>
            </a:solidFill>
            <a:ln w="12700" algn="ctr">
              <a:solidFill>
                <a:srgbClr val="80808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grpSp>
      <p:sp>
        <p:nvSpPr>
          <p:cNvPr id="8" name="Rectangle 2"/>
          <p:cNvSpPr txBox="1">
            <a:spLocks noChangeArrowheads="1"/>
          </p:cNvSpPr>
          <p:nvPr userDrawn="1"/>
        </p:nvSpPr>
        <p:spPr bwMode="auto">
          <a:xfrm>
            <a:off x="1357290" y="2691466"/>
            <a:ext cx="6586538" cy="553998"/>
          </a:xfrm>
          <a:prstGeom prst="rect">
            <a:avLst/>
          </a:prstGeom>
          <a:noFill/>
          <a:ln w="12700" algn="ctr">
            <a:noFill/>
            <a:miter lim="800000"/>
            <a:headEnd/>
            <a:tailEnd/>
          </a:ln>
          <a:effectLst/>
        </p:spPr>
        <p:txBody>
          <a:bodyPr>
            <a:spAutoFit/>
          </a:bodyPr>
          <a:lstStyle/>
          <a:p>
            <a:pPr marR="0" lvl="0" indent="0" algn="ctr" fontAlgn="base">
              <a:lnSpc>
                <a:spcPct val="100000"/>
              </a:lnSpc>
              <a:spcBef>
                <a:spcPct val="50000"/>
              </a:spcBef>
              <a:spcAft>
                <a:spcPct val="0"/>
              </a:spcAft>
              <a:buClrTx/>
              <a:buSzTx/>
              <a:buFontTx/>
              <a:buNone/>
              <a:tabLst/>
              <a:defRPr/>
            </a:pPr>
            <a:r>
              <a:rPr lang="fr-FR" sz="3000" b="1" dirty="0">
                <a:latin typeface="Arial" pitchFamily="34" charset="0"/>
                <a:cs typeface="Arial" pitchFamily="34" charset="0"/>
              </a:rPr>
              <a:t>Félicitations</a:t>
            </a:r>
          </a:p>
        </p:txBody>
      </p:sp>
      <p:sp>
        <p:nvSpPr>
          <p:cNvPr id="11" name="Title 10"/>
          <p:cNvSpPr>
            <a:spLocks noGrp="1"/>
          </p:cNvSpPr>
          <p:nvPr>
            <p:ph type="title" hasCustomPrompt="1"/>
          </p:nvPr>
        </p:nvSpPr>
        <p:spPr>
          <a:xfrm>
            <a:off x="1357290" y="4383107"/>
            <a:ext cx="6586538" cy="928694"/>
          </a:xfrm>
        </p:spPr>
        <p:txBody>
          <a:bodyPr/>
          <a:lstStyle>
            <a:lvl1pPr algn="ctr">
              <a:defRPr b="0" i="0" baseline="0">
                <a:ln w="18415" cmpd="sng">
                  <a:noFill/>
                  <a:prstDash val="solid"/>
                </a:ln>
                <a:solidFill>
                  <a:srgbClr val="FF9900"/>
                </a:solidFill>
                <a:effectLst>
                  <a:reflection blurRad="6350" stA="55000" endA="50" endPos="85000" dir="5400000" sy="-100000" algn="bl" rotWithShape="0"/>
                </a:effectLst>
              </a:defRPr>
            </a:lvl1pPr>
          </a:lstStyle>
          <a:p>
            <a:pPr algn="ctr">
              <a:spcBef>
                <a:spcPct val="50000"/>
              </a:spcBef>
            </a:pPr>
            <a:r>
              <a:rPr lang="fr-FR" sz="3200" b="1" dirty="0">
                <a:solidFill>
                  <a:srgbClr val="FF9900"/>
                </a:solidFill>
                <a:latin typeface="Arial" pitchFamily="34" charset="0"/>
                <a:cs typeface="Arial" pitchFamily="34" charset="0"/>
              </a:rPr>
              <a:t>Titre du Module</a:t>
            </a:r>
            <a:endParaRPr lang="fr-FR" sz="3200" dirty="0">
              <a:solidFill>
                <a:srgbClr val="FF9900"/>
              </a:solidFill>
              <a:latin typeface="Arial" pitchFamily="34" charset="0"/>
              <a:cs typeface="Arial" pitchFamily="34" charset="0"/>
            </a:endParaRPr>
          </a:p>
        </p:txBody>
      </p:sp>
      <p:sp>
        <p:nvSpPr>
          <p:cNvPr id="10" name="Text Box 77"/>
          <p:cNvSpPr txBox="1">
            <a:spLocks noChangeArrowheads="1"/>
          </p:cNvSpPr>
          <p:nvPr userDrawn="1"/>
        </p:nvSpPr>
        <p:spPr bwMode="auto">
          <a:xfrm>
            <a:off x="1928024" y="3429000"/>
            <a:ext cx="5329237" cy="954107"/>
          </a:xfrm>
          <a:prstGeom prst="rect">
            <a:avLst/>
          </a:prstGeom>
          <a:noFill/>
          <a:ln w="12700" algn="ctr">
            <a:noFill/>
            <a:miter lim="800000"/>
            <a:headEnd/>
            <a:tailEnd/>
          </a:ln>
          <a:effectLst/>
        </p:spPr>
        <p:txBody>
          <a:bodyPr>
            <a:spAutoFit/>
          </a:bodyPr>
          <a:lstStyle/>
          <a:p>
            <a:pPr algn="ctr">
              <a:spcBef>
                <a:spcPct val="50000"/>
              </a:spcBef>
            </a:pPr>
            <a:r>
              <a:rPr lang="fr-FR" sz="2800" u="none" dirty="0">
                <a:latin typeface="Arial" pitchFamily="34" charset="0"/>
                <a:cs typeface="Arial" pitchFamily="34" charset="0"/>
              </a:rPr>
              <a:t>Vous avez suivi avec succès le module</a:t>
            </a:r>
            <a:endParaRPr lang="fr-FR" sz="3200" u="none" dirty="0">
              <a:solidFill>
                <a:srgbClr val="FF9900"/>
              </a:solidFill>
              <a:latin typeface="Arial" pitchFamily="34" charset="0"/>
              <a:cs typeface="Arial" pitchFamily="34" charset="0"/>
            </a:endParaRPr>
          </a:p>
        </p:txBody>
      </p:sp>
      <p:pic>
        <p:nvPicPr>
          <p:cNvPr id="9"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554588" y="1635622"/>
            <a:ext cx="4033636" cy="1498988"/>
          </a:xfrm>
          <a:prstGeom prst="rect">
            <a:avLst/>
          </a:prstGeom>
        </p:spPr>
      </p:pic>
    </p:spTree>
    <p:extLst>
      <p:ext uri="{BB962C8B-B14F-4D97-AF65-F5344CB8AC3E}">
        <p14:creationId xmlns:p14="http://schemas.microsoft.com/office/powerpoint/2010/main" val="22463331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2.png"/><Relationship Id="rId15" Type="http://schemas.openxmlformats.org/officeDocument/2006/relationships/image" Target="../media/image3.jpeg"/><Relationship Id="rId16" Type="http://schemas.openxmlformats.org/officeDocument/2006/relationships/image" Target="../media/image4.jpeg"/></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5" name="Rectangle 4"/>
          <p:cNvSpPr/>
          <p:nvPr userDrawn="1"/>
        </p:nvSpPr>
        <p:spPr>
          <a:xfrm>
            <a:off x="0" y="5760"/>
            <a:ext cx="9144000" cy="1351538"/>
          </a:xfrm>
          <a:prstGeom prst="rect">
            <a:avLst/>
          </a:prstGeom>
        </p:spPr>
        <p:style>
          <a:lnRef idx="1">
            <a:schemeClr val="accent5"/>
          </a:lnRef>
          <a:fillRef idx="3">
            <a:schemeClr val="accent5"/>
          </a:fillRef>
          <a:effectRef idx="2">
            <a:schemeClr val="accent5"/>
          </a:effectRef>
          <a:fontRef idx="minor">
            <a:schemeClr val="lt1"/>
          </a:fontRef>
        </p:style>
        <p:txBody>
          <a:bodyPr anchor="ctr" rtlCol="0"/>
          <a:lstStyle/>
          <a:p>
            <a:pPr algn="ctr"/>
            <a:endParaRPr lang="fr-FR"/>
          </a:p>
        </p:txBody>
      </p:sp>
      <p:pic>
        <p:nvPicPr>
          <p:cNvPr descr="C:\Users\EGILIAlearning\Desktop\EGILIA ACADEMY Marie\LOGOS\Essai bandeau bas 1.png" id="11" name="Picture 10"/>
          <p:cNvPicPr>
            <a:picLocks noChangeArrowheads="1"/>
          </p:cNvPicPr>
          <p:nvPr userDrawn="1"/>
        </p:nvPicPr>
        <p:blipFill>
          <a:blip cstate="print" r:embed="rId14">
            <a:extLst>
              <a:ext uri="{28A0092B-C50C-407E-A947-70E740481C1C}">
                <a14:useLocalDpi xmlns:a14="http://schemas.microsoft.com/office/drawing/2010/main" val="0"/>
              </a:ext>
            </a:extLst>
          </a:blip>
          <a:srcRect/>
          <a:stretch>
            <a:fillRect/>
          </a:stretch>
        </p:blipFill>
        <p:spPr bwMode="auto">
          <a:xfrm>
            <a:off x="0" y="6500834"/>
            <a:ext cx="9144000" cy="360000"/>
          </a:xfrm>
          <a:prstGeom prst="rect">
            <a:avLst/>
          </a:prstGeom>
          <a:noFill/>
        </p:spPr>
      </p:pic>
      <p:sp>
        <p:nvSpPr>
          <p:cNvPr id="4" name="TextBox 3"/>
          <p:cNvSpPr txBox="1"/>
          <p:nvPr userDrawn="1"/>
        </p:nvSpPr>
        <p:spPr>
          <a:xfrm>
            <a:off x="0" y="6596390"/>
            <a:ext cx="9144000" cy="261610"/>
          </a:xfrm>
          <a:prstGeom prst="rect">
            <a:avLst/>
          </a:prstGeom>
          <a:noFill/>
        </p:spPr>
        <p:txBody>
          <a:bodyPr anchor="b" rtlCol="0" wrap="square">
            <a:spAutoFit/>
          </a:bodyPr>
          <a:lstStyle/>
          <a:p>
            <a:pPr algn="ctr" defTabSz="914400" eaLnBrk="1" fontAlgn="auto" hangingPunct="1" indent="0" latinLnBrk="0" marL="0" marR="0" rtl="0">
              <a:lnSpc>
                <a:spcPct val="100000"/>
              </a:lnSpc>
              <a:spcBef>
                <a:spcPts val="0"/>
              </a:spcBef>
              <a:spcAft>
                <a:spcPts val="0"/>
              </a:spcAft>
              <a:buClrTx/>
              <a:buSzTx/>
              <a:buFontTx/>
              <a:buNone/>
              <a:tabLst/>
              <a:defRPr/>
            </a:pPr>
            <a:r>
              <a:rPr dirty="0" lang="en-US" noProof="0" sz="1100">
                <a:solidFill>
                  <a:schemeClr val="bg1"/>
                </a:solidFill>
              </a:rPr>
              <a:t>Copyright © AVAEDOS. All rights reserved</a:t>
            </a:r>
          </a:p>
        </p:txBody>
      </p:sp>
      <p:sp>
        <p:nvSpPr>
          <p:cNvPr id="2" name="Espace réservé du titre 1"/>
          <p:cNvSpPr>
            <a:spLocks noGrp="1"/>
          </p:cNvSpPr>
          <p:nvPr>
            <p:ph type="title"/>
          </p:nvPr>
        </p:nvSpPr>
        <p:spPr>
          <a:xfrm>
            <a:off x="71406" y="428604"/>
            <a:ext cx="7715304" cy="928694"/>
          </a:xfrm>
          <a:prstGeom prst="rect">
            <a:avLst/>
          </a:prstGeom>
          <a:noFill/>
        </p:spPr>
        <p:txBody>
          <a:bodyPr anchor="ctr" lIns="91440" rIns="45720" rtlCol="0" vert="horz">
            <a:noAutofit/>
          </a:bodyPr>
          <a:lstStyle/>
          <a:p>
            <a:r>
              <a:rPr dirty="0" kumimoji="0" lang="fr-FR"/>
              <a:t>Cliquez pour modifier le style du titre</a:t>
            </a:r>
            <a:endParaRPr dirty="0" kumimoji="0" lang="en-US"/>
          </a:p>
        </p:txBody>
      </p:sp>
      <p:sp>
        <p:nvSpPr>
          <p:cNvPr id="3" name="Espace réservé du texte 2"/>
          <p:cNvSpPr>
            <a:spLocks noGrp="1"/>
          </p:cNvSpPr>
          <p:nvPr>
            <p:ph idx="1" type="body"/>
          </p:nvPr>
        </p:nvSpPr>
        <p:spPr>
          <a:xfrm>
            <a:off x="71406" y="1500174"/>
            <a:ext cx="9001188" cy="4929222"/>
          </a:xfrm>
          <a:prstGeom prst="rect">
            <a:avLst/>
          </a:prstGeom>
        </p:spPr>
        <p:txBody>
          <a:bodyPr lIns="54864" rtlCol="0" tIns="91440" vert="horz">
            <a:normAutofit/>
          </a:bodyPr>
          <a:lstStyle/>
          <a:p>
            <a:pPr eaLnBrk="1" hangingPunct="1" latinLnBrk="0" lvl="0"/>
            <a:r>
              <a:rPr dirty="0" kumimoji="0" lang="fr-FR"/>
              <a:t>Cliquez pour modifier les styles du texte du masque</a:t>
            </a:r>
          </a:p>
          <a:p>
            <a:pPr eaLnBrk="1" hangingPunct="1" latinLnBrk="0" lvl="1"/>
            <a:r>
              <a:rPr dirty="0" kumimoji="0" lang="fr-FR"/>
              <a:t>Deuxième niveau</a:t>
            </a:r>
          </a:p>
          <a:p>
            <a:pPr eaLnBrk="1" hangingPunct="1" latinLnBrk="0" lvl="2"/>
            <a:r>
              <a:rPr dirty="0" kumimoji="0" lang="fr-FR"/>
              <a:t>Troisième niveau</a:t>
            </a:r>
          </a:p>
          <a:p>
            <a:pPr eaLnBrk="1" hangingPunct="1" latinLnBrk="0" lvl="3"/>
            <a:r>
              <a:rPr dirty="0" kumimoji="0" lang="fr-FR"/>
              <a:t>Quatrième niveau</a:t>
            </a:r>
          </a:p>
          <a:p>
            <a:pPr eaLnBrk="1" hangingPunct="1" latinLnBrk="0" lvl="4"/>
            <a:r>
              <a:rPr dirty="0" kumimoji="0" lang="fr-FR"/>
              <a:t>Cinquième niveau</a:t>
            </a:r>
            <a:endParaRPr dirty="0" kumimoji="0" lang="en-US"/>
          </a:p>
        </p:txBody>
      </p:sp>
      <p:sp>
        <p:nvSpPr>
          <p:cNvPr id="6" name="Espace réservé du numéro de diapositive 5"/>
          <p:cNvSpPr>
            <a:spLocks noGrp="1"/>
          </p:cNvSpPr>
          <p:nvPr>
            <p:ph idx="4" sz="quarter" type="sldNum"/>
          </p:nvPr>
        </p:nvSpPr>
        <p:spPr>
          <a:xfrm>
            <a:off x="8338730" y="6593556"/>
            <a:ext cx="733864" cy="214290"/>
          </a:xfrm>
          <a:prstGeom prst="rect">
            <a:avLst/>
          </a:prstGeom>
        </p:spPr>
        <p:txBody>
          <a:bodyPr anchor="b" bIns="0" rtlCol="0" vert="horz"/>
          <a:lstStyle>
            <a:lvl1pPr algn="r" eaLnBrk="1" hangingPunct="1" latinLnBrk="0">
              <a:defRPr kumimoji="0" sz="1200">
                <a:solidFill>
                  <a:schemeClr val="bg1"/>
                </a:solidFill>
              </a:defRPr>
            </a:lvl1pPr>
            <a:extLst/>
          </a:lstStyle>
          <a:p>
            <a:fld id="{CF4668DC-857F-487D-BFFA-8C0CA5037977}" type="slidenum">
              <a:rPr lang="fr-BE" smtClean="0"/>
              <a:pPr/>
              <a:t>‹N°›</a:t>
            </a:fld>
            <a:endParaRPr lang="fr-BE"/>
          </a:p>
        </p:txBody>
      </p:sp>
      <p:pic>
        <p:nvPicPr>
          <p:cNvPr id="7" name="Picture 6"/>
          <p:cNvPicPr>
            <a:picLocks noChangeAspect="1"/>
          </p:cNvPicPr>
          <p:nvPr userDrawn="1"/>
        </p:nvPicPr>
        <p:blipFill>
          <a:blip cstate="screen" r:embed="rId15">
            <a:extLst>
              <a:ext uri="{28A0092B-C50C-407E-A947-70E740481C1C}">
                <a14:useLocalDpi xmlns:a14="http://schemas.microsoft.com/office/drawing/2010/main" val="0"/>
              </a:ext>
            </a:extLst>
          </a:blip>
          <a:stretch>
            <a:fillRect/>
          </a:stretch>
        </p:blipFill>
        <p:spPr>
          <a:xfrm>
            <a:off x="7617871" y="44624"/>
            <a:ext cx="1490633" cy="553951"/>
          </a:xfrm>
          <a:prstGeom prst="rect">
            <a:avLst/>
          </a:prstGeom>
        </p:spPr>
      </p:pic>
      <p:pic>
        <p:nvPicPr>
          <p:cNvPr id="13" name="Picture 12"/>
          <p:cNvPicPr>
            <a:picLocks noChangeAspect="1"/>
          </p:cNvPicPr>
          <p:nvPr userDrawn="1"/>
        </p:nvPicPr>
        <p:blipFill>
          <a:blip cstate="screen" r:embed="rId16">
            <a:extLst>
              <a:ext uri="{28A0092B-C50C-407E-A947-70E740481C1C}">
                <a14:useLocalDpi xmlns:a14="http://schemas.microsoft.com/office/drawing/2010/main" val="0"/>
              </a:ext>
            </a:extLst>
          </a:blip>
          <a:stretch>
            <a:fillRect/>
          </a:stretch>
        </p:blipFill>
        <p:spPr>
          <a:xfrm>
            <a:off x="1" y="6504136"/>
            <a:ext cx="971600" cy="361068"/>
          </a:xfrm>
          <a:prstGeom prst="rect">
            <a:avLst/>
          </a:prstGeom>
        </p:spPr>
      </p:pic>
    </p:spTree>
  </p:cSld>
  <p:clrMap accent1="accent1" accent2="accent2" accent3="accent3" accent4="accent4" accent5="accent5" accent6="accent6" bg1="lt1" bg2="lt2" folHlink="folHlink" hlink="hlink" tx1="dk1" tx2="dk2"/>
  <p:sldLayoutIdLst>
    <p:sldLayoutId id="2147484058" r:id="rId1"/>
    <p:sldLayoutId id="2147484059" r:id="rId2"/>
    <p:sldLayoutId id="2147484061" r:id="rId3"/>
    <p:sldLayoutId id="2147484063" r:id="rId4"/>
    <p:sldLayoutId id="2147484068" r:id="rId5"/>
    <p:sldLayoutId id="2147484062" r:id="rId6"/>
    <p:sldLayoutId id="2147484069" r:id="rId7"/>
    <p:sldLayoutId id="2147484070" r:id="rId8"/>
    <p:sldLayoutId id="2147484071" r:id="rId9"/>
    <p:sldLayoutId id="2147484074" r:id="rId10"/>
    <p:sldLayoutId id="2147484073" r:id="rId11"/>
    <p:sldLayoutId id="2147484072" r:id="rId12"/>
  </p:sldLayoutIdLst>
  <p:hf dt="0" hdr="0"/>
  <p:txStyles>
    <p:titleStyle>
      <a:lvl1pPr algn="l" eaLnBrk="1" hangingPunct="1" latinLnBrk="0" rtl="0">
        <a:spcBef>
          <a:spcPct val="0"/>
        </a:spcBef>
        <a:buNone/>
        <a:defRPr b="0" cap="none" kern="1200" kumimoji="0" spc="0" sz="3200">
          <a:ln cmpd="sng" w="18415">
            <a:solidFill>
              <a:srgbClr val="FFFFFF"/>
            </a:solidFill>
            <a:prstDash val="solid"/>
          </a:ln>
          <a:solidFill>
            <a:srgbClr val="FFFFFF"/>
          </a:solidFill>
          <a:effectLst>
            <a:outerShdw algn="tl" blurRad="63500" dir="3600000" rotWithShape="0">
              <a:srgbClr val="000000">
                <a:alpha val="70000"/>
              </a:srgbClr>
            </a:outerShdw>
          </a:effectLst>
          <a:latin typeface="+mj-lt"/>
          <a:ea typeface="+mj-ea"/>
          <a:cs typeface="+mj-cs"/>
        </a:defRPr>
      </a:lvl1pPr>
      <a:extLst/>
    </p:titleStyle>
    <p:bodyStyle>
      <a:lvl1pPr algn="l" eaLnBrk="1" hangingPunct="1" indent="-320040" latinLnBrk="0" marL="438912" rtl="0">
        <a:spcBef>
          <a:spcPts val="0"/>
        </a:spcBef>
        <a:buClr>
          <a:schemeClr val="accent1"/>
        </a:buClr>
        <a:buSzPct val="80000"/>
        <a:buFont typeface="Wingdings 2"/>
        <a:buChar char=""/>
        <a:defRPr kern="1200" kumimoji="0" sz="3200">
          <a:solidFill>
            <a:schemeClr val="tx1"/>
          </a:solidFill>
          <a:latin typeface="+mn-lt"/>
          <a:ea typeface="+mn-ea"/>
          <a:cs typeface="+mn-cs"/>
        </a:defRPr>
      </a:lvl1pPr>
      <a:lvl2pPr algn="l" eaLnBrk="1" hangingPunct="1" indent="-274320" latinLnBrk="0" marL="731520" rtl="0">
        <a:spcBef>
          <a:spcPct val="20000"/>
        </a:spcBef>
        <a:buClr>
          <a:schemeClr val="accent2"/>
        </a:buClr>
        <a:buSzPct val="90000"/>
        <a:buFont typeface="Wingdings"/>
        <a:buChar char=""/>
        <a:defRPr kern="1200" kumimoji="0" sz="2800">
          <a:solidFill>
            <a:schemeClr val="tx1"/>
          </a:solidFill>
          <a:latin typeface="+mn-lt"/>
          <a:ea typeface="+mn-ea"/>
          <a:cs typeface="+mn-cs"/>
        </a:defRPr>
      </a:lvl2pPr>
      <a:lvl3pPr algn="l" eaLnBrk="1" hangingPunct="1" indent="-228600" latinLnBrk="0" marL="996696" rtl="0">
        <a:spcBef>
          <a:spcPct val="20000"/>
        </a:spcBef>
        <a:buClr>
          <a:schemeClr val="accent3"/>
        </a:buClr>
        <a:buFont typeface="Arial"/>
        <a:buChar char="▪"/>
        <a:defRPr kern="1200" kumimoji="0" sz="2400">
          <a:solidFill>
            <a:schemeClr val="tx1"/>
          </a:solidFill>
          <a:latin typeface="+mn-lt"/>
          <a:ea typeface="+mn-ea"/>
          <a:cs typeface="+mn-cs"/>
        </a:defRPr>
      </a:lvl3pPr>
      <a:lvl4pPr algn="l" eaLnBrk="1" hangingPunct="1" indent="-182880" latinLnBrk="0" marL="1216152" rtl="0">
        <a:spcBef>
          <a:spcPct val="20000"/>
        </a:spcBef>
        <a:buClr>
          <a:schemeClr val="accent4"/>
        </a:buClr>
        <a:buFont typeface="Arial"/>
        <a:buChar char="▪"/>
        <a:defRPr kern="1200" kumimoji="0" sz="2000">
          <a:solidFill>
            <a:schemeClr val="tx1"/>
          </a:solidFill>
          <a:latin typeface="+mn-lt"/>
          <a:ea typeface="+mn-ea"/>
          <a:cs typeface="+mn-cs"/>
        </a:defRPr>
      </a:lvl4pPr>
      <a:lvl5pPr algn="l" eaLnBrk="1" hangingPunct="1" indent="-182880" latinLnBrk="0" marL="1426464" rtl="0">
        <a:spcBef>
          <a:spcPct val="20000"/>
        </a:spcBef>
        <a:buClr>
          <a:schemeClr val="accent5"/>
        </a:buClr>
        <a:buFont typeface="Wingdings 3"/>
        <a:buChar char=""/>
        <a:defRPr kern="1200" kumimoji="0" lang="en-US" smtClean="0" sz="2000">
          <a:solidFill>
            <a:schemeClr val="tx1"/>
          </a:solidFill>
          <a:latin typeface="+mn-lt"/>
          <a:ea typeface="+mn-ea"/>
          <a:cs typeface="+mn-cs"/>
        </a:defRPr>
      </a:lvl5pPr>
      <a:lvl6pPr algn="l" eaLnBrk="1" hangingPunct="1" indent="-182880" latinLnBrk="0" marL="1627632" rtl="0">
        <a:spcBef>
          <a:spcPct val="20000"/>
        </a:spcBef>
        <a:buClr>
          <a:schemeClr val="accent6"/>
        </a:buClr>
        <a:buSzPct val="100000"/>
        <a:buFont typeface="Wingdings 2"/>
        <a:buChar char=""/>
        <a:defRPr kern="1200" kumimoji="0" sz="2000">
          <a:solidFill>
            <a:schemeClr val="tx1"/>
          </a:solidFill>
          <a:latin typeface="+mn-lt"/>
          <a:ea typeface="+mn-ea"/>
          <a:cs typeface="+mn-cs"/>
        </a:defRPr>
      </a:lvl6pPr>
      <a:lvl7pPr algn="l" eaLnBrk="1" hangingPunct="1" indent="-182880" latinLnBrk="0" marL="1828800" rtl="0">
        <a:spcBef>
          <a:spcPct val="20000"/>
        </a:spcBef>
        <a:buClr>
          <a:schemeClr val="accent1"/>
        </a:buClr>
        <a:buSzPct val="100000"/>
        <a:buFont typeface="Wingdings 2"/>
        <a:buChar char=""/>
        <a:defRPr kern="1200" kumimoji="0" sz="1800">
          <a:solidFill>
            <a:schemeClr val="tx1"/>
          </a:solidFill>
          <a:latin typeface="+mn-lt"/>
          <a:ea typeface="+mn-ea"/>
          <a:cs typeface="+mn-cs"/>
        </a:defRPr>
      </a:lvl7pPr>
      <a:lvl8pPr algn="l" eaLnBrk="1" hangingPunct="1" indent="-182880" latinLnBrk="0" marL="2029968" rtl="0">
        <a:spcBef>
          <a:spcPct val="20000"/>
        </a:spcBef>
        <a:buClr>
          <a:schemeClr val="accent2"/>
        </a:buClr>
        <a:buFont charset="2" pitchFamily="18" typeface="Wingdings 2"/>
        <a:buChar char=""/>
        <a:defRPr kern="1200" kumimoji="0" sz="1800">
          <a:solidFill>
            <a:schemeClr val="tx1"/>
          </a:solidFill>
          <a:latin typeface="+mn-lt"/>
          <a:ea typeface="+mn-ea"/>
          <a:cs typeface="+mn-cs"/>
        </a:defRPr>
      </a:lvl8pPr>
      <a:lvl9pPr algn="l" eaLnBrk="1" hangingPunct="1" indent="-182880" latinLnBrk="0" marL="2231136" rtl="0">
        <a:spcBef>
          <a:spcPct val="20000"/>
        </a:spcBef>
        <a:buClr>
          <a:schemeClr val="accent3"/>
        </a:buClr>
        <a:buFont charset="2" pitchFamily="18" typeface="Wingdings 2"/>
        <a:buChar char=""/>
        <a:defRPr baseline="0" kern="1200" kumimoji="0" sz="1800">
          <a:solidFill>
            <a:schemeClr val="tx1"/>
          </a:solidFill>
          <a:latin typeface="+mn-lt"/>
          <a:ea typeface="+mn-ea"/>
          <a:cs typeface="+mn-cs"/>
        </a:defRPr>
      </a:lvl9pPr>
      <a:extLst/>
    </p:bodyStyle>
    <p:otherStyle>
      <a:lvl1pPr algn="l" eaLnBrk="1" hangingPunct="1" latinLnBrk="0" marL="0" rtl="0">
        <a:defRPr kern="1200" kumimoji="0">
          <a:solidFill>
            <a:schemeClr val="tx1"/>
          </a:solidFill>
          <a:latin typeface="+mn-lt"/>
          <a:ea typeface="+mn-ea"/>
          <a:cs typeface="+mn-cs"/>
        </a:defRPr>
      </a:lvl1pPr>
      <a:lvl2pPr algn="l" eaLnBrk="1" hangingPunct="1" latinLnBrk="0" marL="457200" rtl="0">
        <a:defRPr kern="1200" kumimoji="0">
          <a:solidFill>
            <a:schemeClr val="tx1"/>
          </a:solidFill>
          <a:latin typeface="+mn-lt"/>
          <a:ea typeface="+mn-ea"/>
          <a:cs typeface="+mn-cs"/>
        </a:defRPr>
      </a:lvl2pPr>
      <a:lvl3pPr algn="l" eaLnBrk="1" hangingPunct="1" latinLnBrk="0" marL="914400" rtl="0">
        <a:defRPr kern="1200" kumimoji="0">
          <a:solidFill>
            <a:schemeClr val="tx1"/>
          </a:solidFill>
          <a:latin typeface="+mn-lt"/>
          <a:ea typeface="+mn-ea"/>
          <a:cs typeface="+mn-cs"/>
        </a:defRPr>
      </a:lvl3pPr>
      <a:lvl4pPr algn="l" eaLnBrk="1" hangingPunct="1" latinLnBrk="0" marL="1371600" rtl="0">
        <a:defRPr kern="1200" kumimoji="0">
          <a:solidFill>
            <a:schemeClr val="tx1"/>
          </a:solidFill>
          <a:latin typeface="+mn-lt"/>
          <a:ea typeface="+mn-ea"/>
          <a:cs typeface="+mn-cs"/>
        </a:defRPr>
      </a:lvl4pPr>
      <a:lvl5pPr algn="l" eaLnBrk="1" hangingPunct="1" latinLnBrk="0" marL="1828800" rtl="0">
        <a:defRPr kern="1200" kumimoji="0">
          <a:solidFill>
            <a:schemeClr val="tx1"/>
          </a:solidFill>
          <a:latin typeface="+mn-lt"/>
          <a:ea typeface="+mn-ea"/>
          <a:cs typeface="+mn-cs"/>
        </a:defRPr>
      </a:lvl5pPr>
      <a:lvl6pPr algn="l" eaLnBrk="1" hangingPunct="1" latinLnBrk="0" marL="2286000" rtl="0">
        <a:defRPr kern="1200" kumimoji="0">
          <a:solidFill>
            <a:schemeClr val="tx1"/>
          </a:solidFill>
          <a:latin typeface="+mn-lt"/>
          <a:ea typeface="+mn-ea"/>
          <a:cs typeface="+mn-cs"/>
        </a:defRPr>
      </a:lvl6pPr>
      <a:lvl7pPr algn="l" eaLnBrk="1" hangingPunct="1" latinLnBrk="0" marL="2743200" rtl="0">
        <a:defRPr kern="1200" kumimoji="0">
          <a:solidFill>
            <a:schemeClr val="tx1"/>
          </a:solidFill>
          <a:latin typeface="+mn-lt"/>
          <a:ea typeface="+mn-ea"/>
          <a:cs typeface="+mn-cs"/>
        </a:defRPr>
      </a:lvl7pPr>
      <a:lvl8pPr algn="l" eaLnBrk="1" hangingPunct="1" latinLnBrk="0" marL="3200400" rtl="0">
        <a:defRPr kern="1200" kumimoji="0">
          <a:solidFill>
            <a:schemeClr val="tx1"/>
          </a:solidFill>
          <a:latin typeface="+mn-lt"/>
          <a:ea typeface="+mn-ea"/>
          <a:cs typeface="+mn-cs"/>
        </a:defRPr>
      </a:lvl8pPr>
      <a:lvl9pPr algn="l" eaLnBrk="1" hangingPunct="1" latinLnBrk="0" marL="3657600" rtl="0">
        <a:defRPr kern="1200" kumimoji="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re 18"/>
          <p:cNvSpPr>
            <a:spLocks noGrp="1"/>
          </p:cNvSpPr>
          <p:nvPr>
            <p:ph hasCustomPrompt="1" type="title"/>
          </p:nvPr>
        </p:nvSpPr>
        <p:spPr>
          <a:xfrm>
            <a:off x="71406" y="5286388"/>
            <a:ext cx="9001188" cy="571504"/>
          </a:xfrm>
          <a:noFill/>
          <a:ln w="9525">
            <a:noFill/>
            <a:miter lim="800000"/>
            <a:headEnd/>
            <a:tailEnd/>
          </a:ln>
        </p:spPr>
        <p:txBody>
          <a:bodyPr/>
          <a:lstStyle/>
          <a:p>
            <a:pPr lvl="0" indent="0" marL="0">
              <a:buNone/>
            </a:pPr>
            <a:r>
              <a:rPr/>
              <a:t>Module 1 : Concepts, licences et positionnement</a:t>
            </a:r>
          </a:p>
        </p:txBody>
      </p:sp>
      <p:sp>
        <p:nvSpPr>
          <p:cNvPr id="20" name="Text Placeholder 19"/>
          <p:cNvSpPr>
            <a:spLocks noGrp="1"/>
          </p:cNvSpPr>
          <p:nvPr>
            <p:ph type="body" idx="10" sz="quarter"/>
          </p:nvPr>
        </p:nvSpPr>
        <p:spPr/>
        <p:txBody>
          <a:bodyPr/>
          <a:lstStyle/>
          <a:p>
            <a:r>
              <a:t>Remote Desktop Services sous Windows Server 2025</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Agenda</a:t>
            </a:r>
          </a:p>
        </p:txBody>
      </p:sp>
      <p:sp>
        <p:nvSpPr>
          <p:cNvPr id="6" name="Espace réservé du contenu 2"/>
          <p:cNvSpPr>
            <a:spLocks noGrp="1"/>
          </p:cNvSpPr>
          <p:nvPr>
            <p:ph idx="1"/>
          </p:nvPr>
        </p:nvSpPr>
        <p:spPr/>
        <p:txBody>
          <a:bodyPr/>
          <a:lstStyle/>
          <a:p>
            <a:pPr lvl="0"/>
            <a:r>
              <a:rPr/>
              <a:t>Présentation de RDS</a:t>
            </a:r>
          </a:p>
          <a:p>
            <a:pPr lvl="0"/>
            <a:r>
              <a:rPr/>
              <a:t>L’architecture à clients légers</a:t>
            </a:r>
          </a:p>
          <a:p>
            <a:pPr lvl="0"/>
            <a:r>
              <a:rPr/>
              <a:t>Les accès hétérogènes aux ressources</a:t>
            </a:r>
          </a:p>
          <a:p>
            <a:pPr lvl="0"/>
            <a:r>
              <a:rPr/>
              <a:t>Les services de rôle</a:t>
            </a:r>
          </a:p>
          <a:p>
            <a:pPr lvl="0"/>
            <a:r>
              <a:rPr/>
              <a:t>Le protocole RDP</a:t>
            </a:r>
          </a:p>
          <a:p>
            <a:pPr lvl="0"/>
            <a:r>
              <a:rPr/>
              <a:t>Les licences</a:t>
            </a:r>
          </a:p>
          <a:p>
            <a:pPr lvl="0"/>
            <a:r>
              <a:rPr/>
              <a:t>Le positionnement face aux offres cloud</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Présentation de RDS</a:t>
            </a:r>
          </a:p>
        </p:txBody>
      </p:sp>
      <p:sp>
        <p:nvSpPr>
          <p:cNvPr id="6" name="Espace réservé du contenu 2"/>
          <p:cNvSpPr>
            <a:spLocks noGrp="1"/>
          </p:cNvSpPr>
          <p:nvPr>
            <p:ph idx="1"/>
          </p:nvPr>
        </p:nvSpPr>
        <p:spPr/>
        <p:txBody>
          <a:bodyPr/>
          <a:lstStyle/>
          <a:p>
            <a:pPr lvl="0"/>
            <a:r>
              <a:rPr/>
              <a:t>RDS (Remote Desktop Services), ou services Bureau à distance, permet à un ou plusieurs utilisateurs d’accéder simultanément à</a:t>
            </a:r>
          </a:p>
          <a:p>
            <a:pPr lvl="1"/>
            <a:r>
              <a:rPr/>
              <a:t>des bureaux Windows : sessions Bureau à distance</a:t>
            </a:r>
          </a:p>
          <a:p>
            <a:pPr lvl="1"/>
            <a:r>
              <a:rPr/>
              <a:t>des applications distantes : RemoteApp</a:t>
            </a:r>
          </a:p>
          <a:p>
            <a:pPr lvl="1"/>
            <a:r>
              <a:rPr/>
              <a:t>des postes de travail virtuels : VDI (Virtual Desktop Infrastructure)</a:t>
            </a:r>
          </a:p>
          <a:p>
            <a:pPr lvl="0"/>
            <a:r>
              <a:rPr/>
              <a:t>Un rôle natif de Windows Server 2025</a:t>
            </a:r>
          </a:p>
          <a:p>
            <a:pPr lvl="1"/>
            <a:r>
              <a:rPr/>
              <a:t>Héritier des services Terminal Server (TSE)</a:t>
            </a:r>
          </a:p>
          <a:p>
            <a:pPr lvl="0"/>
            <a:r>
              <a:rPr/>
              <a:t>Met en place une architecture à clients légers</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 principe : exécuter sur le serveur, afficher sur le poste</a:t>
            </a:r>
          </a:p>
        </p:txBody>
      </p:sp>
      <p:sp>
        <p:nvSpPr>
          <p:cNvPr id="6" name="Espace réservé du contenu 2"/>
          <p:cNvSpPr>
            <a:spLocks noGrp="1"/>
          </p:cNvSpPr>
          <p:nvPr>
            <p:ph idx="1"/>
          </p:nvPr>
        </p:nvSpPr>
        <p:spPr/>
        <p:txBody>
          <a:bodyPr/>
          <a:lstStyle/>
          <a:p>
            <a:pPr lvl="0"/>
            <a:r>
              <a:rPr/>
              <a:t>Le traitement s’effectue sur le serveur</a:t>
            </a:r>
          </a:p>
          <a:p>
            <a:pPr lvl="0"/>
            <a:r>
              <a:rPr/>
              <a:t>Seuls l’affichage, le clavier et la souris transitent par le réseau</a:t>
            </a:r>
          </a:p>
          <a:p>
            <a:pPr lvl="0"/>
            <a:r>
              <a:rPr/>
              <a:t>Le poste client n’a besoin que d’un client RDP</a:t>
            </a:r>
          </a:p>
          <a:p>
            <a:pPr lvl="0"/>
            <a:r>
              <a:rPr/>
              <a:t>Les données ne quittent pas le datacenter</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 qui circule sur le réseau</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
        <p:nvSpPr>
          <p:cNvPr id="13" name="Rounded Rectangle 12"/>
          <p:cNvSpPr/>
          <p:nvPr/>
        </p:nvSpPr>
        <p:spPr>
          <a:xfrm>
            <a:off x="288000" y="2160000"/>
            <a:ext cx="2232000" cy="2304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600" b="1">
                <a:solidFill>
                  <a:srgbClr val="44546A"/>
                </a:solidFill>
                <a:latin typeface="Corbel"/>
              </a:rPr>
              <a:t>Poste client</a:t>
            </a:r>
          </a:p>
          <a:p>
            <a:pPr algn="ctr"/>
            <a:r>
              <a:rPr sz="1100" b="0">
                <a:solidFill>
                  <a:srgbClr val="44546A"/>
                </a:solidFill>
                <a:latin typeface="Corbel"/>
              </a:rPr>
              <a:t>écran</a:t>
            </a:r>
          </a:p>
          <a:p>
            <a:pPr algn="ctr"/>
            <a:r>
              <a:rPr sz="1100" b="0">
                <a:solidFill>
                  <a:srgbClr val="44546A"/>
                </a:solidFill>
                <a:latin typeface="Corbel"/>
              </a:rPr>
              <a:t>clavier et souris</a:t>
            </a:r>
          </a:p>
          <a:p>
            <a:pPr algn="ctr"/>
            <a:r>
              <a:rPr sz="1100" b="0">
                <a:solidFill>
                  <a:srgbClr val="44546A"/>
                </a:solidFill>
                <a:latin typeface="Corbel"/>
              </a:rPr>
              <a:t>client RDP</a:t>
            </a:r>
          </a:p>
        </p:txBody>
      </p:sp>
      <p:sp>
        <p:nvSpPr>
          <p:cNvPr id="14" name="Rounded Rectangle 13"/>
          <p:cNvSpPr/>
          <p:nvPr/>
        </p:nvSpPr>
        <p:spPr>
          <a:xfrm>
            <a:off x="6408000" y="2160000"/>
            <a:ext cx="2376000" cy="2304000"/>
          </a:xfrm>
          <a:prstGeom prst="roundRect">
            <a:avLst>
              <a:gd name="adj" fmla="val 8000"/>
            </a:avLst>
          </a:prstGeom>
          <a:solidFill>
            <a:srgbClr val="5B9BD5"/>
          </a:solidFill>
          <a:ln w="15875">
            <a:solidFill>
              <a:srgbClr val="2E5F8A"/>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600" b="1">
                <a:solidFill>
                  <a:srgbClr val="FFFFFF"/>
                </a:solidFill>
                <a:latin typeface="Corbel"/>
              </a:rPr>
              <a:t>Hôte de session</a:t>
            </a:r>
          </a:p>
          <a:p>
            <a:pPr algn="ctr"/>
            <a:r>
              <a:rPr sz="1100" b="0">
                <a:solidFill>
                  <a:srgbClr val="FFFFFF"/>
                </a:solidFill>
                <a:latin typeface="Corbel"/>
              </a:rPr>
              <a:t>applications</a:t>
            </a:r>
          </a:p>
          <a:p>
            <a:pPr algn="ctr"/>
            <a:r>
              <a:rPr sz="1100" b="0">
                <a:solidFill>
                  <a:srgbClr val="FFFFFF"/>
                </a:solidFill>
                <a:latin typeface="Corbel"/>
              </a:rPr>
              <a:t>données</a:t>
            </a:r>
          </a:p>
          <a:p>
            <a:pPr algn="ctr"/>
            <a:r>
              <a:rPr sz="1100" b="0">
                <a:solidFill>
                  <a:srgbClr val="FFFFFF"/>
                </a:solidFill>
                <a:latin typeface="Corbel"/>
              </a:rPr>
              <a:t>traitement</a:t>
            </a:r>
          </a:p>
        </p:txBody>
      </p:sp>
      <p:sp>
        <p:nvSpPr>
          <p:cNvPr id="15" name="Right Arrow 14"/>
          <p:cNvSpPr/>
          <p:nvPr/>
        </p:nvSpPr>
        <p:spPr>
          <a:xfrm>
            <a:off x="2700000" y="2592000"/>
            <a:ext cx="3528000" cy="432000"/>
          </a:xfrm>
          <a:prstGeom prst="rightArrow">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700000" y="2322000"/>
            <a:ext cx="3528000" cy="252000"/>
          </a:xfrm>
          <a:prstGeom prst="rect">
            <a:avLst/>
          </a:prstGeom>
          <a:noFill/>
        </p:spPr>
        <p:txBody>
          <a:bodyPr wrap="square" lIns="43200" rIns="43200" tIns="18000" bIns="18000" anchor="ctr">
            <a:spAutoFit/>
          </a:bodyPr>
          <a:lstStyle/>
          <a:p>
            <a:pPr algn="ctr"/>
            <a:r>
              <a:rPr sz="1100" b="0">
                <a:solidFill>
                  <a:srgbClr val="A5A5A5"/>
                </a:solidFill>
                <a:latin typeface="Corbel"/>
              </a:rPr>
              <a:t>Clavier et souris</a:t>
            </a:r>
          </a:p>
        </p:txBody>
      </p:sp>
      <p:sp>
        <p:nvSpPr>
          <p:cNvPr id="17" name="Left Arrow 16"/>
          <p:cNvSpPr/>
          <p:nvPr/>
        </p:nvSpPr>
        <p:spPr>
          <a:xfrm>
            <a:off x="2700000" y="3672000"/>
            <a:ext cx="3528000" cy="432000"/>
          </a:xfrm>
          <a:prstGeom prst="leftArrow">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700000" y="3402000"/>
            <a:ext cx="3528000" cy="252000"/>
          </a:xfrm>
          <a:prstGeom prst="rect">
            <a:avLst/>
          </a:prstGeom>
          <a:noFill/>
        </p:spPr>
        <p:txBody>
          <a:bodyPr wrap="square" lIns="43200" rIns="43200" tIns="18000" bIns="18000" anchor="ctr">
            <a:spAutoFit/>
          </a:bodyPr>
          <a:lstStyle/>
          <a:p>
            <a:pPr algn="ctr"/>
            <a:r>
              <a:rPr sz="1100" b="0">
                <a:solidFill>
                  <a:srgbClr val="A5A5A5"/>
                </a:solidFill>
                <a:latin typeface="Corbel"/>
              </a:rPr>
              <a:t>Affichage : images compressées</a:t>
            </a:r>
          </a:p>
        </p:txBody>
      </p:sp>
      <p:sp>
        <p:nvSpPr>
          <p:cNvPr id="19" name="TextBox 18"/>
          <p:cNvSpPr txBox="1"/>
          <p:nvPr/>
        </p:nvSpPr>
        <p:spPr>
          <a:xfrm>
            <a:off x="288000" y="5112000"/>
            <a:ext cx="8568000" cy="324000"/>
          </a:xfrm>
          <a:prstGeom prst="rect">
            <a:avLst/>
          </a:prstGeom>
          <a:noFill/>
        </p:spPr>
        <p:txBody>
          <a:bodyPr wrap="square" lIns="43200" rIns="43200" tIns="18000" bIns="18000" anchor="ctr">
            <a:spAutoFit/>
          </a:bodyPr>
          <a:lstStyle/>
          <a:p>
            <a:pPr algn="ctr"/>
            <a:r>
              <a:rPr sz="1050" b="0" i="1">
                <a:solidFill>
                  <a:srgbClr val="A5A5A5"/>
                </a:solidFill>
                <a:latin typeface="Corbel"/>
              </a:rPr>
              <a:t>Les applications et les données ne quittent jamais le serveur : seul l'affichage circule.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L’architecture à clients légers</a:t>
            </a:r>
          </a:p>
        </p:txBody>
      </p:sp>
      <p:sp>
        <p:nvSpPr>
          <p:cNvPr id="6" name="Espace réservé du contenu 2"/>
          <p:cNvSpPr>
            <a:spLocks noGrp="1"/>
          </p:cNvSpPr>
          <p:nvPr>
            <p:ph idx="1"/>
          </p:nvPr>
        </p:nvSpPr>
        <p:spPr/>
        <p:txBody>
          <a:bodyPr/>
          <a:lstStyle/>
          <a:p>
            <a:pPr lvl="0"/>
            <a:r>
              <a:rPr/>
              <a:t>Une architecture client-serveur qui permet</a:t>
            </a:r>
          </a:p>
          <a:p>
            <a:pPr lvl="1"/>
            <a:r>
              <a:rPr/>
              <a:t>une administration simplifiée</a:t>
            </a:r>
          </a:p>
          <a:p>
            <a:pPr lvl="1"/>
            <a:r>
              <a:rPr/>
              <a:t>une réduction des coûts des postes de travail</a:t>
            </a:r>
          </a:p>
          <a:p>
            <a:pPr lvl="0"/>
            <a:r>
              <a:rPr/>
              <a:t>Les clients</a:t>
            </a:r>
          </a:p>
          <a:p>
            <a:pPr lvl="1"/>
            <a:r>
              <a:rPr/>
              <a:t>terminaux dédiés : peu puissants, peu coûteux, silencieux</a:t>
            </a:r>
          </a:p>
          <a:p>
            <a:pPr lvl="1"/>
            <a:r>
              <a:rPr/>
              <a:t>ordinateurs complets exécutant un système client</a:t>
            </a:r>
          </a:p>
          <a:p>
            <a:pPr lvl="1"/>
            <a:r>
              <a:rPr/>
              <a:t>tablettes, téléphones, navigateurs</a:t>
            </a:r>
          </a:p>
          <a:p>
            <a:pPr lvl="0"/>
            <a:r>
              <a:rPr/>
              <a:t>Les serveurs</a:t>
            </a:r>
          </a:p>
          <a:p>
            <a:pPr lvl="1"/>
            <a:r>
              <a:rPr/>
              <a:t>multi-utilisateurs et multisessions</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Catalogue des implémentations</a:t>
            </a:r>
          </a:p>
        </p:txBody>
      </p:sp>
      <p:graphicFrame>
        <p:nvGraphicFramePr>
          <p:cNvPr id="6" name="Content Placeholder 5"/>
          <p:cNvGraphicFramePr>
            <a:graphicFrameLocks noGrp="1"/>
          </p:cNvGraphicFramePr>
          <p:nvPr>
            <p:ph idx="1"/>
          </p:nvPr>
        </p:nvGraphicFramePr>
        <p:xfrm>
          <a:off x="63500" y="1498600"/>
          <a:ext cx="8991600" cy="4927600"/>
        </p:xfrm>
        <a:graphic>
          <a:graphicData uri="http://schemas.openxmlformats.org/drawingml/2006/table">
            <a:tbl>
              <a:tblPr firstRow="1" bandRow="1">
                <a:tableStyleId>{5C22544A-7EE6-4342-B048-85BDC9FD1C3A}</a:tableStyleId>
              </a:tblPr>
              <a:tblGrid>
                <a:gridCol w="2997200"/>
                <a:gridCol w="2997200"/>
                <a:gridCol w="2997200"/>
              </a:tblGrid>
              <a:tr h="0">
                <a:tc>
                  <a:txBody>
                    <a:bodyPr/>
                    <a:lstStyle/>
                    <a:p>
                      <a:pPr lvl="0" indent="0" marL="0">
                        <a:buNone/>
                      </a:pPr>
                      <a:r>
                        <a:rPr/>
                        <a:t>Implémentation</a:t>
                      </a:r>
                    </a:p>
                  </a:txBody>
                  <a:tcPr/>
                </a:tc>
                <a:tc>
                  <a:txBody>
                    <a:bodyPr/>
                    <a:lstStyle/>
                    <a:p>
                      <a:pPr lvl="0" indent="0" marL="0">
                        <a:buNone/>
                      </a:pPr>
                      <a:r>
                        <a:rPr/>
                        <a:t>Ce que reçoit l’utilisateur</a:t>
                      </a:r>
                    </a:p>
                  </a:txBody>
                  <a:tcPr/>
                </a:tc>
                <a:tc>
                  <a:txBody>
                    <a:bodyPr/>
                    <a:lstStyle/>
                    <a:p>
                      <a:pPr lvl="0" indent="0" marL="0">
                        <a:buNone/>
                      </a:pPr>
                      <a:r>
                        <a:rPr/>
                        <a:t>Hébergée sur</a:t>
                      </a:r>
                    </a:p>
                  </a:txBody>
                  <a:tcPr/>
                </a:tc>
              </a:tr>
              <a:tr h="0">
                <a:tc>
                  <a:txBody>
                    <a:bodyPr/>
                    <a:lstStyle/>
                    <a:p>
                      <a:pPr lvl="0" indent="0" marL="0">
                        <a:buNone/>
                      </a:pPr>
                      <a:r>
                        <a:rPr/>
                        <a:t>Bureau de session</a:t>
                      </a:r>
                    </a:p>
                  </a:txBody>
                </a:tc>
                <a:tc>
                  <a:txBody>
                    <a:bodyPr/>
                    <a:lstStyle/>
                    <a:p>
                      <a:pPr lvl="0" indent="0" marL="0">
                        <a:buNone/>
                      </a:pPr>
                      <a:r>
                        <a:rPr/>
                        <a:t>Un bureau Windows complet</a:t>
                      </a:r>
                    </a:p>
                  </a:txBody>
                </a:tc>
                <a:tc>
                  <a:txBody>
                    <a:bodyPr/>
                    <a:lstStyle/>
                    <a:p>
                      <a:pPr lvl="0" indent="0" marL="0">
                        <a:buNone/>
                      </a:pPr>
                      <a:r>
                        <a:rPr/>
                        <a:t>Hôte de session partagé</a:t>
                      </a:r>
                    </a:p>
                  </a:txBody>
                </a:tc>
              </a:tr>
              <a:tr h="0">
                <a:tc>
                  <a:txBody>
                    <a:bodyPr/>
                    <a:lstStyle/>
                    <a:p>
                      <a:pPr lvl="0" indent="0" marL="0">
                        <a:buNone/>
                      </a:pPr>
                      <a:r>
                        <a:rPr/>
                        <a:t>Application RemoteApp</a:t>
                      </a:r>
                    </a:p>
                  </a:txBody>
                </a:tc>
                <a:tc>
                  <a:txBody>
                    <a:bodyPr/>
                    <a:lstStyle/>
                    <a:p>
                      <a:pPr lvl="0" indent="0" marL="0">
                        <a:buNone/>
                      </a:pPr>
                      <a:r>
                        <a:rPr/>
                        <a:t>Une application précise, intégrée à son poste</a:t>
                      </a:r>
                    </a:p>
                  </a:txBody>
                </a:tc>
                <a:tc>
                  <a:txBody>
                    <a:bodyPr/>
                    <a:lstStyle/>
                    <a:p>
                      <a:pPr lvl="0" indent="0" marL="0">
                        <a:buNone/>
                      </a:pPr>
                      <a:r>
                        <a:rPr/>
                        <a:t>Hôte de session partagé</a:t>
                      </a:r>
                    </a:p>
                  </a:txBody>
                </a:tc>
              </a:tr>
              <a:tr h="0">
                <a:tc>
                  <a:txBody>
                    <a:bodyPr/>
                    <a:lstStyle/>
                    <a:p>
                      <a:pPr lvl="0" indent="0" marL="0">
                        <a:buNone/>
                      </a:pPr>
                      <a:r>
                        <a:rPr/>
                        <a:t>Bureau de session personnel</a:t>
                      </a:r>
                    </a:p>
                  </a:txBody>
                </a:tc>
                <a:tc>
                  <a:txBody>
                    <a:bodyPr/>
                    <a:lstStyle/>
                    <a:p>
                      <a:pPr lvl="0" indent="0" marL="0">
                        <a:buNone/>
                      </a:pPr>
                      <a:r>
                        <a:rPr/>
                        <a:t>Un bureau sur un serveur qui lui est dédié</a:t>
                      </a:r>
                    </a:p>
                  </a:txBody>
                </a:tc>
                <a:tc>
                  <a:txBody>
                    <a:bodyPr/>
                    <a:lstStyle/>
                    <a:p>
                      <a:pPr lvl="0" indent="0" marL="0">
                        <a:buNone/>
                      </a:pPr>
                      <a:r>
                        <a:rPr/>
                        <a:t>Hôte de session dédié</a:t>
                      </a:r>
                    </a:p>
                  </a:txBody>
                </a:tc>
              </a:tr>
              <a:tr h="0">
                <a:tc>
                  <a:txBody>
                    <a:bodyPr/>
                    <a:lstStyle/>
                    <a:p>
                      <a:pPr lvl="0" indent="0" marL="0">
                        <a:buNone/>
                      </a:pPr>
                      <a:r>
                        <a:rPr/>
                        <a:t>Poste de travail virtuel (VDI)</a:t>
                      </a:r>
                    </a:p>
                  </a:txBody>
                </a:tc>
                <a:tc>
                  <a:txBody>
                    <a:bodyPr/>
                    <a:lstStyle/>
                    <a:p>
                      <a:pPr lvl="0" indent="0" marL="0">
                        <a:buNone/>
                      </a:pPr>
                      <a:r>
                        <a:rPr/>
                        <a:t>Un Windows 11 complet</a:t>
                      </a:r>
                    </a:p>
                  </a:txBody>
                </a:tc>
                <a:tc>
                  <a:txBody>
                    <a:bodyPr/>
                    <a:lstStyle/>
                    <a:p>
                      <a:pPr lvl="0" indent="0" marL="0">
                        <a:buNone/>
                      </a:pPr>
                      <a:r>
                        <a:rPr/>
                        <a:t>Machine virtuelle sur Hyper-V</a:t>
                      </a:r>
                    </a:p>
                  </a:txBody>
                </a:tc>
              </a:tr>
            </a:tbl>
          </a:graphicData>
        </a:graphic>
      </p:graphicFrame>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Architecture interne des services Bureau à distance</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
        <p:nvSpPr>
          <p:cNvPr id="13" name="Rounded Rectangle 12"/>
          <p:cNvSpPr/>
          <p:nvPr/>
        </p:nvSpPr>
        <p:spPr>
          <a:xfrm>
            <a:off x="5400000" y="1728000"/>
            <a:ext cx="3456000" cy="4032000"/>
          </a:xfrm>
          <a:prstGeom prst="roundRect">
            <a:avLst>
              <a:gd name="adj" fmla="val 8000"/>
            </a:avLst>
          </a:prstGeom>
          <a:solidFill>
            <a:srgbClr val="E7E6E6"/>
          </a:solidFill>
          <a:ln w="15875">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472000" y="1764000"/>
            <a:ext cx="3312000" cy="324000"/>
          </a:xfrm>
          <a:prstGeom prst="rect">
            <a:avLst/>
          </a:prstGeom>
          <a:noFill/>
        </p:spPr>
        <p:txBody>
          <a:bodyPr wrap="square" lIns="43200" rIns="43200" tIns="18000" bIns="18000" anchor="ctr">
            <a:spAutoFit/>
          </a:bodyPr>
          <a:lstStyle/>
          <a:p>
            <a:pPr algn="ctr"/>
            <a:r>
              <a:rPr sz="1200" b="1">
                <a:solidFill>
                  <a:srgbClr val="44546A"/>
                </a:solidFill>
                <a:latin typeface="Corbel"/>
              </a:rPr>
              <a:t>Serveur des services Bureau à distance</a:t>
            </a:r>
          </a:p>
        </p:txBody>
      </p:sp>
      <p:sp>
        <p:nvSpPr>
          <p:cNvPr id="15" name="Rounded Rectangle 14"/>
          <p:cNvSpPr/>
          <p:nvPr/>
        </p:nvSpPr>
        <p:spPr>
          <a:xfrm>
            <a:off x="288000" y="2232000"/>
            <a:ext cx="1944000" cy="720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Terminal 1</a:t>
            </a:r>
          </a:p>
          <a:p>
            <a:pPr algn="ctr"/>
            <a:r>
              <a:rPr sz="950" b="0">
                <a:solidFill>
                  <a:srgbClr val="44546A"/>
                </a:solidFill>
                <a:latin typeface="Corbel"/>
              </a:rPr>
              <a:t>client RDP</a:t>
            </a:r>
          </a:p>
        </p:txBody>
      </p:sp>
      <p:sp>
        <p:nvSpPr>
          <p:cNvPr id="16" name="Rounded Rectangle 15"/>
          <p:cNvSpPr/>
          <p:nvPr/>
        </p:nvSpPr>
        <p:spPr>
          <a:xfrm>
            <a:off x="5688000" y="2232000"/>
            <a:ext cx="2880000" cy="720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Session 1</a:t>
            </a:r>
          </a:p>
          <a:p>
            <a:pPr algn="ctr"/>
            <a:r>
              <a:rPr sz="950" b="0">
                <a:solidFill>
                  <a:srgbClr val="44546A"/>
                </a:solidFill>
                <a:latin typeface="Corbel"/>
              </a:rPr>
              <a:t>bureau, processus, profil</a:t>
            </a:r>
          </a:p>
        </p:txBody>
      </p:sp>
      <p:cxnSp>
        <p:nvCxnSpPr>
          <p:cNvPr id="17" name="Connector 16"/>
          <p:cNvCxnSpPr/>
          <p:nvPr/>
        </p:nvCxnSpPr>
        <p:spPr>
          <a:xfrm>
            <a:off x="2232000" y="2592000"/>
            <a:ext cx="3456000" cy="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600000" y="2322000"/>
            <a:ext cx="720000" cy="252000"/>
          </a:xfrm>
          <a:prstGeom prst="rect">
            <a:avLst/>
          </a:prstGeom>
          <a:noFill/>
        </p:spPr>
        <p:txBody>
          <a:bodyPr wrap="square" lIns="43200" rIns="43200" tIns="18000" bIns="18000" anchor="ctr">
            <a:spAutoFit/>
          </a:bodyPr>
          <a:lstStyle/>
          <a:p>
            <a:pPr algn="ctr"/>
            <a:r>
              <a:rPr sz="900" b="0">
                <a:solidFill>
                  <a:srgbClr val="44546A"/>
                </a:solidFill>
                <a:latin typeface="Corbel"/>
              </a:rPr>
              <a:t>RDP</a:t>
            </a:r>
          </a:p>
        </p:txBody>
      </p:sp>
      <p:sp>
        <p:nvSpPr>
          <p:cNvPr id="19" name="Rounded Rectangle 18"/>
          <p:cNvSpPr/>
          <p:nvPr/>
        </p:nvSpPr>
        <p:spPr>
          <a:xfrm>
            <a:off x="288000" y="3276000"/>
            <a:ext cx="1944000" cy="720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Terminal 2</a:t>
            </a:r>
          </a:p>
          <a:p>
            <a:pPr algn="ctr"/>
            <a:r>
              <a:rPr sz="950" b="0">
                <a:solidFill>
                  <a:srgbClr val="44546A"/>
                </a:solidFill>
                <a:latin typeface="Corbel"/>
              </a:rPr>
              <a:t>client RDP</a:t>
            </a:r>
          </a:p>
        </p:txBody>
      </p:sp>
      <p:sp>
        <p:nvSpPr>
          <p:cNvPr id="20" name="Rounded Rectangle 19"/>
          <p:cNvSpPr/>
          <p:nvPr/>
        </p:nvSpPr>
        <p:spPr>
          <a:xfrm>
            <a:off x="5688000" y="3276000"/>
            <a:ext cx="2880000" cy="720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Session 2</a:t>
            </a:r>
          </a:p>
          <a:p>
            <a:pPr algn="ctr"/>
            <a:r>
              <a:rPr sz="950" b="0">
                <a:solidFill>
                  <a:srgbClr val="44546A"/>
                </a:solidFill>
                <a:latin typeface="Corbel"/>
              </a:rPr>
              <a:t>bureau, processus, profil</a:t>
            </a:r>
          </a:p>
        </p:txBody>
      </p:sp>
      <p:cxnSp>
        <p:nvCxnSpPr>
          <p:cNvPr id="21" name="Connector 20"/>
          <p:cNvCxnSpPr/>
          <p:nvPr/>
        </p:nvCxnSpPr>
        <p:spPr>
          <a:xfrm>
            <a:off x="2232000" y="3636000"/>
            <a:ext cx="3456000" cy="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600000" y="3366000"/>
            <a:ext cx="720000" cy="252000"/>
          </a:xfrm>
          <a:prstGeom prst="rect">
            <a:avLst/>
          </a:prstGeom>
          <a:noFill/>
        </p:spPr>
        <p:txBody>
          <a:bodyPr wrap="square" lIns="43200" rIns="43200" tIns="18000" bIns="18000" anchor="ctr">
            <a:spAutoFit/>
          </a:bodyPr>
          <a:lstStyle/>
          <a:p>
            <a:pPr algn="ctr"/>
            <a:r>
              <a:rPr sz="900" b="0">
                <a:solidFill>
                  <a:srgbClr val="44546A"/>
                </a:solidFill>
                <a:latin typeface="Corbel"/>
              </a:rPr>
              <a:t>RDP</a:t>
            </a:r>
          </a:p>
        </p:txBody>
      </p:sp>
      <p:sp>
        <p:nvSpPr>
          <p:cNvPr id="23" name="Rounded Rectangle 22"/>
          <p:cNvSpPr/>
          <p:nvPr/>
        </p:nvSpPr>
        <p:spPr>
          <a:xfrm>
            <a:off x="288000" y="4320000"/>
            <a:ext cx="1944000" cy="720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Terminal 3</a:t>
            </a:r>
          </a:p>
          <a:p>
            <a:pPr algn="ctr"/>
            <a:r>
              <a:rPr sz="950" b="0">
                <a:solidFill>
                  <a:srgbClr val="44546A"/>
                </a:solidFill>
                <a:latin typeface="Corbel"/>
              </a:rPr>
              <a:t>client RDP</a:t>
            </a:r>
          </a:p>
        </p:txBody>
      </p:sp>
      <p:sp>
        <p:nvSpPr>
          <p:cNvPr id="24" name="Rounded Rectangle 23"/>
          <p:cNvSpPr/>
          <p:nvPr/>
        </p:nvSpPr>
        <p:spPr>
          <a:xfrm>
            <a:off x="5688000" y="4320000"/>
            <a:ext cx="2880000" cy="720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Session 3</a:t>
            </a:r>
          </a:p>
          <a:p>
            <a:pPr algn="ctr"/>
            <a:r>
              <a:rPr sz="950" b="0">
                <a:solidFill>
                  <a:srgbClr val="44546A"/>
                </a:solidFill>
                <a:latin typeface="Corbel"/>
              </a:rPr>
              <a:t>bureau, processus, profil</a:t>
            </a:r>
          </a:p>
        </p:txBody>
      </p:sp>
      <p:cxnSp>
        <p:nvCxnSpPr>
          <p:cNvPr id="25" name="Connector 24"/>
          <p:cNvCxnSpPr/>
          <p:nvPr/>
        </p:nvCxnSpPr>
        <p:spPr>
          <a:xfrm>
            <a:off x="2232000" y="4680000"/>
            <a:ext cx="3456000" cy="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600000" y="4410000"/>
            <a:ext cx="720000" cy="252000"/>
          </a:xfrm>
          <a:prstGeom prst="rect">
            <a:avLst/>
          </a:prstGeom>
          <a:noFill/>
        </p:spPr>
        <p:txBody>
          <a:bodyPr wrap="square" lIns="43200" rIns="43200" tIns="18000" bIns="18000" anchor="ctr">
            <a:spAutoFit/>
          </a:bodyPr>
          <a:lstStyle/>
          <a:p>
            <a:pPr algn="ctr"/>
            <a:r>
              <a:rPr sz="900" b="0">
                <a:solidFill>
                  <a:srgbClr val="44546A"/>
                </a:solidFill>
                <a:latin typeface="Corbel"/>
              </a:rPr>
              <a:t>RDP</a:t>
            </a:r>
          </a:p>
        </p:txBody>
      </p:sp>
      <p:sp>
        <p:nvSpPr>
          <p:cNvPr id="27" name="Rounded Rectangle 26"/>
          <p:cNvSpPr/>
          <p:nvPr/>
        </p:nvSpPr>
        <p:spPr>
          <a:xfrm>
            <a:off x="5688000" y="5328000"/>
            <a:ext cx="2880000" cy="324000"/>
          </a:xfrm>
          <a:prstGeom prst="roundRect">
            <a:avLst>
              <a:gd name="adj" fmla="val 8000"/>
            </a:avLst>
          </a:prstGeom>
          <a:solidFill>
            <a:srgbClr val="5B9BD5"/>
          </a:solidFill>
          <a:ln w="15875">
            <a:solidFill>
              <a:srgbClr val="2E5F8A"/>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000" b="0">
                <a:solidFill>
                  <a:srgbClr val="FFFFFF"/>
                </a:solidFill>
                <a:latin typeface="Corbel"/>
              </a:rPr>
              <a:t>processeur, mémoire et disques partagés</a:t>
            </a:r>
          </a:p>
        </p:txBody>
      </p:sp>
      <p:sp>
        <p:nvSpPr>
          <p:cNvPr id="28" name="TextBox 27"/>
          <p:cNvSpPr txBox="1"/>
          <p:nvPr/>
        </p:nvSpPr>
        <p:spPr>
          <a:xfrm>
            <a:off x="288000" y="5904000"/>
            <a:ext cx="8568000" cy="324000"/>
          </a:xfrm>
          <a:prstGeom prst="rect">
            <a:avLst/>
          </a:prstGeom>
          <a:noFill/>
        </p:spPr>
        <p:txBody>
          <a:bodyPr wrap="square" lIns="43200" rIns="43200" tIns="18000" bIns="18000" anchor="ctr">
            <a:spAutoFit/>
          </a:bodyPr>
          <a:lstStyle/>
          <a:p>
            <a:pPr algn="ctr"/>
            <a:r>
              <a:rPr sz="1050" b="0" i="1">
                <a:solidFill>
                  <a:srgbClr val="A5A5A5"/>
                </a:solidFill>
                <a:latin typeface="Corbel"/>
              </a:rPr>
              <a:t>Chaque utilisateur dispose de sa propre session, isolée des autres, sur le même serveur.</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Accès hétérogènes aux ressources</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
        <p:nvSpPr>
          <p:cNvPr id="13" name="Rounded Rectangle 12"/>
          <p:cNvSpPr/>
          <p:nvPr/>
        </p:nvSpPr>
        <p:spPr>
          <a:xfrm>
            <a:off x="288000" y="1800000"/>
            <a:ext cx="2016000" cy="612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0">
                <a:solidFill>
                  <a:srgbClr val="44546A"/>
                </a:solidFill>
                <a:latin typeface="Corbel"/>
              </a:rPr>
              <a:t>Entreprise</a:t>
            </a:r>
          </a:p>
        </p:txBody>
      </p:sp>
      <p:sp>
        <p:nvSpPr>
          <p:cNvPr id="14" name="Rounded Rectangle 13"/>
          <p:cNvSpPr/>
          <p:nvPr/>
        </p:nvSpPr>
        <p:spPr>
          <a:xfrm>
            <a:off x="288000" y="2664000"/>
            <a:ext cx="2016000" cy="612000"/>
          </a:xfrm>
          <a:prstGeom prst="roundRect">
            <a:avLst>
              <a:gd name="adj" fmla="val 8000"/>
            </a:avLst>
          </a:prstGeom>
          <a:solidFill>
            <a:srgbClr val="E7E6E6"/>
          </a:solidFill>
          <a:ln w="15875">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0">
                <a:solidFill>
                  <a:srgbClr val="44546A"/>
                </a:solidFill>
                <a:latin typeface="Corbel"/>
              </a:rPr>
              <a:t>Domicile</a:t>
            </a:r>
          </a:p>
        </p:txBody>
      </p:sp>
      <p:sp>
        <p:nvSpPr>
          <p:cNvPr id="15" name="Rounded Rectangle 14"/>
          <p:cNvSpPr/>
          <p:nvPr/>
        </p:nvSpPr>
        <p:spPr>
          <a:xfrm>
            <a:off x="288000" y="3528000"/>
            <a:ext cx="2016000" cy="612000"/>
          </a:xfrm>
          <a:prstGeom prst="roundRect">
            <a:avLst>
              <a:gd name="adj" fmla="val 8000"/>
            </a:avLst>
          </a:prstGeom>
          <a:solidFill>
            <a:srgbClr val="E7E6E6"/>
          </a:solidFill>
          <a:ln w="15875">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0">
                <a:solidFill>
                  <a:srgbClr val="44546A"/>
                </a:solidFill>
                <a:latin typeface="Corbel"/>
              </a:rPr>
              <a:t>Mobilité</a:t>
            </a:r>
          </a:p>
        </p:txBody>
      </p:sp>
      <p:sp>
        <p:nvSpPr>
          <p:cNvPr id="16" name="Rounded Rectangle 15"/>
          <p:cNvSpPr/>
          <p:nvPr/>
        </p:nvSpPr>
        <p:spPr>
          <a:xfrm>
            <a:off x="288000" y="4392000"/>
            <a:ext cx="2016000" cy="612000"/>
          </a:xfrm>
          <a:prstGeom prst="roundRect">
            <a:avLst>
              <a:gd name="adj" fmla="val 8000"/>
            </a:avLst>
          </a:prstGeom>
          <a:solidFill>
            <a:srgbClr val="E7E6E6"/>
          </a:solidFill>
          <a:ln w="15875">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0">
                <a:solidFill>
                  <a:srgbClr val="44546A"/>
                </a:solidFill>
                <a:latin typeface="Corbel"/>
              </a:rPr>
              <a:t>Sites distants, partenaires</a:t>
            </a:r>
          </a:p>
        </p:txBody>
      </p:sp>
      <p:sp>
        <p:nvSpPr>
          <p:cNvPr id="17" name="Rounded Rectangle 16"/>
          <p:cNvSpPr/>
          <p:nvPr/>
        </p:nvSpPr>
        <p:spPr>
          <a:xfrm>
            <a:off x="3600000" y="3096000"/>
            <a:ext cx="1728000" cy="936000"/>
          </a:xfrm>
          <a:prstGeom prst="roundRect">
            <a:avLst>
              <a:gd name="adj" fmla="val 8000"/>
            </a:avLst>
          </a:prstGeom>
          <a:solidFill>
            <a:srgbClr val="FFC000"/>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Passerelle RDS</a:t>
            </a:r>
          </a:p>
          <a:p>
            <a:pPr algn="ctr"/>
            <a:r>
              <a:rPr sz="950" b="0">
                <a:solidFill>
                  <a:srgbClr val="44546A"/>
                </a:solidFill>
                <a:latin typeface="Corbel"/>
              </a:rPr>
              <a:t>HTTPS</a:t>
            </a:r>
          </a:p>
        </p:txBody>
      </p:sp>
      <p:sp>
        <p:nvSpPr>
          <p:cNvPr id="18" name="Rounded Rectangle 17"/>
          <p:cNvSpPr/>
          <p:nvPr/>
        </p:nvSpPr>
        <p:spPr>
          <a:xfrm>
            <a:off x="6552000" y="1800000"/>
            <a:ext cx="2304000" cy="3240000"/>
          </a:xfrm>
          <a:prstGeom prst="roundRect">
            <a:avLst>
              <a:gd name="adj" fmla="val 8000"/>
            </a:avLst>
          </a:prstGeom>
          <a:solidFill>
            <a:srgbClr val="5B9BD5"/>
          </a:solidFill>
          <a:ln w="15875">
            <a:solidFill>
              <a:srgbClr val="2E5F8A"/>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600" b="1">
                <a:solidFill>
                  <a:srgbClr val="FFFFFF"/>
                </a:solidFill>
                <a:latin typeface="Corbel"/>
              </a:rPr>
              <a:t>Ferme RDS</a:t>
            </a:r>
          </a:p>
          <a:p>
            <a:pPr algn="ctr"/>
            <a:r>
              <a:rPr sz="1100" b="0">
                <a:solidFill>
                  <a:srgbClr val="FFFFFF"/>
                </a:solidFill>
                <a:latin typeface="Corbel"/>
              </a:rPr>
              <a:t>bureaux</a:t>
            </a:r>
          </a:p>
          <a:p>
            <a:pPr algn="ctr"/>
            <a:r>
              <a:rPr sz="1100" b="0">
                <a:solidFill>
                  <a:srgbClr val="FFFFFF"/>
                </a:solidFill>
                <a:latin typeface="Corbel"/>
              </a:rPr>
              <a:t>RemoteApp</a:t>
            </a:r>
          </a:p>
          <a:p>
            <a:pPr algn="ctr"/>
            <a:r>
              <a:rPr sz="1100" b="0">
                <a:solidFill>
                  <a:srgbClr val="FFFFFF"/>
                </a:solidFill>
                <a:latin typeface="Corbel"/>
              </a:rPr>
              <a:t>postes virtuels</a:t>
            </a:r>
          </a:p>
        </p:txBody>
      </p:sp>
      <p:cxnSp>
        <p:nvCxnSpPr>
          <p:cNvPr id="19" name="Connector 18"/>
          <p:cNvCxnSpPr/>
          <p:nvPr/>
        </p:nvCxnSpPr>
        <p:spPr>
          <a:xfrm>
            <a:off x="2304000" y="2106000"/>
            <a:ext cx="4248000" cy="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708000" y="1836000"/>
            <a:ext cx="1440000" cy="252000"/>
          </a:xfrm>
          <a:prstGeom prst="rect">
            <a:avLst/>
          </a:prstGeom>
          <a:noFill/>
        </p:spPr>
        <p:txBody>
          <a:bodyPr wrap="square" lIns="43200" rIns="43200" tIns="18000" bIns="18000" anchor="ctr">
            <a:spAutoFit/>
          </a:bodyPr>
          <a:lstStyle/>
          <a:p>
            <a:pPr algn="ctr"/>
            <a:r>
              <a:rPr sz="900" b="0">
                <a:solidFill>
                  <a:srgbClr val="44546A"/>
                </a:solidFill>
                <a:latin typeface="Corbel"/>
              </a:rPr>
              <a:t>réseau interne</a:t>
            </a:r>
          </a:p>
        </p:txBody>
      </p:sp>
      <p:cxnSp>
        <p:nvCxnSpPr>
          <p:cNvPr id="21" name="Connector 20"/>
          <p:cNvCxnSpPr/>
          <p:nvPr/>
        </p:nvCxnSpPr>
        <p:spPr>
          <a:xfrm>
            <a:off x="2304000" y="2970000"/>
            <a:ext cx="1296000" cy="59400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304000" y="3564000"/>
            <a:ext cx="1296000" cy="27000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304000" y="3564000"/>
            <a:ext cx="1296000" cy="113400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340000" y="4644000"/>
            <a:ext cx="1440000" cy="252000"/>
          </a:xfrm>
          <a:prstGeom prst="rect">
            <a:avLst/>
          </a:prstGeom>
          <a:noFill/>
        </p:spPr>
        <p:txBody>
          <a:bodyPr wrap="square" lIns="43200" rIns="43200" tIns="18000" bIns="18000" anchor="ctr">
            <a:spAutoFit/>
          </a:bodyPr>
          <a:lstStyle/>
          <a:p>
            <a:pPr algn="ctr"/>
            <a:r>
              <a:rPr sz="1000" b="0">
                <a:solidFill>
                  <a:srgbClr val="44546A"/>
                </a:solidFill>
                <a:latin typeface="Corbel"/>
              </a:rPr>
              <a:t>Internet</a:t>
            </a:r>
          </a:p>
        </p:txBody>
      </p:sp>
      <p:cxnSp>
        <p:nvCxnSpPr>
          <p:cNvPr id="25" name="Connector 24"/>
          <p:cNvCxnSpPr/>
          <p:nvPr/>
        </p:nvCxnSpPr>
        <p:spPr>
          <a:xfrm>
            <a:off x="5328000" y="3564000"/>
            <a:ext cx="1224000" cy="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580000" y="3294000"/>
            <a:ext cx="720000" cy="252000"/>
          </a:xfrm>
          <a:prstGeom prst="rect">
            <a:avLst/>
          </a:prstGeom>
          <a:noFill/>
        </p:spPr>
        <p:txBody>
          <a:bodyPr wrap="square" lIns="43200" rIns="43200" tIns="18000" bIns="18000" anchor="ctr">
            <a:spAutoFit/>
          </a:bodyPr>
          <a:lstStyle/>
          <a:p>
            <a:pPr algn="ctr"/>
            <a:r>
              <a:rPr sz="900" b="0">
                <a:solidFill>
                  <a:srgbClr val="44546A"/>
                </a:solidFill>
                <a:latin typeface="Corbel"/>
              </a:rPr>
              <a:t>RDP</a:t>
            </a:r>
          </a:p>
        </p:txBody>
      </p:sp>
      <p:sp>
        <p:nvSpPr>
          <p:cNvPr id="27" name="TextBox 26"/>
          <p:cNvSpPr txBox="1"/>
          <p:nvPr/>
        </p:nvSpPr>
        <p:spPr>
          <a:xfrm>
            <a:off x="288000" y="5544000"/>
            <a:ext cx="8568000" cy="324000"/>
          </a:xfrm>
          <a:prstGeom prst="rect">
            <a:avLst/>
          </a:prstGeom>
          <a:noFill/>
        </p:spPr>
        <p:txBody>
          <a:bodyPr wrap="square" lIns="43200" rIns="43200" tIns="18000" bIns="18000" anchor="ctr">
            <a:spAutoFit/>
          </a:bodyPr>
          <a:lstStyle/>
          <a:p>
            <a:pPr algn="ctr"/>
            <a:r>
              <a:rPr sz="1050" b="0" i="1">
                <a:solidFill>
                  <a:srgbClr val="A5A5A5"/>
                </a:solidFill>
                <a:latin typeface="Corbel"/>
              </a:rPr>
              <a:t>Un seul point d'entrée : la même ferme, quel que soit le lieu et le terminal.</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Avantages d’une solution RDS</a:t>
            </a:r>
          </a:p>
        </p:txBody>
      </p:sp>
      <p:sp>
        <p:nvSpPr>
          <p:cNvPr id="6" name="Espace réservé du contenu 2"/>
          <p:cNvSpPr>
            <a:spLocks noGrp="1"/>
          </p:cNvSpPr>
          <p:nvPr>
            <p:ph idx="1"/>
          </p:nvPr>
        </p:nvSpPr>
        <p:spPr/>
        <p:txBody>
          <a:bodyPr/>
          <a:lstStyle/>
          <a:p>
            <a:pPr lvl="0"/>
            <a:r>
              <a:rPr/>
              <a:t>Administration centralisée : installation, mise à jour, sauvegarde</a:t>
            </a:r>
          </a:p>
          <a:p>
            <a:pPr lvl="0"/>
            <a:r>
              <a:rPr/>
              <a:t>Environnement de travail standardisé, quel que soit le client</a:t>
            </a:r>
          </a:p>
          <a:p>
            <a:pPr lvl="0"/>
            <a:r>
              <a:rPr/>
              <a:t>Sécurisation simplifiée de l’environnement utilisateur</a:t>
            </a:r>
          </a:p>
          <a:p>
            <a:pPr lvl="0"/>
            <a:r>
              <a:rPr/>
              <a:t>Réduction du coût total de possession (TCO)</a:t>
            </a:r>
          </a:p>
          <a:p>
            <a:pPr lvl="0"/>
            <a:r>
              <a:rPr/>
              <a:t>Accès distant sans VPN grâce à la passerelle</a:t>
            </a:r>
          </a:p>
          <a:p>
            <a:pPr lvl="0"/>
            <a:r>
              <a:rPr/>
              <a:t>Déploiement rapide d’une nouvelle application ou d’une nouvelle version</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Les modes de fonctionnement</a:t>
            </a:r>
          </a:p>
        </p:txBody>
      </p:sp>
      <p:sp>
        <p:nvSpPr>
          <p:cNvPr id="6" name="Espace réservé du contenu 2"/>
          <p:cNvSpPr>
            <a:spLocks noGrp="1"/>
          </p:cNvSpPr>
          <p:nvPr>
            <p:ph idx="1"/>
          </p:nvPr>
        </p:nvSpPr>
        <p:spPr/>
        <p:txBody>
          <a:bodyPr/>
          <a:lstStyle/>
          <a:p>
            <a:pPr lvl="0"/>
            <a:r>
              <a:rPr/>
              <a:t>Mode « administration à distance »</a:t>
            </a:r>
          </a:p>
          <a:p>
            <a:pPr lvl="1"/>
            <a:r>
              <a:rPr/>
              <a:t>Inclus dans Windows Server, sans CAL RDS</a:t>
            </a:r>
          </a:p>
          <a:p>
            <a:pPr lvl="1"/>
            <a:r>
              <a:rPr/>
              <a:t>Deux sessions simultanées au maximum</a:t>
            </a:r>
          </a:p>
          <a:p>
            <a:pPr lvl="1"/>
            <a:r>
              <a:rPr/>
              <a:t>Objectif : administrer le serveur à distance</a:t>
            </a:r>
          </a:p>
          <a:p>
            <a:pPr lvl="0"/>
            <a:r>
              <a:rPr/>
              <a:t>Mode « hôte de session »</a:t>
            </a:r>
          </a:p>
          <a:p>
            <a:pPr lvl="1"/>
            <a:r>
              <a:rPr/>
              <a:t>Rôle dédié, nombre de sessions limité par les ressources et les licences</a:t>
            </a:r>
          </a:p>
          <a:p>
            <a:pPr lvl="1"/>
            <a:r>
              <a:rPr/>
              <a:t>Objectif : faire travailler des utilisateurs sur le serveur</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Les services de rôle</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
        <p:nvSpPr>
          <p:cNvPr id="13" name="Rounded Rectangle 12"/>
          <p:cNvSpPr/>
          <p:nvPr/>
        </p:nvSpPr>
        <p:spPr>
          <a:xfrm>
            <a:off x="288000" y="3240000"/>
            <a:ext cx="1440000" cy="792000"/>
          </a:xfrm>
          <a:prstGeom prst="roundRect">
            <a:avLst>
              <a:gd name="adj" fmla="val 8000"/>
            </a:avLst>
          </a:prstGeom>
          <a:solidFill>
            <a:srgbClr val="E7E6E6"/>
          </a:solidFill>
          <a:ln w="15875">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Client</a:t>
            </a:r>
          </a:p>
          <a:p>
            <a:pPr algn="ctr"/>
            <a:r>
              <a:rPr sz="950" b="0">
                <a:solidFill>
                  <a:srgbClr val="44546A"/>
                </a:solidFill>
                <a:latin typeface="Corbel"/>
              </a:rPr>
              <a:t>navigateur ou mstsc</a:t>
            </a:r>
          </a:p>
        </p:txBody>
      </p:sp>
      <p:sp>
        <p:nvSpPr>
          <p:cNvPr id="14" name="Rounded Rectangle 13"/>
          <p:cNvSpPr/>
          <p:nvPr/>
        </p:nvSpPr>
        <p:spPr>
          <a:xfrm>
            <a:off x="2304000" y="1800000"/>
            <a:ext cx="1944000" cy="792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Accès Web</a:t>
            </a:r>
          </a:p>
          <a:p>
            <a:pPr algn="ctr"/>
            <a:r>
              <a:rPr sz="950" b="0">
                <a:solidFill>
                  <a:srgbClr val="44546A"/>
                </a:solidFill>
                <a:latin typeface="Corbel"/>
              </a:rPr>
              <a:t>portail, client web, flux</a:t>
            </a:r>
          </a:p>
        </p:txBody>
      </p:sp>
      <p:sp>
        <p:nvSpPr>
          <p:cNvPr id="15" name="Rounded Rectangle 14"/>
          <p:cNvSpPr/>
          <p:nvPr/>
        </p:nvSpPr>
        <p:spPr>
          <a:xfrm>
            <a:off x="2304000" y="3240000"/>
            <a:ext cx="1944000" cy="792000"/>
          </a:xfrm>
          <a:prstGeom prst="roundRect">
            <a:avLst>
              <a:gd name="adj" fmla="val 8000"/>
            </a:avLst>
          </a:prstGeom>
          <a:solidFill>
            <a:srgbClr val="FFC000"/>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Passerelle</a:t>
            </a:r>
          </a:p>
          <a:p>
            <a:pPr algn="ctr"/>
            <a:r>
              <a:rPr sz="950" b="0">
                <a:solidFill>
                  <a:srgbClr val="44546A"/>
                </a:solidFill>
                <a:latin typeface="Corbel"/>
              </a:rPr>
              <a:t>HTTPS depuis Internet</a:t>
            </a:r>
          </a:p>
        </p:txBody>
      </p:sp>
      <p:sp>
        <p:nvSpPr>
          <p:cNvPr id="16" name="Rounded Rectangle 15"/>
          <p:cNvSpPr/>
          <p:nvPr/>
        </p:nvSpPr>
        <p:spPr>
          <a:xfrm>
            <a:off x="4752000" y="3240000"/>
            <a:ext cx="1872000" cy="792000"/>
          </a:xfrm>
          <a:prstGeom prst="roundRect">
            <a:avLst>
              <a:gd name="adj" fmla="val 8000"/>
            </a:avLst>
          </a:prstGeom>
          <a:solidFill>
            <a:srgbClr val="5B9BD5"/>
          </a:solidFill>
          <a:ln w="15875">
            <a:solidFill>
              <a:srgbClr val="2E5F8A"/>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FFFFFF"/>
                </a:solidFill>
                <a:latin typeface="Corbel"/>
              </a:rPr>
              <a:t>Connection Broker</a:t>
            </a:r>
          </a:p>
          <a:p>
            <a:pPr algn="ctr"/>
            <a:r>
              <a:rPr sz="950" b="0">
                <a:solidFill>
                  <a:srgbClr val="FFFFFF"/>
                </a:solidFill>
                <a:latin typeface="Corbel"/>
              </a:rPr>
              <a:t>répartition, reconnexion</a:t>
            </a:r>
          </a:p>
        </p:txBody>
      </p:sp>
      <p:sp>
        <p:nvSpPr>
          <p:cNvPr id="17" name="Rounded Rectangle 16"/>
          <p:cNvSpPr/>
          <p:nvPr/>
        </p:nvSpPr>
        <p:spPr>
          <a:xfrm>
            <a:off x="7056000" y="1800000"/>
            <a:ext cx="1800000" cy="792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Hôtes de session</a:t>
            </a:r>
          </a:p>
          <a:p>
            <a:pPr algn="ctr"/>
            <a:r>
              <a:rPr sz="950" b="0">
                <a:solidFill>
                  <a:srgbClr val="44546A"/>
                </a:solidFill>
                <a:latin typeface="Corbel"/>
              </a:rPr>
              <a:t>sessions, RemoteApp</a:t>
            </a:r>
          </a:p>
        </p:txBody>
      </p:sp>
      <p:sp>
        <p:nvSpPr>
          <p:cNvPr id="18" name="Rounded Rectangle 17"/>
          <p:cNvSpPr/>
          <p:nvPr/>
        </p:nvSpPr>
        <p:spPr>
          <a:xfrm>
            <a:off x="7056000" y="3240000"/>
            <a:ext cx="1800000" cy="792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Hôte de virtualisation</a:t>
            </a:r>
          </a:p>
          <a:p>
            <a:pPr algn="ctr"/>
            <a:r>
              <a:rPr sz="950" b="0">
                <a:solidFill>
                  <a:srgbClr val="44546A"/>
                </a:solidFill>
                <a:latin typeface="Corbel"/>
              </a:rPr>
              <a:t>postes virtuels</a:t>
            </a:r>
          </a:p>
        </p:txBody>
      </p:sp>
      <p:sp>
        <p:nvSpPr>
          <p:cNvPr id="19" name="Rounded Rectangle 18"/>
          <p:cNvSpPr/>
          <p:nvPr/>
        </p:nvSpPr>
        <p:spPr>
          <a:xfrm>
            <a:off x="4752000" y="4824000"/>
            <a:ext cx="1872000" cy="792000"/>
          </a:xfrm>
          <a:prstGeom prst="roundRect">
            <a:avLst>
              <a:gd name="adj" fmla="val 8000"/>
            </a:avLst>
          </a:prstGeom>
          <a:solidFill>
            <a:srgbClr val="E7E6E6"/>
          </a:solidFill>
          <a:ln w="15875">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Licences</a:t>
            </a:r>
          </a:p>
          <a:p>
            <a:pPr algn="ctr"/>
            <a:r>
              <a:rPr sz="950" b="0">
                <a:solidFill>
                  <a:srgbClr val="44546A"/>
                </a:solidFill>
                <a:latin typeface="Corbel"/>
              </a:rPr>
              <a:t>CAL vérifiées à la connexion</a:t>
            </a:r>
          </a:p>
        </p:txBody>
      </p:sp>
      <p:cxnSp>
        <p:nvCxnSpPr>
          <p:cNvPr id="20" name="Connector 19"/>
          <p:cNvCxnSpPr/>
          <p:nvPr/>
        </p:nvCxnSpPr>
        <p:spPr>
          <a:xfrm flipV="1">
            <a:off x="1728000" y="2196000"/>
            <a:ext cx="576000" cy="126000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28000" y="3636000"/>
            <a:ext cx="576000" cy="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248000" y="3636000"/>
            <a:ext cx="504000" cy="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248000" y="2196000"/>
            <a:ext cx="504000" cy="118800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6624000" y="2196000"/>
            <a:ext cx="432000" cy="126000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624000" y="3636000"/>
            <a:ext cx="432000" cy="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6588000" y="2484000"/>
            <a:ext cx="468000" cy="2340000"/>
          </a:xfrm>
          <a:prstGeom prst="line">
            <a:avLst/>
          </a:prstGeom>
          <a:ln w="15875">
            <a:solidFill>
              <a:srgbClr val="A5A5A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88000" y="5832000"/>
            <a:ext cx="8568000" cy="324000"/>
          </a:xfrm>
          <a:prstGeom prst="rect">
            <a:avLst/>
          </a:prstGeom>
          <a:noFill/>
        </p:spPr>
        <p:txBody>
          <a:bodyPr wrap="square" lIns="43200" rIns="43200" tIns="18000" bIns="18000" anchor="ctr">
            <a:spAutoFit/>
          </a:bodyPr>
          <a:lstStyle/>
          <a:p>
            <a:pPr algn="ctr"/>
            <a:r>
              <a:rPr sz="1050" b="0" i="1">
                <a:solidFill>
                  <a:srgbClr val="A5A5A5"/>
                </a:solidFill>
                <a:latin typeface="Corbel"/>
              </a:rPr>
              <a:t>Le Connection Broker est au centre : il relie les points d'entrée aux hôtes.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L’hôte de session (RD Session Host)</a:t>
            </a:r>
          </a:p>
        </p:txBody>
      </p:sp>
      <p:sp>
        <p:nvSpPr>
          <p:cNvPr id="6" name="Espace réservé du contenu 2"/>
          <p:cNvSpPr>
            <a:spLocks noGrp="1"/>
          </p:cNvSpPr>
          <p:nvPr>
            <p:ph idx="1"/>
          </p:nvPr>
        </p:nvSpPr>
        <p:spPr/>
        <p:txBody>
          <a:bodyPr/>
          <a:lstStyle/>
          <a:p>
            <a:pPr lvl="0"/>
            <a:r>
              <a:rPr/>
              <a:t>Exécute les applications et les bureaux des utilisateurs</a:t>
            </a:r>
          </a:p>
          <a:p>
            <a:pPr lvl="0"/>
            <a:r>
              <a:rPr/>
              <a:t>Affiche le résultat sur le poste client par RDP</a:t>
            </a:r>
          </a:p>
          <a:p>
            <a:pPr lvl="0"/>
            <a:r>
              <a:rPr/>
              <a:t>Chaque utilisateur dispose d’une session indépendante</a:t>
            </a:r>
          </a:p>
          <a:p>
            <a:pPr lvl="0"/>
            <a:r>
              <a:rPr/>
              <a:t>Regroupé avec d’autres hôtes identiques dans une collection</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L’hôte de virtualisation (RD Virtualization Host)</a:t>
            </a:r>
          </a:p>
        </p:txBody>
      </p:sp>
      <p:sp>
        <p:nvSpPr>
          <p:cNvPr id="6" name="Espace réservé du contenu 2"/>
          <p:cNvSpPr>
            <a:spLocks noGrp="1"/>
          </p:cNvSpPr>
          <p:nvPr>
            <p:ph idx="1"/>
          </p:nvPr>
        </p:nvSpPr>
        <p:spPr/>
        <p:txBody>
          <a:bodyPr/>
          <a:lstStyle/>
          <a:p>
            <a:pPr lvl="0"/>
            <a:r>
              <a:rPr/>
              <a:t>S’appuie sur Hyper-V</a:t>
            </a:r>
          </a:p>
          <a:p>
            <a:pPr lvl="0"/>
            <a:r>
              <a:rPr/>
              <a:t>Héberge les postes de travail virtuels Windows 11</a:t>
            </a:r>
          </a:p>
          <a:p>
            <a:pPr lvl="0"/>
            <a:r>
              <a:rPr/>
              <a:t>Crée et démarre les machines à la demande du Connection Broker</a:t>
            </a:r>
          </a:p>
          <a:p>
            <a:pPr lvl="0"/>
            <a:r>
              <a:rPr/>
              <a:t>Nécessaire uniquement pour le VDI</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L’accès Web (RD Web Access)</a:t>
            </a:r>
          </a:p>
        </p:txBody>
      </p:sp>
      <p:sp>
        <p:nvSpPr>
          <p:cNvPr id="6" name="Espace réservé du contenu 2"/>
          <p:cNvSpPr>
            <a:spLocks noGrp="1"/>
          </p:cNvSpPr>
          <p:nvPr>
            <p:ph idx="1"/>
          </p:nvPr>
        </p:nvSpPr>
        <p:spPr/>
        <p:txBody>
          <a:bodyPr/>
          <a:lstStyle/>
          <a:p>
            <a:pPr lvl="0"/>
            <a:r>
              <a:rPr/>
              <a:t>Affiche les ressources publiées dans un navigateur</a:t>
            </a:r>
          </a:p>
          <a:p>
            <a:pPr lvl="1"/>
            <a:r>
              <a:rPr/>
              <a:t>bureaux, RemoteApp, postes virtuels</a:t>
            </a:r>
          </a:p>
          <a:p>
            <a:pPr lvl="0"/>
            <a:r>
              <a:rPr/>
              <a:t>Héberge le client web HTML5</a:t>
            </a:r>
          </a:p>
          <a:p>
            <a:pPr lvl="0"/>
            <a:r>
              <a:rPr/>
              <a:t>Publie le flux d’abonnement pour les clients</a:t>
            </a:r>
          </a:p>
          <a:p>
            <a:pPr lvl="0"/>
            <a:r>
              <a:rPr/>
              <a:t>Filtre l’affichage selon les groupes de l’utilisateur</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 Connection Broker (RD Connection Broker)</a:t>
            </a:r>
          </a:p>
        </p:txBody>
      </p:sp>
      <p:sp>
        <p:nvSpPr>
          <p:cNvPr id="6" name="Espace réservé du contenu 2"/>
          <p:cNvSpPr>
            <a:spLocks noGrp="1"/>
          </p:cNvSpPr>
          <p:nvPr>
            <p:ph idx="1"/>
          </p:nvPr>
        </p:nvSpPr>
        <p:spPr/>
        <p:txBody>
          <a:bodyPr/>
          <a:lstStyle/>
          <a:p>
            <a:pPr lvl="0"/>
            <a:r>
              <a:rPr/>
              <a:t>Envoie chaque demande de connexion vers le bon hôte</a:t>
            </a:r>
          </a:p>
          <a:p>
            <a:pPr lvl="1"/>
            <a:r>
              <a:rPr/>
              <a:t>selon la charge des serveurs</a:t>
            </a:r>
          </a:p>
          <a:p>
            <a:pPr lvl="1"/>
            <a:r>
              <a:rPr/>
              <a:t>selon les sessions existantes de l’utilisateur</a:t>
            </a:r>
          </a:p>
          <a:p>
            <a:pPr lvl="0"/>
            <a:r>
              <a:rPr/>
              <a:t>Reconnecte l’utilisateur à sa session déconnectée</a:t>
            </a:r>
          </a:p>
          <a:p>
            <a:pPr lvl="0"/>
            <a:r>
              <a:rPr/>
              <a:t>Stocke la configuration du déploiement et des collections</a:t>
            </a:r>
          </a:p>
          <a:p>
            <a:pPr lvl="0"/>
            <a:r>
              <a:rPr/>
              <a:t>Agrège les ressources publiées pour l’accès Web</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 passerelle (RD Gateway)</a:t>
            </a:r>
          </a:p>
        </p:txBody>
      </p:sp>
      <p:sp>
        <p:nvSpPr>
          <p:cNvPr id="6" name="Espace réservé du contenu 2"/>
          <p:cNvSpPr>
            <a:spLocks noGrp="1"/>
          </p:cNvSpPr>
          <p:nvPr>
            <p:ph idx="1"/>
          </p:nvPr>
        </p:nvSpPr>
        <p:spPr/>
        <p:txBody>
          <a:bodyPr/>
          <a:lstStyle/>
          <a:p>
            <a:pPr lvl="0"/>
            <a:r>
              <a:rPr/>
              <a:t>Donne un accès sécurisé depuis Internet</a:t>
            </a:r>
          </a:p>
          <a:p>
            <a:pPr lvl="0"/>
            <a:r>
              <a:rPr/>
              <a:t>Encapsule RDP dans HTTPS</a:t>
            </a:r>
          </a:p>
          <a:p>
            <a:pPr lvl="0"/>
            <a:r>
              <a:rPr/>
              <a:t>Contrôle qui se connecte et vers quelles machines</a:t>
            </a:r>
          </a:p>
          <a:p>
            <a:pPr lvl="0"/>
            <a:r>
              <a:rPr/>
              <a:t>Évite d’exposer les hôtes de session</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 gestionnaire de licences (RD Licensing)</a:t>
            </a:r>
          </a:p>
        </p:txBody>
      </p:sp>
      <p:sp>
        <p:nvSpPr>
          <p:cNvPr id="6" name="Espace réservé du contenu 2"/>
          <p:cNvSpPr>
            <a:spLocks noGrp="1"/>
          </p:cNvSpPr>
          <p:nvPr>
            <p:ph idx="1"/>
          </p:nvPr>
        </p:nvSpPr>
        <p:spPr/>
        <p:txBody>
          <a:bodyPr/>
          <a:lstStyle/>
          <a:p>
            <a:pPr lvl="0"/>
            <a:r>
              <a:rPr/>
              <a:t>Délivre les licences d’accès client (CAL RDS)</a:t>
            </a:r>
          </a:p>
          <a:p>
            <a:pPr lvl="0"/>
            <a:r>
              <a:rPr/>
              <a:t>Suit leur utilisation</a:t>
            </a:r>
          </a:p>
          <a:p>
            <a:pPr lvl="0"/>
            <a:r>
              <a:rPr/>
              <a:t>Contrôle le respect des droits acquis</a:t>
            </a:r>
          </a:p>
          <a:p>
            <a:pPr lvl="0"/>
            <a:r>
              <a:rPr/>
              <a:t>Consomme peu de ressources</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 parcours d’une connexion</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
        <p:nvSpPr>
          <p:cNvPr id="13" name="Rounded Rectangle 12"/>
          <p:cNvSpPr/>
          <p:nvPr/>
        </p:nvSpPr>
        <p:spPr>
          <a:xfrm>
            <a:off x="288000" y="3240000"/>
            <a:ext cx="1440000" cy="792000"/>
          </a:xfrm>
          <a:prstGeom prst="roundRect">
            <a:avLst>
              <a:gd name="adj" fmla="val 8000"/>
            </a:avLst>
          </a:prstGeom>
          <a:solidFill>
            <a:srgbClr val="E7E6E6"/>
          </a:solidFill>
          <a:ln w="15875">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Client</a:t>
            </a:r>
          </a:p>
          <a:p>
            <a:pPr algn="ctr"/>
            <a:r>
              <a:rPr sz="950" b="0">
                <a:solidFill>
                  <a:srgbClr val="44546A"/>
                </a:solidFill>
                <a:latin typeface="Corbel"/>
              </a:rPr>
              <a:t>navigateur ou mstsc</a:t>
            </a:r>
          </a:p>
        </p:txBody>
      </p:sp>
      <p:sp>
        <p:nvSpPr>
          <p:cNvPr id="14" name="Rounded Rectangle 13"/>
          <p:cNvSpPr/>
          <p:nvPr/>
        </p:nvSpPr>
        <p:spPr>
          <a:xfrm>
            <a:off x="2304000" y="1800000"/>
            <a:ext cx="1944000" cy="792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Accès Web</a:t>
            </a:r>
          </a:p>
          <a:p>
            <a:pPr algn="ctr"/>
            <a:r>
              <a:rPr sz="950" b="0">
                <a:solidFill>
                  <a:srgbClr val="44546A"/>
                </a:solidFill>
                <a:latin typeface="Corbel"/>
              </a:rPr>
              <a:t>portail, client web, flux</a:t>
            </a:r>
          </a:p>
        </p:txBody>
      </p:sp>
      <p:sp>
        <p:nvSpPr>
          <p:cNvPr id="15" name="Rounded Rectangle 14"/>
          <p:cNvSpPr/>
          <p:nvPr/>
        </p:nvSpPr>
        <p:spPr>
          <a:xfrm>
            <a:off x="2304000" y="3240000"/>
            <a:ext cx="1944000" cy="792000"/>
          </a:xfrm>
          <a:prstGeom prst="roundRect">
            <a:avLst>
              <a:gd name="adj" fmla="val 8000"/>
            </a:avLst>
          </a:prstGeom>
          <a:solidFill>
            <a:srgbClr val="FFC000"/>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Passerelle</a:t>
            </a:r>
          </a:p>
          <a:p>
            <a:pPr algn="ctr"/>
            <a:r>
              <a:rPr sz="950" b="0">
                <a:solidFill>
                  <a:srgbClr val="44546A"/>
                </a:solidFill>
                <a:latin typeface="Corbel"/>
              </a:rPr>
              <a:t>HTTPS depuis Internet</a:t>
            </a:r>
          </a:p>
        </p:txBody>
      </p:sp>
      <p:sp>
        <p:nvSpPr>
          <p:cNvPr id="16" name="Rounded Rectangle 15"/>
          <p:cNvSpPr/>
          <p:nvPr/>
        </p:nvSpPr>
        <p:spPr>
          <a:xfrm>
            <a:off x="4752000" y="3240000"/>
            <a:ext cx="1872000" cy="792000"/>
          </a:xfrm>
          <a:prstGeom prst="roundRect">
            <a:avLst>
              <a:gd name="adj" fmla="val 8000"/>
            </a:avLst>
          </a:prstGeom>
          <a:solidFill>
            <a:srgbClr val="5B9BD5"/>
          </a:solidFill>
          <a:ln w="15875">
            <a:solidFill>
              <a:srgbClr val="2E5F8A"/>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FFFFFF"/>
                </a:solidFill>
                <a:latin typeface="Corbel"/>
              </a:rPr>
              <a:t>Connection Broker</a:t>
            </a:r>
          </a:p>
          <a:p>
            <a:pPr algn="ctr"/>
            <a:r>
              <a:rPr sz="950" b="0">
                <a:solidFill>
                  <a:srgbClr val="FFFFFF"/>
                </a:solidFill>
                <a:latin typeface="Corbel"/>
              </a:rPr>
              <a:t>répartition, reconnexion</a:t>
            </a:r>
          </a:p>
        </p:txBody>
      </p:sp>
      <p:sp>
        <p:nvSpPr>
          <p:cNvPr id="17" name="Rounded Rectangle 16"/>
          <p:cNvSpPr/>
          <p:nvPr/>
        </p:nvSpPr>
        <p:spPr>
          <a:xfrm>
            <a:off x="7056000" y="1800000"/>
            <a:ext cx="1800000" cy="792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Hôtes de session</a:t>
            </a:r>
          </a:p>
          <a:p>
            <a:pPr algn="ctr"/>
            <a:r>
              <a:rPr sz="950" b="0">
                <a:solidFill>
                  <a:srgbClr val="44546A"/>
                </a:solidFill>
                <a:latin typeface="Corbel"/>
              </a:rPr>
              <a:t>sessions, RemoteApp</a:t>
            </a:r>
          </a:p>
        </p:txBody>
      </p:sp>
      <p:sp>
        <p:nvSpPr>
          <p:cNvPr id="18" name="Rounded Rectangle 17"/>
          <p:cNvSpPr/>
          <p:nvPr/>
        </p:nvSpPr>
        <p:spPr>
          <a:xfrm>
            <a:off x="7056000" y="3240000"/>
            <a:ext cx="1800000" cy="792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Hôte de virtualisation</a:t>
            </a:r>
          </a:p>
          <a:p>
            <a:pPr algn="ctr"/>
            <a:r>
              <a:rPr sz="950" b="0">
                <a:solidFill>
                  <a:srgbClr val="44546A"/>
                </a:solidFill>
                <a:latin typeface="Corbel"/>
              </a:rPr>
              <a:t>postes virtuels</a:t>
            </a:r>
          </a:p>
        </p:txBody>
      </p:sp>
      <p:sp>
        <p:nvSpPr>
          <p:cNvPr id="19" name="Rounded Rectangle 18"/>
          <p:cNvSpPr/>
          <p:nvPr/>
        </p:nvSpPr>
        <p:spPr>
          <a:xfrm>
            <a:off x="4752000" y="4824000"/>
            <a:ext cx="1872000" cy="792000"/>
          </a:xfrm>
          <a:prstGeom prst="roundRect">
            <a:avLst>
              <a:gd name="adj" fmla="val 8000"/>
            </a:avLst>
          </a:prstGeom>
          <a:solidFill>
            <a:srgbClr val="E7E6E6"/>
          </a:solidFill>
          <a:ln w="15875">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Licences</a:t>
            </a:r>
          </a:p>
          <a:p>
            <a:pPr algn="ctr"/>
            <a:r>
              <a:rPr sz="950" b="0">
                <a:solidFill>
                  <a:srgbClr val="44546A"/>
                </a:solidFill>
                <a:latin typeface="Corbel"/>
              </a:rPr>
              <a:t>CAL vérifiées à la connexion</a:t>
            </a:r>
          </a:p>
        </p:txBody>
      </p:sp>
      <p:cxnSp>
        <p:nvCxnSpPr>
          <p:cNvPr id="20" name="Connector 19"/>
          <p:cNvCxnSpPr/>
          <p:nvPr/>
        </p:nvCxnSpPr>
        <p:spPr>
          <a:xfrm flipV="1">
            <a:off x="1728000" y="2196000"/>
            <a:ext cx="576000" cy="126000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28000" y="3636000"/>
            <a:ext cx="576000" cy="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248000" y="3636000"/>
            <a:ext cx="504000" cy="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6624000" y="2268000"/>
            <a:ext cx="432000" cy="126000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6588000" y="2484000"/>
            <a:ext cx="468000" cy="2340000"/>
          </a:xfrm>
          <a:prstGeom prst="line">
            <a:avLst/>
          </a:prstGeom>
          <a:ln w="15875">
            <a:solidFill>
              <a:srgbClr val="A5A5A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1764000" y="2592000"/>
            <a:ext cx="288000" cy="28800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100" b="1">
                <a:solidFill>
                  <a:srgbClr val="FFFFFF"/>
                </a:solidFill>
                <a:latin typeface="Corbel"/>
              </a:rPr>
              <a:t>1</a:t>
            </a:r>
          </a:p>
        </p:txBody>
      </p:sp>
      <p:sp>
        <p:nvSpPr>
          <p:cNvPr id="26" name="Oval 25"/>
          <p:cNvSpPr/>
          <p:nvPr/>
        </p:nvSpPr>
        <p:spPr>
          <a:xfrm>
            <a:off x="1872000" y="3708000"/>
            <a:ext cx="288000" cy="28800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100" b="1">
                <a:solidFill>
                  <a:srgbClr val="FFFFFF"/>
                </a:solidFill>
                <a:latin typeface="Corbel"/>
              </a:rPr>
              <a:t>2</a:t>
            </a:r>
          </a:p>
        </p:txBody>
      </p:sp>
      <p:sp>
        <p:nvSpPr>
          <p:cNvPr id="27" name="Oval 26"/>
          <p:cNvSpPr/>
          <p:nvPr/>
        </p:nvSpPr>
        <p:spPr>
          <a:xfrm>
            <a:off x="4356000" y="3744000"/>
            <a:ext cx="288000" cy="28800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100" b="1">
                <a:solidFill>
                  <a:srgbClr val="FFFFFF"/>
                </a:solidFill>
                <a:latin typeface="Corbel"/>
              </a:rPr>
              <a:t>3</a:t>
            </a:r>
          </a:p>
        </p:txBody>
      </p:sp>
      <p:sp>
        <p:nvSpPr>
          <p:cNvPr id="28" name="Oval 27"/>
          <p:cNvSpPr/>
          <p:nvPr/>
        </p:nvSpPr>
        <p:spPr>
          <a:xfrm>
            <a:off x="6588000" y="2664000"/>
            <a:ext cx="288000" cy="28800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100" b="1">
                <a:solidFill>
                  <a:srgbClr val="FFFFFF"/>
                </a:solidFill>
                <a:latin typeface="Corbel"/>
              </a:rPr>
              <a:t>4</a:t>
            </a:r>
          </a:p>
        </p:txBody>
      </p:sp>
      <p:sp>
        <p:nvSpPr>
          <p:cNvPr id="29" name="Oval 28"/>
          <p:cNvSpPr/>
          <p:nvPr/>
        </p:nvSpPr>
        <p:spPr>
          <a:xfrm>
            <a:off x="6912000" y="4428000"/>
            <a:ext cx="288000" cy="288000"/>
          </a:xfrm>
          <a:prstGeom prst="ellipse">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100" b="1">
                <a:solidFill>
                  <a:srgbClr val="FFFFFF"/>
                </a:solidFill>
                <a:latin typeface="Corbel"/>
              </a:rPr>
              <a:t>5</a:t>
            </a:r>
          </a:p>
        </p:txBody>
      </p:sp>
      <p:sp>
        <p:nvSpPr>
          <p:cNvPr id="30" name="TextBox 29"/>
          <p:cNvSpPr txBox="1"/>
          <p:nvPr/>
        </p:nvSpPr>
        <p:spPr>
          <a:xfrm>
            <a:off x="288000" y="4536000"/>
            <a:ext cx="4248000" cy="1512000"/>
          </a:xfrm>
          <a:prstGeom prst="rect">
            <a:avLst/>
          </a:prstGeom>
          <a:noFill/>
        </p:spPr>
        <p:txBody>
          <a:bodyPr wrap="square" lIns="43200" rIns="43200" tIns="18000" bIns="18000" anchor="ctr">
            <a:spAutoFit/>
          </a:bodyPr>
          <a:lstStyle/>
          <a:p>
            <a:pPr algn="l"/>
            <a:r>
              <a:rPr sz="1000" b="0">
                <a:solidFill>
                  <a:srgbClr val="44546A"/>
                </a:solidFill>
                <a:latin typeface="Corbel"/>
              </a:rPr>
              <a:t>1. Authentification sur l'accès Web ou fichier RDP</a:t>
            </a:r>
          </a:p>
          <a:p>
            <a:pPr algn="l"/>
            <a:r>
              <a:rPr sz="1000" b="0">
                <a:solidFill>
                  <a:srgbClr val="44546A"/>
                </a:solidFill>
                <a:latin typeface="Corbel"/>
              </a:rPr>
              <a:t>2. Traversée de la passerelle depuis Internet</a:t>
            </a:r>
          </a:p>
          <a:p>
            <a:pPr algn="l"/>
            <a:r>
              <a:rPr sz="1000" b="0">
                <a:solidFill>
                  <a:srgbClr val="44546A"/>
                </a:solidFill>
                <a:latin typeface="Corbel"/>
              </a:rPr>
              <a:t>3. Choix de l'hôte par le Connection Broker</a:t>
            </a:r>
          </a:p>
          <a:p>
            <a:pPr algn="l"/>
            <a:r>
              <a:rPr sz="1000" b="0">
                <a:solidFill>
                  <a:srgbClr val="44546A"/>
                </a:solidFill>
                <a:latin typeface="Corbel"/>
              </a:rPr>
              <a:t>4. Redirection du client vers l'hôte</a:t>
            </a:r>
          </a:p>
          <a:p>
            <a:pPr algn="l"/>
            <a:r>
              <a:rPr sz="1000" b="0">
                <a:solidFill>
                  <a:srgbClr val="44546A"/>
                </a:solidFill>
                <a:latin typeface="Corbel"/>
              </a:rPr>
              <a:t>5. Vérification de la licence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 protocole RDP</a:t>
            </a:r>
          </a:p>
        </p:txBody>
      </p:sp>
      <p:sp>
        <p:nvSpPr>
          <p:cNvPr id="6" name="Espace réservé du contenu 2"/>
          <p:cNvSpPr>
            <a:spLocks noGrp="1"/>
          </p:cNvSpPr>
          <p:nvPr>
            <p:ph idx="1"/>
          </p:nvPr>
        </p:nvSpPr>
        <p:spPr/>
        <p:txBody>
          <a:bodyPr/>
          <a:lstStyle/>
          <a:p>
            <a:pPr lvl="0"/>
            <a:r>
              <a:rPr/>
              <a:t>Protocole de rendu à distance de l’interface Windows</a:t>
            </a:r>
          </a:p>
          <a:p>
            <a:pPr lvl="0"/>
            <a:r>
              <a:rPr/>
              <a:t>Port TCP et UDP 3389</a:t>
            </a:r>
          </a:p>
          <a:p>
            <a:pPr lvl="0"/>
            <a:r>
              <a:rPr/>
              <a:t>Utilisé par de nombreux usages</a:t>
            </a:r>
          </a:p>
          <a:p>
            <a:pPr lvl="1"/>
            <a:r>
              <a:rPr/>
              <a:t>services Bureau à distance</a:t>
            </a:r>
          </a:p>
          <a:p>
            <a:pPr lvl="1"/>
            <a:r>
              <a:rPr/>
              <a:t>Bureau à distance d’administration</a:t>
            </a:r>
          </a:p>
          <a:p>
            <a:pPr lvl="1"/>
            <a:r>
              <a:rPr/>
              <a:t>Assistance à distance</a:t>
            </a:r>
          </a:p>
          <a:p>
            <a:pPr lvl="1"/>
            <a:r>
              <a:rPr/>
              <a:t>Connexion aux machines virtuelles Hyper-V</a:t>
            </a:r>
          </a:p>
          <a:p>
            <a:pPr lvl="1"/>
            <a:r>
              <a:rPr/>
              <a:t>Azure Virtual Desktop et Windows 365</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L’architecture de RDP</a:t>
            </a:r>
          </a:p>
        </p:txBody>
      </p:sp>
      <p:sp>
        <p:nvSpPr>
          <p:cNvPr id="6" name="Espace réservé du contenu 2"/>
          <p:cNvSpPr>
            <a:spLocks noGrp="1"/>
          </p:cNvSpPr>
          <p:nvPr>
            <p:ph idx="1"/>
          </p:nvPr>
        </p:nvSpPr>
        <p:spPr/>
        <p:txBody>
          <a:bodyPr/>
          <a:lstStyle/>
          <a:p>
            <a:pPr lvl="0"/>
            <a:r>
              <a:rPr/>
              <a:t>Un modèle extensible de canaux virtuels</a:t>
            </a:r>
          </a:p>
          <a:p>
            <a:pPr lvl="1"/>
            <a:r>
              <a:rPr/>
              <a:t>rendu graphique</a:t>
            </a:r>
          </a:p>
          <a:p>
            <a:pPr lvl="1"/>
            <a:r>
              <a:rPr/>
              <a:t>clavier et souris</a:t>
            </a:r>
          </a:p>
          <a:p>
            <a:pPr lvl="1"/>
            <a:r>
              <a:rPr/>
              <a:t>audio, presse-papiers, lecteurs, imprimantes, périphériques USB</a:t>
            </a:r>
          </a:p>
          <a:p>
            <a:pPr lvl="0"/>
            <a:r>
              <a:rPr/>
              <a:t>Rendu graphique adaptatif, codec H.264/AVC 444</a:t>
            </a:r>
          </a:p>
          <a:p>
            <a:pPr lvl="0"/>
            <a:r>
              <a:rPr/>
              <a:t>Transport TCP et UDP</a:t>
            </a:r>
          </a:p>
          <a:p>
            <a:pPr lvl="0"/>
            <a:r>
              <a:rPr/>
              <a:t>Chiffrement TLS</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Les canaux virtuels</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
        <p:nvSpPr>
          <p:cNvPr id="13" name="Rounded Rectangle 12"/>
          <p:cNvSpPr/>
          <p:nvPr/>
        </p:nvSpPr>
        <p:spPr>
          <a:xfrm>
            <a:off x="288000" y="1800000"/>
            <a:ext cx="1728000" cy="4104000"/>
          </a:xfrm>
          <a:prstGeom prst="roundRect">
            <a:avLst>
              <a:gd name="adj" fmla="val 8000"/>
            </a:avLst>
          </a:prstGeom>
          <a:solidFill>
            <a:srgbClr val="E7E6E6"/>
          </a:solidFill>
          <a:ln w="15875">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Client RDP</a:t>
            </a:r>
          </a:p>
          <a:p>
            <a:pPr algn="ctr"/>
            <a:r>
              <a:rPr sz="950" b="0">
                <a:solidFill>
                  <a:srgbClr val="44546A"/>
                </a:solidFill>
                <a:latin typeface="Corbel"/>
              </a:rPr>
              <a:t>poste de l'utilisateur</a:t>
            </a:r>
          </a:p>
        </p:txBody>
      </p:sp>
      <p:sp>
        <p:nvSpPr>
          <p:cNvPr id="14" name="Rounded Rectangle 13"/>
          <p:cNvSpPr/>
          <p:nvPr/>
        </p:nvSpPr>
        <p:spPr>
          <a:xfrm>
            <a:off x="7128000" y="1800000"/>
            <a:ext cx="1728000" cy="4104000"/>
          </a:xfrm>
          <a:prstGeom prst="roundRect">
            <a:avLst>
              <a:gd name="adj" fmla="val 8000"/>
            </a:avLst>
          </a:prstGeom>
          <a:solidFill>
            <a:srgbClr val="5B9BD5"/>
          </a:solidFill>
          <a:ln w="15875">
            <a:solidFill>
              <a:srgbClr val="2E5F8A"/>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FFFFFF"/>
                </a:solidFill>
                <a:latin typeface="Corbel"/>
              </a:rPr>
              <a:t>Hôte de session</a:t>
            </a:r>
          </a:p>
          <a:p>
            <a:pPr algn="ctr"/>
            <a:r>
              <a:rPr sz="950" b="0">
                <a:solidFill>
                  <a:srgbClr val="FFFFFF"/>
                </a:solidFill>
                <a:latin typeface="Corbel"/>
              </a:rPr>
              <a:t>RDS-SESSION1</a:t>
            </a:r>
          </a:p>
        </p:txBody>
      </p:sp>
      <p:sp>
        <p:nvSpPr>
          <p:cNvPr id="15" name="Rounded Rectangle 14"/>
          <p:cNvSpPr/>
          <p:nvPr/>
        </p:nvSpPr>
        <p:spPr>
          <a:xfrm>
            <a:off x="2232000" y="1728000"/>
            <a:ext cx="4680000" cy="4248000"/>
          </a:xfrm>
          <a:prstGeom prst="roundRect">
            <a:avLst>
              <a:gd name="adj" fmla="val 3000"/>
            </a:avLst>
          </a:prstGeom>
          <a:noFill/>
          <a:ln w="12700">
            <a:solidFill>
              <a:srgbClr val="A5A5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304000" y="1746000"/>
            <a:ext cx="4536000" cy="216000"/>
          </a:xfrm>
          <a:prstGeom prst="rect">
            <a:avLst/>
          </a:prstGeom>
          <a:noFill/>
        </p:spPr>
        <p:txBody>
          <a:bodyPr wrap="square" lIns="43200" rIns="43200" tIns="18000" bIns="18000" anchor="ctr">
            <a:spAutoFit/>
          </a:bodyPr>
          <a:lstStyle/>
          <a:p>
            <a:pPr algn="l"/>
            <a:r>
              <a:rPr sz="900" b="1">
                <a:solidFill>
                  <a:srgbClr val="A5A5A5"/>
                </a:solidFill>
                <a:latin typeface="Corbel"/>
              </a:rPr>
              <a:t>Une connexion RDP : TCP et UDP 3389, chiffrée TLS</a:t>
            </a:r>
          </a:p>
        </p:txBody>
      </p:sp>
      <p:sp>
        <p:nvSpPr>
          <p:cNvPr id="17" name="Rounded Rectangle 16"/>
          <p:cNvSpPr/>
          <p:nvPr/>
        </p:nvSpPr>
        <p:spPr>
          <a:xfrm>
            <a:off x="2484000" y="2088000"/>
            <a:ext cx="4176000" cy="486000"/>
          </a:xfrm>
          <a:prstGeom prst="roundRect">
            <a:avLst>
              <a:gd name="adj" fmla="val 8000"/>
            </a:avLst>
          </a:prstGeom>
          <a:solidFill>
            <a:srgbClr val="5B9BD5"/>
          </a:solidFill>
          <a:ln w="15875">
            <a:solidFill>
              <a:srgbClr val="2E5F8A"/>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100" b="0">
                <a:solidFill>
                  <a:srgbClr val="FFFFFF"/>
                </a:solidFill>
                <a:latin typeface="Corbel"/>
              </a:rPr>
              <a:t>Affichage graphique</a:t>
            </a:r>
          </a:p>
        </p:txBody>
      </p:sp>
      <p:sp>
        <p:nvSpPr>
          <p:cNvPr id="18" name="Rounded Rectangle 17"/>
          <p:cNvSpPr/>
          <p:nvPr/>
        </p:nvSpPr>
        <p:spPr>
          <a:xfrm>
            <a:off x="2484000" y="2718000"/>
            <a:ext cx="4176000" cy="486000"/>
          </a:xfrm>
          <a:prstGeom prst="roundRect">
            <a:avLst>
              <a:gd name="adj" fmla="val 8000"/>
            </a:avLst>
          </a:prstGeom>
          <a:solidFill>
            <a:srgbClr val="5B9BD5"/>
          </a:solidFill>
          <a:ln w="15875">
            <a:solidFill>
              <a:srgbClr val="2E5F8A"/>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100" b="0">
                <a:solidFill>
                  <a:srgbClr val="FFFFFF"/>
                </a:solidFill>
                <a:latin typeface="Corbel"/>
              </a:rPr>
              <a:t>Clavier et souris</a:t>
            </a:r>
          </a:p>
        </p:txBody>
      </p:sp>
      <p:sp>
        <p:nvSpPr>
          <p:cNvPr id="19" name="Rounded Rectangle 18"/>
          <p:cNvSpPr/>
          <p:nvPr/>
        </p:nvSpPr>
        <p:spPr>
          <a:xfrm>
            <a:off x="2484000" y="3348000"/>
            <a:ext cx="4176000" cy="486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100" b="0">
                <a:solidFill>
                  <a:srgbClr val="44546A"/>
                </a:solidFill>
                <a:latin typeface="Corbel"/>
              </a:rPr>
              <a:t>Audio</a:t>
            </a:r>
          </a:p>
        </p:txBody>
      </p:sp>
      <p:sp>
        <p:nvSpPr>
          <p:cNvPr id="20" name="Rounded Rectangle 19"/>
          <p:cNvSpPr/>
          <p:nvPr/>
        </p:nvSpPr>
        <p:spPr>
          <a:xfrm>
            <a:off x="2484000" y="3978000"/>
            <a:ext cx="4176000" cy="486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100" b="0">
                <a:solidFill>
                  <a:srgbClr val="44546A"/>
                </a:solidFill>
                <a:latin typeface="Corbel"/>
              </a:rPr>
              <a:t>Presse-papiers</a:t>
            </a:r>
          </a:p>
        </p:txBody>
      </p:sp>
      <p:sp>
        <p:nvSpPr>
          <p:cNvPr id="21" name="Rounded Rectangle 20"/>
          <p:cNvSpPr/>
          <p:nvPr/>
        </p:nvSpPr>
        <p:spPr>
          <a:xfrm>
            <a:off x="2484000" y="4608000"/>
            <a:ext cx="4176000" cy="486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100" b="0">
                <a:solidFill>
                  <a:srgbClr val="44546A"/>
                </a:solidFill>
                <a:latin typeface="Corbel"/>
              </a:rPr>
              <a:t>Lecteurs et imprimantes</a:t>
            </a:r>
          </a:p>
        </p:txBody>
      </p:sp>
      <p:sp>
        <p:nvSpPr>
          <p:cNvPr id="22" name="Rounded Rectangle 21"/>
          <p:cNvSpPr/>
          <p:nvPr/>
        </p:nvSpPr>
        <p:spPr>
          <a:xfrm>
            <a:off x="2484000" y="5238000"/>
            <a:ext cx="4176000" cy="486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100" b="0">
                <a:solidFill>
                  <a:srgbClr val="44546A"/>
                </a:solidFill>
                <a:latin typeface="Corbel"/>
              </a:rPr>
              <a:t>USB, cartes à puce, caméras</a:t>
            </a:r>
          </a:p>
        </p:txBody>
      </p:sp>
      <p:sp>
        <p:nvSpPr>
          <p:cNvPr id="23" name="TextBox 22"/>
          <p:cNvSpPr txBox="1"/>
          <p:nvPr/>
        </p:nvSpPr>
        <p:spPr>
          <a:xfrm>
            <a:off x="288000" y="6048000"/>
            <a:ext cx="8568000" cy="324000"/>
          </a:xfrm>
          <a:prstGeom prst="rect">
            <a:avLst/>
          </a:prstGeom>
          <a:noFill/>
        </p:spPr>
        <p:txBody>
          <a:bodyPr wrap="square" lIns="43200" rIns="43200" tIns="18000" bIns="18000" anchor="ctr">
            <a:spAutoFit/>
          </a:bodyPr>
          <a:lstStyle/>
          <a:p>
            <a:pPr algn="ctr"/>
            <a:r>
              <a:rPr sz="1050" b="0" i="1">
                <a:solidFill>
                  <a:srgbClr val="A5A5A5"/>
                </a:solidFill>
                <a:latin typeface="Corbel"/>
              </a:rPr>
              <a:t>Chaque canal virtuel s'autorise ou s'interdit indépendamment.</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Les optimisations de RDP</a:t>
            </a:r>
          </a:p>
        </p:txBody>
      </p:sp>
      <p:sp>
        <p:nvSpPr>
          <p:cNvPr id="6" name="Espace réservé du contenu 2"/>
          <p:cNvSpPr>
            <a:spLocks noGrp="1"/>
          </p:cNvSpPr>
          <p:nvPr>
            <p:ph idx="1"/>
          </p:nvPr>
        </p:nvSpPr>
        <p:spPr/>
        <p:txBody>
          <a:bodyPr/>
          <a:lstStyle/>
          <a:p>
            <a:pPr lvl="0"/>
            <a:r>
              <a:rPr/>
              <a:t>Priorisation des flux</a:t>
            </a:r>
          </a:p>
          <a:p>
            <a:pPr lvl="1"/>
            <a:r>
              <a:rPr/>
              <a:t>Le clavier et la souris passent avant l’affichage</a:t>
            </a:r>
          </a:p>
          <a:p>
            <a:pPr lvl="1"/>
            <a:r>
              <a:rPr/>
              <a:t>Répartition de la bande passante entre affichage et autres canaux</a:t>
            </a:r>
          </a:p>
          <a:p>
            <a:pPr lvl="0"/>
            <a:r>
              <a:rPr/>
              <a:t>Compression et mise en cache des images</a:t>
            </a:r>
          </a:p>
          <a:p>
            <a:pPr lvl="0"/>
            <a:r>
              <a:rPr/>
              <a:t>Transport UDP pour les réseaux à latence élevée</a:t>
            </a:r>
          </a:p>
          <a:p>
            <a:pPr lvl="0"/>
            <a:r>
              <a:rPr/>
              <a:t>Authentification unique</a:t>
            </a:r>
          </a:p>
          <a:p>
            <a:pPr lvl="0"/>
            <a:r>
              <a:rPr/>
              <a:t>Impression universelle Easy Print</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L’accélération graphique</a:t>
            </a:r>
          </a:p>
        </p:txBody>
      </p:sp>
      <p:sp>
        <p:nvSpPr>
          <p:cNvPr id="6" name="Espace réservé du contenu 2"/>
          <p:cNvSpPr>
            <a:spLocks noGrp="1"/>
          </p:cNvSpPr>
          <p:nvPr>
            <p:ph idx="1"/>
          </p:nvPr>
        </p:nvSpPr>
        <p:spPr/>
        <p:txBody>
          <a:bodyPr/>
          <a:lstStyle/>
          <a:p>
            <a:pPr lvl="0"/>
            <a:r>
              <a:rPr/>
              <a:t>GPU physique utilisé pour toutes les sessions RDP</a:t>
            </a:r>
          </a:p>
          <a:p>
            <a:pPr lvl="0"/>
            <a:r>
              <a:rPr/>
              <a:t>Encodage H.264/AVC matériel et prise en charge de la 4K</a:t>
            </a:r>
          </a:p>
          <a:p>
            <a:pPr lvl="0"/>
            <a:r>
              <a:rPr/>
              <a:t>Équilibrage entre plusieurs GPU sur un hôte de session</a:t>
            </a:r>
          </a:p>
          <a:p>
            <a:pPr lvl="0"/>
            <a:r>
              <a:rPr/>
              <a:t>Machines virtuelles : Discrete Device Assignment ou partitionnement de GPU</a:t>
            </a:r>
          </a:p>
          <a:p>
            <a:pPr lvl="0"/>
            <a:r>
              <a:rPr/>
              <a:t>RemoteFX vGPU n’existe plus</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Les modèles de licences</a:t>
            </a:r>
          </a:p>
        </p:txBody>
      </p:sp>
      <p:sp>
        <p:nvSpPr>
          <p:cNvPr id="6" name="Espace réservé du contenu 2"/>
          <p:cNvSpPr>
            <a:spLocks noGrp="1"/>
          </p:cNvSpPr>
          <p:nvPr>
            <p:ph idx="1"/>
          </p:nvPr>
        </p:nvSpPr>
        <p:spPr/>
        <p:txBody>
          <a:bodyPr/>
          <a:lstStyle/>
          <a:p>
            <a:pPr lvl="0"/>
            <a:r>
              <a:rPr/>
              <a:t>Licence RDS : CAL RDS (Remote Desktop Services Client Access License)</a:t>
            </a:r>
          </a:p>
          <a:p>
            <a:pPr lvl="1"/>
            <a:r>
              <a:rPr/>
              <a:t>Accès aux hôtes de session, aux postes virtuels, à l’accès Web, à la passerelle et au Connection Broker</a:t>
            </a:r>
          </a:p>
          <a:p>
            <a:pPr lvl="0"/>
            <a:r>
              <a:rPr/>
              <a:t>Deux licences à cumuler</a:t>
            </a:r>
          </a:p>
          <a:p>
            <a:pPr lvl="1"/>
            <a:r>
              <a:rPr/>
              <a:t>CAL Windows Server : accès au serveur</a:t>
            </a:r>
          </a:p>
          <a:p>
            <a:pPr lvl="1"/>
            <a:r>
              <a:rPr/>
              <a:t>CAL RDS : accès à une session Bureau à distance</a:t>
            </a:r>
          </a:p>
          <a:p>
            <a:pPr lvl="0"/>
            <a:r>
              <a:rPr/>
              <a:t>Des licences supplémentaires pour les applications publiées</a:t>
            </a:r>
          </a:p>
          <a:p>
            <a:pPr lvl="1"/>
            <a:r>
              <a:rPr/>
              <a:t>Microsoft 365 Apps, applications métier</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Les options de licences RDS</a:t>
            </a:r>
          </a:p>
        </p:txBody>
      </p:sp>
      <p:sp>
        <p:nvSpPr>
          <p:cNvPr id="6" name="Espace réservé du contenu 2"/>
          <p:cNvSpPr>
            <a:spLocks noGrp="1"/>
          </p:cNvSpPr>
          <p:nvPr>
            <p:ph idx="1"/>
          </p:nvPr>
        </p:nvSpPr>
        <p:spPr/>
        <p:txBody>
          <a:bodyPr/>
          <a:lstStyle/>
          <a:p>
            <a:pPr lvl="0"/>
            <a:r>
              <a:rPr/>
              <a:t>CAL RDS par utilisateur</a:t>
            </a:r>
          </a:p>
          <a:p>
            <a:pPr lvl="1"/>
            <a:r>
              <a:rPr/>
              <a:t>un utilisateur, depuis un nombre illimité d’appareils</a:t>
            </a:r>
          </a:p>
          <a:p>
            <a:pPr lvl="0"/>
            <a:r>
              <a:rPr/>
              <a:t>CAL RDS par périphérique</a:t>
            </a:r>
          </a:p>
          <a:p>
            <a:pPr lvl="1"/>
            <a:r>
              <a:rPr/>
              <a:t>un appareil, quel que soit le nombre d’utilisateurs</a:t>
            </a:r>
          </a:p>
          <a:p>
            <a:pPr lvl="0"/>
            <a:r>
              <a:rPr/>
              <a:t>RDS External Connector</a:t>
            </a:r>
          </a:p>
          <a:p>
            <a:pPr lvl="1"/>
            <a:r>
              <a:rPr/>
              <a:t>accès d’un nombre illimité d’utilisateurs externes</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L’infrastructure de licences</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
        <p:nvSpPr>
          <p:cNvPr id="13" name="Rounded Rectangle 12"/>
          <p:cNvSpPr/>
          <p:nvPr/>
        </p:nvSpPr>
        <p:spPr>
          <a:xfrm>
            <a:off x="3096000" y="1728000"/>
            <a:ext cx="2952000" cy="720000"/>
          </a:xfrm>
          <a:prstGeom prst="roundRect">
            <a:avLst>
              <a:gd name="adj" fmla="val 8000"/>
            </a:avLst>
          </a:prstGeom>
          <a:solidFill>
            <a:srgbClr val="5B9BD5"/>
          </a:solidFill>
          <a:ln w="15875">
            <a:solidFill>
              <a:srgbClr val="2E5F8A"/>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FFFFFF"/>
                </a:solidFill>
                <a:latin typeface="Corbel"/>
              </a:rPr>
              <a:t>Serveur de licences</a:t>
            </a:r>
          </a:p>
          <a:p>
            <a:pPr algn="ctr"/>
            <a:r>
              <a:rPr sz="950" b="0">
                <a:solidFill>
                  <a:srgbClr val="FFFFFF"/>
                </a:solidFill>
                <a:latin typeface="Corbel"/>
              </a:rPr>
              <a:t>RDS-CBROKER1, Windows Server 2025</a:t>
            </a:r>
          </a:p>
        </p:txBody>
      </p:sp>
      <p:sp>
        <p:nvSpPr>
          <p:cNvPr id="14" name="Rounded Rectangle 13"/>
          <p:cNvSpPr/>
          <p:nvPr/>
        </p:nvSpPr>
        <p:spPr>
          <a:xfrm>
            <a:off x="576000" y="3096000"/>
            <a:ext cx="2232000" cy="648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Hôte de session</a:t>
            </a:r>
          </a:p>
          <a:p>
            <a:pPr algn="ctr"/>
            <a:r>
              <a:rPr sz="950" b="0">
                <a:solidFill>
                  <a:srgbClr val="44546A"/>
                </a:solidFill>
                <a:latin typeface="Corbel"/>
              </a:rPr>
              <a:t>demande une CAL</a:t>
            </a:r>
          </a:p>
        </p:txBody>
      </p:sp>
      <p:cxnSp>
        <p:nvCxnSpPr>
          <p:cNvPr id="15" name="Connector 14"/>
          <p:cNvCxnSpPr/>
          <p:nvPr/>
        </p:nvCxnSpPr>
        <p:spPr>
          <a:xfrm flipH="1">
            <a:off x="1692000" y="2448000"/>
            <a:ext cx="2880000" cy="64800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240000" y="3096000"/>
            <a:ext cx="2232000" cy="648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Hôte de session</a:t>
            </a:r>
          </a:p>
          <a:p>
            <a:pPr algn="ctr"/>
            <a:r>
              <a:rPr sz="950" b="0">
                <a:solidFill>
                  <a:srgbClr val="44546A"/>
                </a:solidFill>
                <a:latin typeface="Corbel"/>
              </a:rPr>
              <a:t>demande une CAL</a:t>
            </a:r>
          </a:p>
        </p:txBody>
      </p:sp>
      <p:cxnSp>
        <p:nvCxnSpPr>
          <p:cNvPr id="17" name="Connector 16"/>
          <p:cNvCxnSpPr/>
          <p:nvPr/>
        </p:nvCxnSpPr>
        <p:spPr>
          <a:xfrm flipH="1">
            <a:off x="4356000" y="2448000"/>
            <a:ext cx="216000" cy="64800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904000" y="3096000"/>
            <a:ext cx="2232000" cy="648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Hôte de session</a:t>
            </a:r>
          </a:p>
          <a:p>
            <a:pPr algn="ctr"/>
            <a:r>
              <a:rPr sz="950" b="0">
                <a:solidFill>
                  <a:srgbClr val="44546A"/>
                </a:solidFill>
                <a:latin typeface="Corbel"/>
              </a:rPr>
              <a:t>demande une CAL</a:t>
            </a:r>
          </a:p>
        </p:txBody>
      </p:sp>
      <p:cxnSp>
        <p:nvCxnSpPr>
          <p:cNvPr id="19" name="Connector 18"/>
          <p:cNvCxnSpPr/>
          <p:nvPr/>
        </p:nvCxnSpPr>
        <p:spPr>
          <a:xfrm>
            <a:off x="4572000" y="2448000"/>
            <a:ext cx="2448000" cy="64800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752000" y="2592000"/>
            <a:ext cx="1800000" cy="252000"/>
          </a:xfrm>
          <a:prstGeom prst="rect">
            <a:avLst/>
          </a:prstGeom>
          <a:noFill/>
        </p:spPr>
        <p:txBody>
          <a:bodyPr wrap="square" lIns="43200" rIns="43200" tIns="18000" bIns="18000" anchor="ctr">
            <a:spAutoFit/>
          </a:bodyPr>
          <a:lstStyle/>
          <a:p>
            <a:pPr algn="ctr"/>
            <a:r>
              <a:rPr sz="1000" b="0">
                <a:solidFill>
                  <a:srgbClr val="44546A"/>
                </a:solidFill>
                <a:latin typeface="Corbel"/>
              </a:rPr>
              <a:t>délivre les CAL</a:t>
            </a:r>
          </a:p>
        </p:txBody>
      </p:sp>
      <p:sp>
        <p:nvSpPr>
          <p:cNvPr id="21" name="Rounded Rectangle 20"/>
          <p:cNvSpPr/>
          <p:nvPr/>
        </p:nvSpPr>
        <p:spPr>
          <a:xfrm>
            <a:off x="288000" y="4104000"/>
            <a:ext cx="8568000" cy="1872000"/>
          </a:xfrm>
          <a:prstGeom prst="roundRect">
            <a:avLst>
              <a:gd name="adj" fmla="val 3000"/>
            </a:avLst>
          </a:prstGeom>
          <a:noFill/>
          <a:ln w="12700">
            <a:solidFill>
              <a:srgbClr val="A5A5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60000" y="4122000"/>
            <a:ext cx="8424000" cy="216000"/>
          </a:xfrm>
          <a:prstGeom prst="rect">
            <a:avLst/>
          </a:prstGeom>
          <a:noFill/>
        </p:spPr>
        <p:txBody>
          <a:bodyPr wrap="square" lIns="43200" rIns="43200" tIns="18000" bIns="18000" anchor="ctr">
            <a:spAutoFit/>
          </a:bodyPr>
          <a:lstStyle/>
          <a:p>
            <a:pPr algn="l"/>
            <a:r>
              <a:rPr sz="900" b="1">
                <a:solidFill>
                  <a:srgbClr val="A5A5A5"/>
                </a:solidFill>
                <a:latin typeface="Corbel"/>
              </a:rPr>
              <a:t>Types de licences</a:t>
            </a:r>
          </a:p>
        </p:txBody>
      </p:sp>
      <p:sp>
        <p:nvSpPr>
          <p:cNvPr id="23" name="Rounded Rectangle 22"/>
          <p:cNvSpPr/>
          <p:nvPr/>
        </p:nvSpPr>
        <p:spPr>
          <a:xfrm>
            <a:off x="576000" y="4536000"/>
            <a:ext cx="2448000" cy="936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CAL par utilisateur</a:t>
            </a:r>
          </a:p>
          <a:p>
            <a:pPr algn="ctr"/>
            <a:r>
              <a:rPr sz="950" b="0">
                <a:solidFill>
                  <a:srgbClr val="44546A"/>
                </a:solidFill>
                <a:latin typeface="Corbel"/>
              </a:rPr>
              <a:t>un utilisateur, tous ses appareils</a:t>
            </a:r>
          </a:p>
        </p:txBody>
      </p:sp>
      <p:sp>
        <p:nvSpPr>
          <p:cNvPr id="24" name="Rounded Rectangle 23"/>
          <p:cNvSpPr/>
          <p:nvPr/>
        </p:nvSpPr>
        <p:spPr>
          <a:xfrm>
            <a:off x="3312000" y="4536000"/>
            <a:ext cx="2448000" cy="936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CAL par périphérique</a:t>
            </a:r>
          </a:p>
          <a:p>
            <a:pPr algn="ctr"/>
            <a:r>
              <a:rPr sz="950" b="0">
                <a:solidFill>
                  <a:srgbClr val="44546A"/>
                </a:solidFill>
                <a:latin typeface="Corbel"/>
              </a:rPr>
              <a:t>un appareil, tous ses utilisateurs</a:t>
            </a:r>
          </a:p>
        </p:txBody>
      </p:sp>
      <p:sp>
        <p:nvSpPr>
          <p:cNvPr id="25" name="Rounded Rectangle 24"/>
          <p:cNvSpPr/>
          <p:nvPr/>
        </p:nvSpPr>
        <p:spPr>
          <a:xfrm>
            <a:off x="6048000" y="4536000"/>
            <a:ext cx="2448000" cy="936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rtlCol="0" anchor="ctr" wrap="square" lIns="43200" rIns="43200" tIns="18000" bIns="18000"/>
          <a:lstStyle/>
          <a:p>
            <a:pPr algn="ctr"/>
            <a:r>
              <a:rPr sz="1200" b="1">
                <a:solidFill>
                  <a:srgbClr val="44546A"/>
                </a:solidFill>
                <a:latin typeface="Corbel"/>
              </a:rPr>
              <a:t>External Connector</a:t>
            </a:r>
          </a:p>
          <a:p>
            <a:pPr algn="ctr"/>
            <a:r>
              <a:rPr sz="950" b="0">
                <a:solidFill>
                  <a:srgbClr val="44546A"/>
                </a:solidFill>
                <a:latin typeface="Corbel"/>
              </a:rPr>
              <a:t>utilisateurs externes illimités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 compatibilité des versions</a:t>
            </a:r>
          </a:p>
        </p:txBody>
      </p:sp>
      <p:sp>
        <p:nvSpPr>
          <p:cNvPr id="6" name="Espace réservé du contenu 2"/>
          <p:cNvSpPr>
            <a:spLocks noGrp="1"/>
          </p:cNvSpPr>
          <p:nvPr>
            <p:ph idx="1"/>
          </p:nvPr>
        </p:nvSpPr>
        <p:spPr/>
        <p:txBody>
          <a:bodyPr/>
          <a:lstStyle/>
          <a:p>
            <a:pPr lvl="0"/>
            <a:r>
              <a:rPr/>
              <a:t>Une CAL donne accès à sa version de Windows Server et aux versions antérieures</a:t>
            </a:r>
          </a:p>
          <a:p>
            <a:pPr lvl="0"/>
            <a:r>
              <a:rPr/>
              <a:t>Les CAL RDS 2025 exigent un serveur de licences Windows Server 2025</a:t>
            </a:r>
          </a:p>
          <a:p>
            <a:pPr lvl="0"/>
            <a:r>
              <a:rPr/>
              <a:t>Un serveur de licences ne sait pas délivrer des CAL plus récentes que lui</a:t>
            </a:r>
          </a:p>
          <a:p>
            <a:pPr lvl="0"/>
            <a:r>
              <a:rPr/>
              <a:t>Des hôtes de session 2025 exigent donc des CAL 2025</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 fonctionnement sans licence</a:t>
            </a:r>
          </a:p>
        </p:txBody>
      </p:sp>
      <p:sp>
        <p:nvSpPr>
          <p:cNvPr id="6" name="Espace réservé du contenu 2"/>
          <p:cNvSpPr>
            <a:spLocks noGrp="1"/>
          </p:cNvSpPr>
          <p:nvPr>
            <p:ph idx="1"/>
          </p:nvPr>
        </p:nvSpPr>
        <p:spPr/>
        <p:txBody>
          <a:bodyPr/>
          <a:lstStyle/>
          <a:p>
            <a:pPr lvl="0"/>
            <a:r>
              <a:rPr/>
              <a:t>Si aucun serveur de licences n’est configuré</a:t>
            </a:r>
          </a:p>
          <a:p>
            <a:pPr lvl="1"/>
            <a:r>
              <a:rPr/>
              <a:t>l’hôte accepte les connexions pendant une période de grâce de 120 jours</a:t>
            </a:r>
          </a:p>
          <a:p>
            <a:pPr lvl="1"/>
            <a:r>
              <a:rPr/>
              <a:t>au-delà, les connexions sont refusées</a:t>
            </a:r>
          </a:p>
          <a:p>
            <a:pPr lvl="0"/>
            <a:r>
              <a:rPr/>
              <a:t>Cette période sert à construire et tester l’infrastructure</a:t>
            </a:r>
          </a:p>
          <a:p>
            <a:pPr lvl="0"/>
            <a:r>
              <a:rPr/>
              <a:t>L’outil de diagnostic des licences signale les erreurs de configuration</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 que couvre aussi la CAL RDS</a:t>
            </a:r>
          </a:p>
        </p:txBody>
      </p:sp>
      <p:sp>
        <p:nvSpPr>
          <p:cNvPr id="6" name="Espace réservé du contenu 2"/>
          <p:cNvSpPr>
            <a:spLocks noGrp="1"/>
          </p:cNvSpPr>
          <p:nvPr>
            <p:ph idx="1"/>
          </p:nvPr>
        </p:nvSpPr>
        <p:spPr/>
        <p:txBody>
          <a:bodyPr/>
          <a:lstStyle/>
          <a:p>
            <a:pPr lvl="0"/>
            <a:r>
              <a:rPr/>
              <a:t>FSLogix : conteneurs de profil, conteneurs Office, masquage d’applications</a:t>
            </a:r>
          </a:p>
          <a:p>
            <a:pPr lvl="0"/>
            <a:r>
              <a:rPr/>
              <a:t>Elle reste exigée pour un hôte de session Windows Server dans Azure Virtual Desktop</a:t>
            </a:r>
          </a:p>
          <a:p>
            <a:pPr lvl="0"/>
            <a:r>
              <a:rPr/>
              <a:t>Microsoft 365 Apps exige en plus une licence Microsoft 365 adaptée</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RDS face aux offres cloud</a:t>
            </a:r>
          </a:p>
        </p:txBody>
      </p:sp>
      <p:graphicFrame>
        <p:nvGraphicFramePr>
          <p:cNvPr id="6" name="Content Placeholder 5"/>
          <p:cNvGraphicFramePr>
            <a:graphicFrameLocks noGrp="1"/>
          </p:cNvGraphicFramePr>
          <p:nvPr>
            <p:ph idx="1"/>
          </p:nvPr>
        </p:nvGraphicFramePr>
        <p:xfrm>
          <a:off x="63500" y="1498600"/>
          <a:ext cx="8991600" cy="4927600"/>
        </p:xfrm>
        <a:graphic>
          <a:graphicData uri="http://schemas.openxmlformats.org/drawingml/2006/table">
            <a:tbl>
              <a:tblPr firstRow="1" bandRow="1">
                <a:tableStyleId>{5C22544A-7EE6-4342-B048-85BDC9FD1C3A}</a:tableStyleId>
              </a:tblPr>
              <a:tblGrid>
                <a:gridCol w="2247900"/>
                <a:gridCol w="2247900"/>
                <a:gridCol w="2247900"/>
                <a:gridCol w="2247900"/>
              </a:tblGrid>
              <a:tr h="0">
                <a:tc>
                  <a:txBody>
                    <a:bodyPr/>
                    <a:lstStyle/>
                    <a:p>
                      <a:pPr lvl="0" indent="0" marL="0">
                        <a:buNone/>
                      </a:pPr>
                      <a:r>
                        <a:rPr/>
                        <a:t>Critère</a:t>
                      </a:r>
                    </a:p>
                  </a:txBody>
                  <a:tcPr/>
                </a:tc>
                <a:tc>
                  <a:txBody>
                    <a:bodyPr/>
                    <a:lstStyle/>
                    <a:p>
                      <a:pPr lvl="0" indent="0" marL="0">
                        <a:buNone/>
                      </a:pPr>
                      <a:r>
                        <a:rPr/>
                        <a:t>RDS sur site</a:t>
                      </a:r>
                    </a:p>
                  </a:txBody>
                  <a:tcPr/>
                </a:tc>
                <a:tc>
                  <a:txBody>
                    <a:bodyPr/>
                    <a:lstStyle/>
                    <a:p>
                      <a:pPr lvl="0" indent="0" marL="0">
                        <a:buNone/>
                      </a:pPr>
                      <a:r>
                        <a:rPr/>
                        <a:t>Azure Virtual Desktop</a:t>
                      </a:r>
                    </a:p>
                  </a:txBody>
                  <a:tcPr/>
                </a:tc>
                <a:tc>
                  <a:txBody>
                    <a:bodyPr/>
                    <a:lstStyle/>
                    <a:p>
                      <a:pPr lvl="0" indent="0" marL="0">
                        <a:buNone/>
                      </a:pPr>
                      <a:r>
                        <a:rPr/>
                        <a:t>Windows 365</a:t>
                      </a:r>
                    </a:p>
                  </a:txBody>
                  <a:tcPr/>
                </a:tc>
              </a:tr>
              <a:tr h="0">
                <a:tc>
                  <a:txBody>
                    <a:bodyPr/>
                    <a:lstStyle/>
                    <a:p>
                      <a:pPr lvl="0" indent="0" marL="0">
                        <a:buNone/>
                      </a:pPr>
                      <a:r>
                        <a:rPr/>
                        <a:t>Infrastructure</a:t>
                      </a:r>
                    </a:p>
                  </a:txBody>
                </a:tc>
                <a:tc>
                  <a:txBody>
                    <a:bodyPr/>
                    <a:lstStyle/>
                    <a:p>
                      <a:pPr lvl="0" indent="0" marL="0">
                        <a:buNone/>
                      </a:pPr>
                      <a:r>
                        <a:rPr/>
                        <a:t>Vos serveurs</a:t>
                      </a:r>
                    </a:p>
                  </a:txBody>
                </a:tc>
                <a:tc>
                  <a:txBody>
                    <a:bodyPr/>
                    <a:lstStyle/>
                    <a:p>
                      <a:pPr lvl="0" indent="0" marL="0">
                        <a:buNone/>
                      </a:pPr>
                      <a:r>
                        <a:rPr/>
                        <a:t>Machines virtuelles Azure</a:t>
                      </a:r>
                    </a:p>
                  </a:txBody>
                </a:tc>
                <a:tc>
                  <a:txBody>
                    <a:bodyPr/>
                    <a:lstStyle/>
                    <a:p>
                      <a:pPr lvl="0" indent="0" marL="0">
                        <a:buNone/>
                      </a:pPr>
                      <a:r>
                        <a:rPr/>
                        <a:t>Cloud PC géré par Microsoft</a:t>
                      </a:r>
                    </a:p>
                  </a:txBody>
                </a:tc>
              </a:tr>
              <a:tr h="0">
                <a:tc>
                  <a:txBody>
                    <a:bodyPr/>
                    <a:lstStyle/>
                    <a:p>
                      <a:pPr lvl="0" indent="0" marL="0">
                        <a:buNone/>
                      </a:pPr>
                      <a:r>
                        <a:rPr/>
                        <a:t>Plan de contrôle</a:t>
                      </a:r>
                    </a:p>
                  </a:txBody>
                </a:tc>
                <a:tc>
                  <a:txBody>
                    <a:bodyPr/>
                    <a:lstStyle/>
                    <a:p>
                      <a:pPr lvl="0" indent="0" marL="0">
                        <a:buNone/>
                      </a:pPr>
                      <a:r>
                        <a:rPr/>
                        <a:t>Connection Broker local</a:t>
                      </a:r>
                    </a:p>
                  </a:txBody>
                </a:tc>
                <a:tc>
                  <a:txBody>
                    <a:bodyPr/>
                    <a:lstStyle/>
                    <a:p>
                      <a:pPr lvl="0" indent="0" marL="0">
                        <a:buNone/>
                      </a:pPr>
                      <a:r>
                        <a:rPr/>
                        <a:t>Service Azure</a:t>
                      </a:r>
                    </a:p>
                  </a:txBody>
                </a:tc>
                <a:tc>
                  <a:txBody>
                    <a:bodyPr/>
                    <a:lstStyle/>
                    <a:p>
                      <a:pPr lvl="0" indent="0" marL="0">
                        <a:buNone/>
                      </a:pPr>
                      <a:r>
                        <a:rPr/>
                        <a:t>Service Microsoft</a:t>
                      </a:r>
                    </a:p>
                  </a:txBody>
                </a:tc>
              </a:tr>
              <a:tr h="0">
                <a:tc>
                  <a:txBody>
                    <a:bodyPr/>
                    <a:lstStyle/>
                    <a:p>
                      <a:pPr lvl="0" indent="0" marL="0">
                        <a:buNone/>
                      </a:pPr>
                      <a:r>
                        <a:rPr/>
                        <a:t>Multisession</a:t>
                      </a:r>
                    </a:p>
                  </a:txBody>
                </a:tc>
                <a:tc>
                  <a:txBody>
                    <a:bodyPr/>
                    <a:lstStyle/>
                    <a:p>
                      <a:pPr lvl="0" indent="0" marL="0">
                        <a:buNone/>
                      </a:pPr>
                      <a:r>
                        <a:rPr/>
                        <a:t>Windows Server</a:t>
                      </a:r>
                    </a:p>
                  </a:txBody>
                </a:tc>
                <a:tc>
                  <a:txBody>
                    <a:bodyPr/>
                    <a:lstStyle/>
                    <a:p>
                      <a:pPr lvl="0" indent="0" marL="0">
                        <a:buNone/>
                      </a:pPr>
                      <a:r>
                        <a:rPr/>
                        <a:t>Windows 11 multisession ou Windows Server</a:t>
                      </a:r>
                    </a:p>
                  </a:txBody>
                </a:tc>
                <a:tc>
                  <a:txBody>
                    <a:bodyPr/>
                    <a:lstStyle/>
                    <a:p>
                      <a:pPr lvl="0" indent="0" marL="0">
                        <a:buNone/>
                      </a:pPr>
                      <a:r>
                        <a:rPr/>
                        <a:t>Non</a:t>
                      </a:r>
                    </a:p>
                  </a:txBody>
                </a:tc>
              </a:tr>
              <a:tr h="0">
                <a:tc>
                  <a:txBody>
                    <a:bodyPr/>
                    <a:lstStyle/>
                    <a:p>
                      <a:pPr lvl="0" indent="0" marL="0">
                        <a:buNone/>
                      </a:pPr>
                      <a:r>
                        <a:rPr/>
                        <a:t>Facturation</a:t>
                      </a:r>
                    </a:p>
                  </a:txBody>
                </a:tc>
                <a:tc>
                  <a:txBody>
                    <a:bodyPr/>
                    <a:lstStyle/>
                    <a:p>
                      <a:pPr lvl="0" indent="0" marL="0">
                        <a:buNone/>
                      </a:pPr>
                      <a:r>
                        <a:rPr/>
                        <a:t>Licences et matériel</a:t>
                      </a:r>
                    </a:p>
                  </a:txBody>
                </a:tc>
                <a:tc>
                  <a:txBody>
                    <a:bodyPr/>
                    <a:lstStyle/>
                    <a:p>
                      <a:pPr lvl="0" indent="0" marL="0">
                        <a:buNone/>
                      </a:pPr>
                      <a:r>
                        <a:rPr/>
                        <a:t>À la consommation</a:t>
                      </a:r>
                    </a:p>
                  </a:txBody>
                </a:tc>
                <a:tc>
                  <a:txBody>
                    <a:bodyPr/>
                    <a:lstStyle/>
                    <a:p>
                      <a:pPr lvl="0" indent="0" marL="0">
                        <a:buNone/>
                      </a:pPr>
                      <a:r>
                        <a:rPr/>
                        <a:t>Par utilisateur et par mois</a:t>
                      </a:r>
                    </a:p>
                  </a:txBody>
                </a:tc>
              </a:tr>
            </a:tbl>
          </a:graphicData>
        </a:graphic>
      </p:graphicFrame>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Azure Virtual Desktop sur Azure Local</a:t>
            </a:r>
          </a:p>
        </p:txBody>
      </p:sp>
      <p:sp>
        <p:nvSpPr>
          <p:cNvPr id="6" name="Espace réservé du contenu 2"/>
          <p:cNvSpPr>
            <a:spLocks noGrp="1"/>
          </p:cNvSpPr>
          <p:nvPr>
            <p:ph idx="1"/>
          </p:nvPr>
        </p:nvSpPr>
        <p:spPr/>
        <p:txBody>
          <a:bodyPr/>
          <a:lstStyle/>
          <a:p>
            <a:pPr lvl="0"/>
            <a:r>
              <a:rPr/>
              <a:t>Hôtes de session installés sur votre infrastructure Azure Local</a:t>
            </a:r>
          </a:p>
          <a:p>
            <a:pPr lvl="0"/>
            <a:r>
              <a:rPr/>
              <a:t>Plan de contrôle Azure Virtual Desktop dans Azure</a:t>
            </a:r>
          </a:p>
          <a:p>
            <a:pPr lvl="0"/>
            <a:r>
              <a:rPr/>
              <a:t>Windows 11 multisession sur site</a:t>
            </a:r>
          </a:p>
          <a:p>
            <a:pPr lvl="0"/>
            <a:r>
              <a:rPr/>
              <a:t>Données conservées dans vos murs</a:t>
            </a:r>
          </a:p>
          <a:p>
            <a:pPr lvl="0"/>
            <a:r>
              <a:rPr/>
              <a:t>Connexion à Azure obligatoire pour le plan de contrôle</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 qu’apporte Windows Server 2025</a:t>
            </a:r>
          </a:p>
        </p:txBody>
      </p:sp>
      <p:sp>
        <p:nvSpPr>
          <p:cNvPr id="6" name="Espace réservé du contenu 2"/>
          <p:cNvSpPr>
            <a:spLocks noGrp="1"/>
          </p:cNvSpPr>
          <p:nvPr>
            <p:ph idx="1"/>
          </p:nvPr>
        </p:nvSpPr>
        <p:spPr/>
        <p:txBody>
          <a:bodyPr/>
          <a:lstStyle/>
          <a:p>
            <a:pPr lvl="0"/>
            <a:r>
              <a:rPr/>
              <a:t>CAL et serveur de licences 2025</a:t>
            </a:r>
          </a:p>
          <a:p>
            <a:pPr lvl="0"/>
            <a:r>
              <a:rPr/>
              <a:t>Signature SMB exigée par défaut : partages de profils et scripts</a:t>
            </a:r>
          </a:p>
          <a:p>
            <a:pPr lvl="0"/>
            <a:r>
              <a:rPr/>
              <a:t>Blocage NTLM possible et Credential Guard : authentification unique à tester</a:t>
            </a:r>
          </a:p>
          <a:p>
            <a:pPr lvl="0"/>
            <a:r>
              <a:rPr/>
              <a:t>Fin des pilotes d’impression tiers</a:t>
            </a:r>
          </a:p>
          <a:p>
            <a:pPr lvl="0"/>
            <a:r>
              <a:rPr/>
              <a:t>Partitionnement de GPU avec migration dynamique des machines virtuelles</a:t>
            </a:r>
          </a:p>
          <a:p>
            <a:pPr lvl="0"/>
            <a:r>
              <a:rPr/>
              <a:t>Microsoft 365 Apps pris en charge jusqu’en octobre 2029</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Avez-vous des questions ?</a:t>
            </a:r>
          </a:p>
        </p:txBody>
      </p:sp>
      <p:sp>
        <p:nvSpPr>
          <p:cNvPr id="12" name="Espace réservé du numéro de diapositive 11"/>
          <p:cNvSpPr>
            <a:spLocks noGrp="1"/>
          </p:cNvSpPr>
          <p:nvPr>
            <p:ph idx="10" sz="quarter" type="sldNum"/>
          </p:nvPr>
        </p:nvSpPr>
        <p:spPr/>
        <p:txBody>
          <a:bodyPr/>
          <a:lstStyle/>
          <a:p>
            <a:fld id="{CF4668DC-857F-487D-BFFA-8C0CA5037977}" type="slidenum">
              <a:rPr lang="fr-BE" smtClean="0"/>
              <a:pPr/>
              <a:t>‹N°›</a:t>
            </a:fld>
            <a:endParaRPr lang="fr-BE"/>
          </a:p>
        </p:txBody>
      </p:sp>
    </p:spTree>
  </p:cSld>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èle EGILI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extLst>
    <a:ext uri="{05A4C25C-085E-4340-85A3-A5531E510DB2}">
      <thm15:themeFamily xmlns:thm15="http://schemas.microsoft.com/office/thememl/2012/main" name="_EGILIA-Template.potx" id="{308816F5-4877-444A-9C2E-10E8B589F71D}" vid="{A8E82A1B-84CC-4282-8223-F7357AEA6CE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EGILIA-Template%20v2.5</Template>
  <TotalTime>0</TotalTime>
  <Words>0</Words>
  <Application>Microsoft Office PowerPoint</Application>
  <PresentationFormat>Affichage à l'écran (4:3)</PresentationFormat>
  <Paragraphs>0</Paragraphs>
  <Slides>0</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0</vt:i4>
      </vt:variant>
    </vt:vector>
  </HeadingPairs>
  <TitlesOfParts>
    <vt:vector size="7" baseType="lpstr">
      <vt:lpstr>Arial</vt:lpstr>
      <vt:lpstr>Calibri</vt:lpstr>
      <vt:lpstr>Corbel</vt:lpstr>
      <vt:lpstr>Wingdings</vt:lpstr>
      <vt:lpstr>Wingdings 2</vt:lpstr>
      <vt:lpstr>Wingdings 3</vt:lpstr>
      <vt:lpstr>Modèle EGILIA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2026-09-22T19:57:05Z</dcterms:created>
  <dcterms:modified xsi:type="dcterms:W3CDTF">2026-09-22T19:57:05Z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ion">
    <vt:lpwstr>Remote Desktop Services sous Windows Server 2025</vt:lpwstr>
  </property>
</Properties>
</file>