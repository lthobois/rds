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5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FF6600"/>
    <a:srgbClr val="003366"/>
    <a:srgbClr val="1C40A4"/>
    <a:srgbClr val="B48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84462" autoAdjust="0"/>
  </p:normalViewPr>
  <p:slideViewPr>
    <p:cSldViewPr>
      <p:cViewPr varScale="1">
        <p:scale>
          <a:sx n="130" d="100"/>
          <a:sy n="130" d="100"/>
        </p:scale>
        <p:origin x="59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1" d="100"/>
          <a:sy n="71" d="100"/>
        </p:scale>
        <p:origin x="32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7F6F-E004-4414-8178-04C7568A565A}" type="datetimeFigureOut">
              <a:rPr lang="fr-FR" smtClean="0"/>
              <a:pPr/>
              <a:t>24/09/2026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274BD-2225-430E-B195-718FE1CD5BB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5456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 plateforme construite jusqu’ici fonctionne, mais chaque serveur est unique. Ce module la rend tolérante aux pannes et donne les outils de son exploitation quotidienne.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Centraliser les postes de travail concentre aussi le risque : une panne qui touchait un poste touche désormais toute l’entreprise. La haute disponibilité n’est pas une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Faire remplir le tableau par les participants à partir de la plateforme construite. La redondance doit couvrir toute la chaîne, y compris le stockage et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clients, accès Web et passerelles doublés, Connection Brokers doublés adossés à SQL, hôtes de session multiples, profils sur un stockage redondant.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C’est le Connection Broker, et non un équilibreur réseau, qui répartit les sessions entre les hôtes. En haute disponibilité, un tourniquet DNS répartit les clients entre les Connection Brokers.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Avec des hôtes identiques, garder des poids égaux. Le poids sert à intégrer des serveurs de puissances différentes dans la même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trois hôtes de poids différents et la répartition des nouvelles sessions qui en résulte.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La répartition porte sur les nouvelles sessions : un hôte ajouté en cours de journée ne reçoit pas les sessions déjà ouvertes.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les étapes numérotées entre le client, le Connection Broker et les deux hôtes de session.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La reconnexion à la session existante est la fonction la plus visible pour l’utilisateur : sans elle, une coupure réseau fait perdre le travail en cours et laisse une session orpheline sur un autre hôte.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Il n’y a pas de cluster de basculement à construire : la haute disponibilité se déplace vers SQL Server, qui doit lui-même être redondant en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les clients résolvent rds-farm.avaedos.lan vers RDS-CBROKER1 ou RDS-CBROKER2, qui partagent la base RDCB-DB sur un serveur SQL.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La base SQL devient à son tour un point de défaillance : en production, elle est elle-même redondée. En atelier, elle est hébergée sur RDS-DC1 pour économiser une machine ; c’est une simplification de laboratoire, Microsoft déconseille d’installer SQL Server sur un contrôleur de domaine.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Après l’appartenance au groupe, redémarrer les Connection Brokers pour que leur compte ordinateur en reçoive les droits.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Capture de l’assistant à refaire sous Windows Server 2025.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La version du pilote dans la chaîne de connexion doit correspondre au pilote ODBC réellement installé sur chaque Connection Broker : c’est la cause d’échec la plus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Les serveurs de licences ne se répliquent pas : on en déclare deux dans le déploiement et on répartit les CAL entre eux. En cas de panne de l’un, l’autre délivre les CAL restantes.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Avec deux hôtes, cette méthode suppose que l’hôte restant absorbe toute la charge : c’est la marge prévue lors du dimensionnement du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pendant le drainage, les sessions existantes restent sur RDS-SESSION1 tandis que les nouvelles vont sur RDS-SESSION2.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Le drainage n’expulse personne : il faut prévenir les utilisateurs et fixer une échéance.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 valeur </a:t>
            </a:r>
            <a:r>
              <a:rPr>
                <a:latin typeface="Courier"/>
              </a:rPr>
              <a:t>NotUntilReboot</a:t>
            </a:r>
            <a:r>
              <a:t> bloque les nouvelles connexions jusqu’au prochain redémarrage : pratique pour une maintenance planifiée. Sur l’hôte lui-même, </a:t>
            </a:r>
            <a:r>
              <a:rPr>
                <a:latin typeface="Courier"/>
              </a:rPr>
              <a:t>change logon /drain</a:t>
            </a:r>
            <a:r>
              <a:t> produit le même effet.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Les hôtes de session ne contiennent pas de données utilisateur lorsque les profils sont dans FSLogix : on les reconstruit plutôt qu’on ne les restaure. L’effort de sauvegarde porte sur SQL, les profils et la documentation de la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 délai d’entrée utilisateur mesure le temps entre une action de l’utilisateur et son traitement : c’est l’indicateur le plus proche du ressenti. Au-delà de quelques centaines de millisecondes, les utilisateurs se plaignent de lenteur.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Les compteurs RemoteFX conservent leur nom historique.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Ces journaux se trouvent dans l’observateur d’événements, sous Applications et services, Microsoft, Windows. Les centraliser par collecte d’événements ou dans un outil de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 plupart des incidents se classent en quatre familles : connexion refusée (passerelle, CAP/RAP, certificat), session qui ne s’ouvre pas (licence, profil), lenteur (ressources, réseau, UDP bloqué), application qui échoue (installation incomplète sur un hôte).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Résultat attendu : le déploiement fonctionne avec l’un ou l’autre des Connection Brokers arrêté, et RDS-SESSION1 ne reçoit plus de nouvelle session pendant le drainage.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Pour le diagnostic, prévoir une panne différente selon l’avancement : certificat expiré, pilote ODBC manquant, CAP trop restrictive, partage de profils inaccessible.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Faire la transition vers le VDI : la plateforme de sessions partagées est complète, reste à répondre au besoin du bureau d’études.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type="title" hasCustomPrompt="1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algn="r" defTabSz="914400" rtl="0" eaLnBrk="1" latinLnBrk="0" hangingPunct="1">
              <a:defRPr lang="fr-FR" sz="2800" b="0" kern="1200" cap="none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dirty="0"/>
              <a:t>MODULE : Titre du module</a:t>
            </a:r>
          </a:p>
        </p:txBody>
      </p:sp>
      <p:sp>
        <p:nvSpPr>
          <p:cNvPr id="7" name="Espace réservé du pied de page 13"/>
          <p:cNvSpPr txBox="1">
            <a:spLocks/>
          </p:cNvSpPr>
          <p:nvPr userDrawn="1"/>
        </p:nvSpPr>
        <p:spPr>
          <a:xfrm>
            <a:off x="6000728" y="6476998"/>
            <a:ext cx="3070678" cy="381002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Copyright © AVAEDOS. All rights reserved</a:t>
            </a:r>
            <a:endParaRPr kumimoji="0" lang="fr-BE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406" y="5893635"/>
            <a:ext cx="9000000" cy="360000"/>
          </a:xfrm>
        </p:spPr>
        <p:txBody>
          <a:bodyPr>
            <a:noAutofit/>
          </a:bodyPr>
          <a:lstStyle>
            <a:lvl1pPr marL="0" indent="0" algn="r" defTabSz="900000">
              <a:buNone/>
              <a:defRPr lang="en-US" sz="1600" b="1" kern="1200" dirty="0" smtClean="0">
                <a:solidFill>
                  <a:srgbClr val="FF99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fr-FR" noProof="0" dirty="0"/>
              <a:t>Titre de la formation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5759"/>
            <a:ext cx="9144000" cy="50572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build="p">
        <p:tmplLst>
          <p:tmpl lvl="1"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71406" y="1500174"/>
            <a:ext cx="9001188" cy="4929221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gauche et 2 bloc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droite et 2 blocs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haut et 2 blocs en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bas et 2 blocs en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755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Avez-vous des questions ?</a:t>
            </a:r>
          </a:p>
        </p:txBody>
      </p:sp>
      <p:pic>
        <p:nvPicPr>
          <p:cNvPr id="4" name="Picture 5" descr="questionmark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407" y="1500188"/>
            <a:ext cx="4929187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9"/>
          <p:cNvGrpSpPr/>
          <p:nvPr userDrawn="1"/>
        </p:nvGrpSpPr>
        <p:grpSpPr>
          <a:xfrm>
            <a:off x="285720" y="428604"/>
            <a:ext cx="8643998" cy="5929354"/>
            <a:chOff x="285720" y="428604"/>
            <a:chExt cx="8643998" cy="5929354"/>
          </a:xfrm>
        </p:grpSpPr>
        <p:pic>
          <p:nvPicPr>
            <p:cNvPr id="5" name="Picture 4" descr="C:\Users\EGILIAlearning\Desktop\EGILIA ACADEMY Marie\LOGOS\fond diplome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5720" y="428604"/>
              <a:ext cx="8643998" cy="5929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71"/>
            <p:cNvSpPr>
              <a:spLocks noChangeArrowheads="1"/>
            </p:cNvSpPr>
            <p:nvPr/>
          </p:nvSpPr>
          <p:spPr bwMode="auto">
            <a:xfrm>
              <a:off x="1285853" y="1214422"/>
              <a:ext cx="6715172" cy="4429156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 userDrawn="1"/>
        </p:nvSpPr>
        <p:spPr bwMode="auto">
          <a:xfrm>
            <a:off x="1357290" y="2691466"/>
            <a:ext cx="6586538" cy="55399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3000" b="1" dirty="0">
                <a:latin typeface="Arial" pitchFamily="34" charset="0"/>
                <a:cs typeface="Arial" pitchFamily="34" charset="0"/>
              </a:rPr>
              <a:t>Félicitations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1357290" y="4383107"/>
            <a:ext cx="6586538" cy="928694"/>
          </a:xfrm>
        </p:spPr>
        <p:txBody>
          <a:bodyPr/>
          <a:lstStyle>
            <a:lvl1pPr algn="ctr">
              <a:defRPr b="0" i="0" baseline="0">
                <a:ln w="18415" cmpd="sng">
                  <a:noFill/>
                  <a:prstDash val="solid"/>
                </a:ln>
                <a:solidFill>
                  <a:srgbClr val="FF9900"/>
                </a:solidFill>
                <a:effectLst>
                  <a:reflection blurRad="6350" stA="55000" endA="50" endPos="85000" dir="5400000" sy="-100000" algn="bl" rotWithShape="0"/>
                </a:effectLst>
              </a:defRPr>
            </a:lvl1pPr>
          </a:lstStyle>
          <a:p>
            <a:pPr algn="ctr">
              <a:spcBef>
                <a:spcPct val="50000"/>
              </a:spcBef>
            </a:pPr>
            <a:r>
              <a:rPr lang="fr-FR" sz="3200" b="1" dirty="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Titre du Module</a:t>
            </a:r>
            <a:endParaRPr lang="fr-FR" sz="3200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77"/>
          <p:cNvSpPr txBox="1">
            <a:spLocks noChangeArrowheads="1"/>
          </p:cNvSpPr>
          <p:nvPr userDrawn="1"/>
        </p:nvSpPr>
        <p:spPr bwMode="auto">
          <a:xfrm>
            <a:off x="1928024" y="3429000"/>
            <a:ext cx="5329237" cy="95410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800" u="none" dirty="0">
                <a:latin typeface="Arial" pitchFamily="34" charset="0"/>
                <a:cs typeface="Arial" pitchFamily="34" charset="0"/>
              </a:rPr>
              <a:t>Vous avez suivi avec succès le module</a:t>
            </a:r>
            <a:endParaRPr lang="fr-FR" sz="3200" u="none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33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760"/>
            <a:ext cx="9144000" cy="135153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 descr="C:\Users\EGILIAlearning\Desktop\EGILIA ACADEMY Marie\LOGOS\Essai bandeau bas 1.png"/>
          <p:cNvPicPr>
            <a:picLocks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00834"/>
            <a:ext cx="9144000" cy="360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 userDrawn="1"/>
        </p:nvSpPr>
        <p:spPr>
          <a:xfrm>
            <a:off x="0" y="6596390"/>
            <a:ext cx="9144000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noProof="0" dirty="0">
                <a:solidFill>
                  <a:schemeClr val="bg1"/>
                </a:solidFill>
              </a:rPr>
              <a:t>Copyright © AVAEDOS. All rights reserved</a:t>
            </a: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406" y="428604"/>
            <a:ext cx="7715304" cy="928694"/>
          </a:xfrm>
          <a:prstGeom prst="rect">
            <a:avLst/>
          </a:prstGeom>
          <a:noFill/>
        </p:spPr>
        <p:txBody>
          <a:bodyPr vert="horz" lIns="91440" rIns="45720" rtlCol="0" anchor="ctr">
            <a:no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406" y="1500174"/>
            <a:ext cx="9001188" cy="4929222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fr-FR" dirty="0"/>
              <a:t>Cliquez pour modifier les styles du texte du masque</a:t>
            </a:r>
          </a:p>
          <a:p>
            <a:pPr lvl="1" eaLnBrk="1" latinLnBrk="0" hangingPunct="1"/>
            <a:r>
              <a:rPr kumimoji="0" lang="fr-FR" dirty="0"/>
              <a:t>Deuxième niveau</a:t>
            </a:r>
          </a:p>
          <a:p>
            <a:pPr lvl="2" eaLnBrk="1" latinLnBrk="0" hangingPunct="1"/>
            <a:r>
              <a:rPr kumimoji="0" lang="fr-FR" dirty="0"/>
              <a:t>Troisième niveau</a:t>
            </a:r>
          </a:p>
          <a:p>
            <a:pPr lvl="3" eaLnBrk="1" latinLnBrk="0" hangingPunct="1"/>
            <a:r>
              <a:rPr kumimoji="0" lang="fr-FR" dirty="0"/>
              <a:t>Quatrième niveau</a:t>
            </a:r>
          </a:p>
          <a:p>
            <a:pPr lvl="4" eaLnBrk="1" latinLnBrk="0" hangingPunct="1"/>
            <a:r>
              <a:rPr kumimoji="0" lang="fr-FR" dirty="0"/>
              <a:t>Cinquième niveau</a:t>
            </a:r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38730" y="6593556"/>
            <a:ext cx="733864" cy="21429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bg1"/>
                </a:solidFill>
              </a:defRPr>
            </a:lvl1pPr>
            <a:extLst/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871" y="44624"/>
            <a:ext cx="1490633" cy="5539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504136"/>
            <a:ext cx="971600" cy="3610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1" r:id="rId3"/>
    <p:sldLayoutId id="2147484063" r:id="rId4"/>
    <p:sldLayoutId id="2147484068" r:id="rId5"/>
    <p:sldLayoutId id="2147484062" r:id="rId6"/>
    <p:sldLayoutId id="2147484069" r:id="rId7"/>
    <p:sldLayoutId id="2147484070" r:id="rId8"/>
    <p:sldLayoutId id="2147484071" r:id="rId9"/>
    <p:sldLayoutId id="2147484074" r:id="rId10"/>
    <p:sldLayoutId id="2147484073" r:id="rId11"/>
    <p:sldLayoutId id="2147484072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b="0" kern="1200" cap="none" spc="0">
          <a:ln w="1841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type="title" hasCustomPrompt="1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0" indent="0">
              <a:buNone/>
            </a:pPr>
            <a:r>
              <a:t>Module 5 : Haute disponibilité et exploitation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Remote Desktop Services sous Windows Server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Les risques d’une architecture centralisée</a:t>
            </a:r>
          </a:p>
          <a:p>
            <a:pPr lvl="0"/>
            <a:r>
              <a:t>Une infrastructure tolérante aux pannes</a:t>
            </a:r>
          </a:p>
          <a:p>
            <a:pPr lvl="0"/>
            <a:r>
              <a:t>Le Connection Broker : répartition et reconnexion</a:t>
            </a:r>
          </a:p>
          <a:p>
            <a:pPr lvl="0"/>
            <a:r>
              <a:t>Le Connection Broker en haute disponibilité</a:t>
            </a:r>
          </a:p>
          <a:p>
            <a:pPr lvl="0"/>
            <a:r>
              <a:t>Redonder l’accès et les licences</a:t>
            </a:r>
          </a:p>
          <a:p>
            <a:pPr lvl="0"/>
            <a:r>
              <a:t>Maintenance, sauvegarde et supervision</a:t>
            </a:r>
          </a:p>
          <a:p>
            <a:pPr lvl="0"/>
            <a:r>
              <a:t>Méthode de diagnostic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risques d’une architecture centralisée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Point de défaillance unique</a:t>
            </a:r>
          </a:p>
          <a:p>
            <a:pPr lvl="1"/>
            <a:r>
              <a:t>perte de données</a:t>
            </a:r>
          </a:p>
          <a:p>
            <a:pPr lvl="1"/>
            <a:r>
              <a:t>indisponibilité</a:t>
            </a:r>
          </a:p>
          <a:p>
            <a:pPr lvl="1"/>
            <a:r>
              <a:t>arrêt de production pour tous les utilisateurs</a:t>
            </a:r>
          </a:p>
          <a:p>
            <a:pPr lvl="0"/>
            <a:r>
              <a:t>Dépannages</a:t>
            </a:r>
          </a:p>
          <a:p>
            <a:pPr lvl="1"/>
            <a:r>
              <a:t>longs</a:t>
            </a:r>
          </a:p>
          <a:p>
            <a:pPr lvl="1"/>
            <a:r>
              <a:t>coûteux</a:t>
            </a:r>
          </a:p>
          <a:p>
            <a:pPr lvl="1"/>
            <a:r>
              <a:t>difficiles</a:t>
            </a:r>
          </a:p>
        </p:txBody>
      </p:sp>
      <p:pic>
        <p:nvPicPr>
          <p:cNvPr id="2" name="Picture 1" descr="images/diapo-087-0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739900"/>
            <a:ext cx="4318000" cy="445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points de défaillance de la plateforme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Composant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Conséquence d’une panne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Connection 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Plus aucune nouvelle connexion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Hôte de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Sessions de ses utilisateurs perdues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Accès Web et passerelle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Plus d’accès depuis Internet ni par le portail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Stockage des profils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Sessions ouvertes sans profil ou en échec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Serveur de licences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Nouvelles CAL impossibles à délivrer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SQL Server (en haute disponibilité)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Connection Brokers inutilisables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Une infrastructure tolérante aux pannes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3024000"/>
            <a:ext cx="1368000" cy="86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Clients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8000" y="2232000"/>
            <a:ext cx="1656000" cy="720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Accès Web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passerelle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88000" y="3744000"/>
            <a:ext cx="1656000" cy="720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Accès Web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passerelle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6000" y="2232000"/>
            <a:ext cx="1656000" cy="72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Connection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Broker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76000" y="3744000"/>
            <a:ext cx="1656000" cy="72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Connection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Broker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6000" y="5040000"/>
            <a:ext cx="1656000" cy="6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SQL Server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redondé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4000" y="1944000"/>
            <a:ext cx="1296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Hôte 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4000" y="2844000"/>
            <a:ext cx="1296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Hôte 2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session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4000" y="3744000"/>
            <a:ext cx="1296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Hôte 3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6000" y="1944000"/>
            <a:ext cx="1080000" cy="2520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Profils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stockage redondant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656000" y="2592000"/>
            <a:ext cx="432000" cy="864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44000" y="2592000"/>
            <a:ext cx="432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56000" y="3456000"/>
            <a:ext cx="432000" cy="648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44000" y="4104000"/>
            <a:ext cx="432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32000" y="2304000"/>
            <a:ext cx="432000" cy="1044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32000" y="3204000"/>
            <a:ext cx="432000" cy="144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32000" y="3348000"/>
            <a:ext cx="432000" cy="75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04000" y="4464000"/>
            <a:ext cx="0" cy="576000"/>
          </a:xfrm>
          <a:prstGeom prst="line">
            <a:avLst/>
          </a:prstGeom>
          <a:ln w="15875">
            <a:solidFill>
              <a:srgbClr val="A5A5A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88000" y="6048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Chaque rôle est doublé : la perte d'un serveur n'arrête pas le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Connection Broker : répartition des sessions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Répartition selon la charge des hôtes, en nombre de sessions</a:t>
            </a:r>
          </a:p>
          <a:p>
            <a:pPr lvl="0"/>
            <a:r>
              <a:t>Un poids relatif et une limite de sessions par hôte</a:t>
            </a:r>
          </a:p>
          <a:p>
            <a:pPr lvl="0"/>
            <a:r>
              <a:t>Connexion initiale</a:t>
            </a:r>
          </a:p>
          <a:p>
            <a:pPr lvl="1"/>
            <a:r>
              <a:t>consultation de l’annuaire des sessions</a:t>
            </a:r>
          </a:p>
          <a:p>
            <a:pPr lvl="1"/>
            <a:r>
              <a:t>routage vers l’hôte le moins chargé de la collection</a:t>
            </a:r>
          </a:p>
          <a:p>
            <a:pPr lvl="0"/>
            <a:r>
              <a:t>Reconnexion</a:t>
            </a:r>
          </a:p>
          <a:p>
            <a:pPr lvl="1"/>
            <a:r>
              <a:t>routage vers l’hôte qui héberge la session déconnectée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critères de répartition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Poids relatif : un hôte deux fois plus puissant reçoit deux fois plus de sessions</a:t>
            </a:r>
          </a:p>
          <a:p>
            <a:pPr lvl="0"/>
            <a:r>
              <a:t>Limite de sessions : nombre maximal accepté par un hôte</a:t>
            </a:r>
          </a:p>
          <a:p>
            <a:pPr lvl="0"/>
            <a:r>
              <a:t>Mode drainage : l’hôte n’accepte plus de nouvelles sessions</a:t>
            </a:r>
          </a:p>
          <a:p>
            <a:pPr lvl="0"/>
            <a:r>
              <a:t>Réglage dans les propriétés de la collection, section équilibrage de charge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Exemple de répartition pondérée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576000" y="1764000"/>
            <a:ext cx="2304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poids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4284000"/>
            <a:ext cx="1296000" cy="12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400" b="1">
                <a:solidFill>
                  <a:srgbClr val="44546A"/>
                </a:solidFill>
                <a:latin typeface="Corbel"/>
              </a:rPr>
              <a:t>25 %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4000" y="1764000"/>
            <a:ext cx="2304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RDS-SESSION2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poids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8000" y="4284000"/>
            <a:ext cx="1296000" cy="12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400" b="1">
                <a:solidFill>
                  <a:srgbClr val="44546A"/>
                </a:solidFill>
                <a:latin typeface="Corbel"/>
              </a:rPr>
              <a:t>25 %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2000" y="1764000"/>
            <a:ext cx="2304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Serveur plus puissant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poids 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6000" y="3024000"/>
            <a:ext cx="1296000" cy="252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rbel"/>
              </a:rPr>
              <a:t>50 %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5616000"/>
            <a:ext cx="8568000" cy="288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part des nouvelles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5976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Le poids relatif intègre des serveurs de puissances différentes dans la même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parcours d’une reconnexion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3096000"/>
            <a:ext cx="1584000" cy="86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Client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lthobois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3096000"/>
            <a:ext cx="2088000" cy="864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Connection Broker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annuaire des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0" y="1800000"/>
            <a:ext cx="2016000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aucune session de lthobois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0000" y="4320000"/>
            <a:ext cx="2016000" cy="864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RDS-SESSION2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session déconnectée de lthobois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2000" y="3348000"/>
            <a:ext cx="1512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72000" y="3744000"/>
            <a:ext cx="1368000" cy="864000"/>
          </a:xfrm>
          <a:prstGeom prst="line">
            <a:avLst/>
          </a:prstGeom>
          <a:ln w="15875">
            <a:solidFill>
              <a:srgbClr val="A5A5A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80000" y="3744000"/>
            <a:ext cx="1152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44546A"/>
                </a:solidFill>
                <a:latin typeface="Corbel"/>
              </a:rPr>
              <a:t>session trouvée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872000" y="3744000"/>
            <a:ext cx="1512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0000" y="3960000"/>
            <a:ext cx="5760000" cy="93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48000" y="3024000"/>
            <a:ext cx="288000" cy="288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rbel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4284000" y="2736000"/>
            <a:ext cx="288000" cy="288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rbel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6444000" y="4392000"/>
            <a:ext cx="288000" cy="288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rbel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2448000" y="3780000"/>
            <a:ext cx="288000" cy="288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rbel"/>
              </a:rPr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2016000" y="3960000"/>
            <a:ext cx="288000" cy="288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rbe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" y="5256000"/>
            <a:ext cx="6408000" cy="86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l"/>
            <a:r>
              <a:rPr sz="950" b="0">
                <a:solidFill>
                  <a:srgbClr val="44546A"/>
                </a:solidFill>
                <a:latin typeface="Corbel"/>
              </a:rPr>
              <a:t>1. Connexion au Connection Broker</a:t>
            </a:r>
          </a:p>
          <a:p>
            <a:pPr algn="l"/>
            <a:r>
              <a:rPr sz="950" b="0">
                <a:solidFill>
                  <a:srgbClr val="44546A"/>
                </a:solidFill>
                <a:latin typeface="Corbel"/>
              </a:rPr>
              <a:t>2. Recherche d'une session existante</a:t>
            </a:r>
          </a:p>
          <a:p>
            <a:pPr algn="l"/>
            <a:r>
              <a:rPr sz="950" b="0">
                <a:solidFill>
                  <a:srgbClr val="44546A"/>
                </a:solidFill>
                <a:latin typeface="Corbel"/>
              </a:rPr>
              <a:t>3. Session trouvée sur RDS-SESSION2</a:t>
            </a:r>
          </a:p>
          <a:p>
            <a:pPr algn="l"/>
            <a:r>
              <a:rPr sz="950" b="0">
                <a:solidFill>
                  <a:srgbClr val="44546A"/>
                </a:solidFill>
                <a:latin typeface="Corbel"/>
              </a:rPr>
              <a:t>4. Redirection du client</a:t>
            </a:r>
          </a:p>
          <a:p>
            <a:pPr algn="l"/>
            <a:r>
              <a:rPr sz="950" b="0">
                <a:solidFill>
                  <a:srgbClr val="44546A"/>
                </a:solidFill>
                <a:latin typeface="Corbel"/>
              </a:rPr>
              <a:t>5. Reconnexion à la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Connection Broker en haute disponibilité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Mode actif/actif : tous les Connection Brokers servent les clients</a:t>
            </a:r>
          </a:p>
          <a:p>
            <a:pPr lvl="0"/>
            <a:r>
              <a:t>Base de données commune sur SQL Server, Azure SQL Database ou groupe AlwaysOn</a:t>
            </a:r>
          </a:p>
          <a:p>
            <a:pPr lvl="0"/>
            <a:r>
              <a:t>Pilote ODBC SQL Server installé sur chaque Connection Broker</a:t>
            </a:r>
          </a:p>
          <a:p>
            <a:pPr lvl="0"/>
            <a:r>
              <a:t>Nom DNS commun en tourniquet : </a:t>
            </a:r>
            <a:r>
              <a:rPr>
                <a:latin typeface="Courier"/>
              </a:rPr>
              <a:t>rds-farm.avaedos.lan</a:t>
            </a:r>
          </a:p>
          <a:p>
            <a:pPr lvl="0"/>
            <a:r>
              <a:t>Tous les Connection Brokers au même niveau de Windows Server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L’architecture de la haute disponibilité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3024000"/>
            <a:ext cx="1440000" cy="86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Clients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60000" y="3024000"/>
            <a:ext cx="2088000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rds-farm.avaedos.lan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tourniquet DNS : .115 et .116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2000" y="1944000"/>
            <a:ext cx="1872000" cy="792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RDS-CBROKER1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actif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2000" y="4176000"/>
            <a:ext cx="1872000" cy="792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RDS-CBROKER2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actif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0" y="3024000"/>
            <a:ext cx="1656000" cy="864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RDS-DC1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base RDCB-DB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28000" y="3456000"/>
            <a:ext cx="432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248000" y="2340000"/>
            <a:ext cx="504000" cy="97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48000" y="3600000"/>
            <a:ext cx="504000" cy="97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24000" y="2340000"/>
            <a:ext cx="576000" cy="97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24000" y="2754000"/>
            <a:ext cx="576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44546A"/>
                </a:solidFill>
                <a:latin typeface="Corbel"/>
              </a:rPr>
              <a:t>ODBC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624000" y="3600000"/>
            <a:ext cx="576000" cy="97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24000" y="4122000"/>
            <a:ext cx="576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44546A"/>
                </a:solidFill>
                <a:latin typeface="Corbel"/>
              </a:rPr>
              <a:t>ODBC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" y="5472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Les deux Connection Brokers servent les clients en même temps et partagent la même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prérequis de la haute disponibilité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 groupe Active Directory contenant les comptes ordinateurs des Connection Brokers</a:t>
            </a:r>
          </a:p>
          <a:p>
            <a:pPr lvl="1"/>
            <a:r>
              <a:rPr>
                <a:latin typeface="Courier"/>
              </a:rPr>
              <a:t>RDS Servers</a:t>
            </a:r>
          </a:p>
          <a:p>
            <a:pPr lvl="0"/>
            <a:r>
              <a:t>Une connexion SQL pour ce groupe, avec le droit de créer la base</a:t>
            </a:r>
          </a:p>
          <a:p>
            <a:pPr lvl="0"/>
            <a:r>
              <a:t>Deux enregistrements DNS </a:t>
            </a:r>
            <a:r>
              <a:rPr>
                <a:latin typeface="Courier"/>
              </a:rPr>
              <a:t>rds-farm</a:t>
            </a:r>
            <a:r>
              <a:t> vers les deux Connection Brokers</a:t>
            </a:r>
          </a:p>
          <a:p>
            <a:pPr lvl="0"/>
            <a:r>
              <a:t>Un certificat couvrant le nom </a:t>
            </a:r>
            <a:r>
              <a:rPr>
                <a:latin typeface="Courier"/>
              </a:rPr>
              <a:t>rds-farm.avaedos.lan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Configurer la haute disponibilité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1600" dirty="0">
                <a:latin typeface="Courier"/>
              </a:rPr>
              <a:t>Set-</a:t>
            </a:r>
            <a:r>
              <a:rPr sz="1600" dirty="0" err="1">
                <a:latin typeface="Courier"/>
              </a:rPr>
              <a:t>RDConnectionBrokerHighAvailability</a:t>
            </a:r>
            <a:r>
              <a:rPr sz="1600" dirty="0">
                <a:latin typeface="Courier"/>
              </a:rPr>
              <a:t> `</a:t>
            </a:r>
            <a:br>
              <a:rPr sz="1600" dirty="0"/>
            </a:br>
            <a:r>
              <a:rPr sz="1600" dirty="0">
                <a:latin typeface="Courier"/>
              </a:rPr>
              <a:t> 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 err="1">
                <a:latin typeface="Courier"/>
              </a:rPr>
              <a:t>ConnectionBroker</a:t>
            </a:r>
            <a:r>
              <a:rPr sz="1600" dirty="0">
                <a:latin typeface="Courier"/>
              </a:rPr>
              <a:t> RDS-CBROKER1</a:t>
            </a:r>
            <a:r>
              <a:rPr sz="1600" dirty="0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1600" dirty="0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>
                <a:solidFill>
                  <a:srgbClr val="06287E"/>
                </a:solidFill>
                <a:latin typeface="Courier"/>
              </a:rPr>
              <a:t>lan</a:t>
            </a:r>
            <a:r>
              <a:rPr sz="1600" dirty="0">
                <a:latin typeface="Courier"/>
              </a:rPr>
              <a:t> `</a:t>
            </a:r>
            <a:br>
              <a:rPr sz="1600" dirty="0"/>
            </a:br>
            <a:r>
              <a:rPr sz="1600" dirty="0">
                <a:latin typeface="Courier"/>
              </a:rPr>
              <a:t> 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 err="1">
                <a:latin typeface="Courier"/>
              </a:rPr>
              <a:t>DatabaseConnectionString</a:t>
            </a:r>
            <a:r>
              <a:rPr sz="1600" dirty="0">
                <a:latin typeface="Courier"/>
              </a:rPr>
              <a:t> </a:t>
            </a:r>
            <a:r>
              <a:rPr sz="1600" dirty="0">
                <a:solidFill>
                  <a:srgbClr val="4070A0"/>
                </a:solidFill>
                <a:latin typeface="Courier"/>
              </a:rPr>
              <a:t>"DRIVER=ODBC Driver 17 for SQL </a:t>
            </a:r>
            <a:r>
              <a:rPr sz="1600" dirty="0" err="1">
                <a:solidFill>
                  <a:srgbClr val="4070A0"/>
                </a:solidFill>
                <a:latin typeface="Courier"/>
              </a:rPr>
              <a:t>Server;SERVER</a:t>
            </a:r>
            <a:r>
              <a:rPr sz="1600" dirty="0">
                <a:solidFill>
                  <a:srgbClr val="4070A0"/>
                </a:solidFill>
                <a:latin typeface="Courier"/>
              </a:rPr>
              <a:t>=RDS-DC1;Trusted_Connection=</a:t>
            </a:r>
            <a:r>
              <a:rPr sz="1600" dirty="0" err="1">
                <a:solidFill>
                  <a:srgbClr val="4070A0"/>
                </a:solidFill>
                <a:latin typeface="Courier"/>
              </a:rPr>
              <a:t>Yes;APP</a:t>
            </a:r>
            <a:r>
              <a:rPr sz="1600" dirty="0">
                <a:solidFill>
                  <a:srgbClr val="4070A0"/>
                </a:solidFill>
                <a:latin typeface="Courier"/>
              </a:rPr>
              <a:t>=Remote Desktop Services Connection </a:t>
            </a:r>
            <a:r>
              <a:rPr sz="1600" dirty="0" err="1">
                <a:solidFill>
                  <a:srgbClr val="4070A0"/>
                </a:solidFill>
                <a:latin typeface="Courier"/>
              </a:rPr>
              <a:t>Broker;DATABASE</a:t>
            </a:r>
            <a:r>
              <a:rPr sz="1600" dirty="0">
                <a:solidFill>
                  <a:srgbClr val="4070A0"/>
                </a:solidFill>
                <a:latin typeface="Courier"/>
              </a:rPr>
              <a:t>=RDCB-DB"</a:t>
            </a:r>
            <a:r>
              <a:rPr sz="1600" dirty="0">
                <a:latin typeface="Courier"/>
              </a:rPr>
              <a:t> `</a:t>
            </a:r>
            <a:br>
              <a:rPr sz="1600" dirty="0"/>
            </a:br>
            <a:r>
              <a:rPr sz="1600" dirty="0">
                <a:latin typeface="Courier"/>
              </a:rPr>
              <a:t> 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 err="1">
                <a:latin typeface="Courier"/>
              </a:rPr>
              <a:t>ClientAccessName</a:t>
            </a:r>
            <a:r>
              <a:rPr sz="1600" dirty="0">
                <a:latin typeface="Courier"/>
              </a:rPr>
              <a:t> </a:t>
            </a:r>
            <a:r>
              <a:rPr sz="1600" dirty="0" err="1">
                <a:latin typeface="Courier"/>
              </a:rPr>
              <a:t>rds-farm</a:t>
            </a:r>
            <a:r>
              <a:rPr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 err="1">
                <a:solidFill>
                  <a:srgbClr val="06287E"/>
                </a:solidFill>
                <a:latin typeface="Courier"/>
              </a:rPr>
              <a:t>avaedos</a:t>
            </a:r>
            <a:r>
              <a:rPr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 err="1">
                <a:solidFill>
                  <a:srgbClr val="06287E"/>
                </a:solidFill>
                <a:latin typeface="Courier"/>
              </a:rPr>
              <a:t>lan</a:t>
            </a:r>
            <a:br>
              <a:rPr sz="1600" dirty="0"/>
            </a:br>
            <a:r>
              <a:rPr sz="1600" dirty="0">
                <a:latin typeface="Courier"/>
              </a:rPr>
              <a:t>Add-</a:t>
            </a:r>
            <a:r>
              <a:rPr sz="1600" dirty="0" err="1">
                <a:latin typeface="Courier"/>
              </a:rPr>
              <a:t>RDServer</a:t>
            </a:r>
            <a:r>
              <a:rPr sz="1600" dirty="0">
                <a:latin typeface="Courier"/>
              </a:rPr>
              <a:t>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>
                <a:latin typeface="Courier"/>
              </a:rPr>
              <a:t>Server RDS-CBROKER2</a:t>
            </a:r>
            <a:r>
              <a:rPr sz="1600" dirty="0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1600" dirty="0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>
                <a:solidFill>
                  <a:srgbClr val="06287E"/>
                </a:solidFill>
                <a:latin typeface="Courier"/>
              </a:rPr>
              <a:t>lan</a:t>
            </a:r>
            <a:r>
              <a:rPr sz="1600" dirty="0">
                <a:latin typeface="Courier"/>
              </a:rPr>
              <a:t> `</a:t>
            </a:r>
            <a:br>
              <a:rPr sz="1600" dirty="0"/>
            </a:br>
            <a:r>
              <a:rPr sz="1600" dirty="0">
                <a:latin typeface="Courier"/>
              </a:rPr>
              <a:t> 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>
                <a:latin typeface="Courier"/>
              </a:rPr>
              <a:t>Role RDS-CONNECTION-BROKER `</a:t>
            </a:r>
            <a:br>
              <a:rPr sz="1600" dirty="0"/>
            </a:br>
            <a:r>
              <a:rPr sz="1600" dirty="0">
                <a:latin typeface="Courier"/>
              </a:rPr>
              <a:t>  </a:t>
            </a:r>
            <a:r>
              <a:rPr sz="1600" dirty="0">
                <a:solidFill>
                  <a:srgbClr val="666666"/>
                </a:solidFill>
                <a:latin typeface="Courier"/>
              </a:rPr>
              <a:t>-</a:t>
            </a:r>
            <a:r>
              <a:rPr sz="1600" dirty="0" err="1">
                <a:latin typeface="Courier"/>
              </a:rPr>
              <a:t>ConnectionBroker</a:t>
            </a:r>
            <a:r>
              <a:rPr sz="1600" dirty="0">
                <a:latin typeface="Courier"/>
              </a:rPr>
              <a:t> RDS-CBROKER1</a:t>
            </a:r>
            <a:r>
              <a:rPr sz="1600" dirty="0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1600" dirty="0">
                <a:solidFill>
                  <a:srgbClr val="666666"/>
                </a:solidFill>
                <a:latin typeface="Courier"/>
              </a:rPr>
              <a:t>.</a:t>
            </a:r>
            <a:r>
              <a:rPr sz="1600" dirty="0">
                <a:solidFill>
                  <a:srgbClr val="06287E"/>
                </a:solidFill>
                <a:latin typeface="Courier"/>
              </a:rPr>
              <a:t>lan</a:t>
            </a:r>
          </a:p>
        </p:txBody>
      </p:sp>
      <p:pic>
        <p:nvPicPr>
          <p:cNvPr id="2" name="Picture 1" descr="images/diapo-098-0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489200"/>
            <a:ext cx="43180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Redonder l’accès et les licences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Accès Web et passerelle : plusieurs serveurs derrière un équilibreur de charge</a:t>
            </a:r>
          </a:p>
          <a:p>
            <a:pPr lvl="1"/>
            <a:r>
              <a:t>affinité nécessaire pour la passerelle, HTTPS et UDP</a:t>
            </a:r>
          </a:p>
          <a:p>
            <a:pPr lvl="0"/>
            <a:r>
              <a:t>Serveur de licences : deux serveurs, CAL réparties entre eux</a:t>
            </a:r>
          </a:p>
          <a:p>
            <a:pPr lvl="0"/>
            <a:r>
              <a:t>Stockage des profils : partage hautement disponible</a:t>
            </a:r>
          </a:p>
          <a:p>
            <a:pPr lvl="0"/>
            <a:r>
              <a:t>Contrôleurs de domaine et DNS : au moins deux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Mettre à jour un hôte sans interruption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Passer l’hôte en mode drainage : plus de nouvelles connexions</a:t>
            </a:r>
          </a:p>
          <a:p>
            <a:pPr lvl="0"/>
            <a:r>
              <a:t>Prévenir les utilisateurs connectés : </a:t>
            </a:r>
            <a:r>
              <a:rPr>
                <a:latin typeface="Courier"/>
              </a:rPr>
              <a:t>msg</a:t>
            </a:r>
          </a:p>
          <a:p>
            <a:pPr lvl="0"/>
            <a:r>
              <a:t>Attendre la fermeture des sessions ou fixer une échéance</a:t>
            </a:r>
          </a:p>
          <a:p>
            <a:pPr lvl="0"/>
            <a:r>
              <a:t>Appliquer les mises à jour et redémarrer</a:t>
            </a:r>
          </a:p>
          <a:p>
            <a:pPr lvl="0"/>
            <a:r>
              <a:t>Remettre l’hôte en service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drainage d’un hôte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3096000"/>
            <a:ext cx="1872000" cy="864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Connection Broker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rds-farm.avaedos.lan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6000" y="1800000"/>
            <a:ext cx="3960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300" b="1">
                <a:solidFill>
                  <a:srgbClr val="44546A"/>
                </a:solidFill>
                <a:latin typeface="Corbel"/>
              </a:rPr>
              <a:t>RDS-SESSION1 – mode drainage</a:t>
            </a:r>
          </a:p>
          <a:p>
            <a:pPr algn="ctr"/>
            <a:r>
              <a:rPr sz="1050" b="0">
                <a:solidFill>
                  <a:srgbClr val="44546A"/>
                </a:solidFill>
                <a:latin typeface="Corbel"/>
              </a:rPr>
              <a:t>sessions existantes conservées</a:t>
            </a:r>
          </a:p>
          <a:p>
            <a:pPr algn="ctr"/>
            <a:r>
              <a:rPr sz="1050" b="0">
                <a:solidFill>
                  <a:srgbClr val="44546A"/>
                </a:solidFill>
                <a:latin typeface="Corbel"/>
              </a:rPr>
              <a:t>utilisateurs prévenus par msg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6000" y="4032000"/>
            <a:ext cx="3960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300" b="1">
                <a:solidFill>
                  <a:srgbClr val="44546A"/>
                </a:solidFill>
                <a:latin typeface="Corbel"/>
              </a:rPr>
              <a:t>RDS-SESSION2</a:t>
            </a:r>
          </a:p>
          <a:p>
            <a:pPr algn="ctr"/>
            <a:r>
              <a:rPr sz="1050" b="0">
                <a:solidFill>
                  <a:srgbClr val="44546A"/>
                </a:solidFill>
                <a:latin typeface="Corbel"/>
              </a:rPr>
              <a:t>reçoit toutes les nouvelles sessions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60000" y="2448000"/>
            <a:ext cx="2736000" cy="936000"/>
          </a:xfrm>
          <a:prstGeom prst="line">
            <a:avLst/>
          </a:prstGeom>
          <a:ln w="15875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28000" y="2592000"/>
            <a:ext cx="1800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44546A"/>
                </a:solidFill>
                <a:latin typeface="Corbel"/>
              </a:rPr>
              <a:t>plus de nouvelles sessions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60000" y="3672000"/>
            <a:ext cx="2736000" cy="1008000"/>
          </a:xfrm>
          <a:prstGeom prst="line">
            <a:avLst/>
          </a:prstGeom>
          <a:ln w="15875">
            <a:solidFill>
              <a:srgbClr val="70AD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08000" y="4248000"/>
            <a:ext cx="1440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44546A"/>
                </a:solidFill>
                <a:latin typeface="Corbel"/>
              </a:rPr>
              <a:t>nouvelles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5616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Mises à jour et redémarrage quand RDS-SESSION1 n'a plus de session, puis retour en service.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mode drainage en PowerShell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800" dirty="0">
                <a:latin typeface="Courier"/>
              </a:rPr>
              <a:t>Set-</a:t>
            </a:r>
            <a:r>
              <a:rPr sz="2800" dirty="0" err="1">
                <a:latin typeface="Courier"/>
              </a:rPr>
              <a:t>RDSessionHost</a:t>
            </a:r>
            <a:r>
              <a:rPr sz="2800" dirty="0">
                <a:latin typeface="Courier"/>
              </a:rPr>
              <a:t>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SessionHost</a:t>
            </a:r>
            <a:r>
              <a:rPr sz="2800" dirty="0">
                <a:latin typeface="Courier"/>
              </a:rPr>
              <a:t> RDS-SESSION1</a:t>
            </a:r>
            <a:r>
              <a:rPr sz="2800" dirty="0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2800" dirty="0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>
                <a:solidFill>
                  <a:srgbClr val="06287E"/>
                </a:solidFill>
                <a:latin typeface="Courier"/>
              </a:rPr>
              <a:t>lan</a:t>
            </a:r>
            <a:r>
              <a:rPr sz="2800" dirty="0">
                <a:latin typeface="Courier"/>
              </a:rPr>
              <a:t> `</a:t>
            </a:r>
            <a:br>
              <a:rPr sz="2800" dirty="0"/>
            </a:br>
            <a:r>
              <a:rPr sz="2800" dirty="0">
                <a:latin typeface="Courier"/>
              </a:rPr>
              <a:t>   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NewConnectionAllowed</a:t>
            </a:r>
            <a:r>
              <a:rPr sz="2800" dirty="0">
                <a:latin typeface="Courier"/>
              </a:rPr>
              <a:t> No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ConnectionBroker</a:t>
            </a:r>
            <a:r>
              <a:rPr sz="2800" dirty="0">
                <a:latin typeface="Courier"/>
              </a:rPr>
              <a:t> </a:t>
            </a:r>
            <a:r>
              <a:rPr sz="2800" dirty="0" err="1">
                <a:latin typeface="Courier"/>
              </a:rPr>
              <a:t>rds-farm</a:t>
            </a:r>
            <a:r>
              <a:rPr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 err="1">
                <a:solidFill>
                  <a:srgbClr val="06287E"/>
                </a:solidFill>
                <a:latin typeface="Courier"/>
              </a:rPr>
              <a:t>avaedos</a:t>
            </a:r>
            <a:r>
              <a:rPr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 err="1">
                <a:solidFill>
                  <a:srgbClr val="06287E"/>
                </a:solidFill>
                <a:latin typeface="Courier"/>
              </a:rPr>
              <a:t>lan</a:t>
            </a:r>
            <a:br>
              <a:rPr sz="2800" dirty="0"/>
            </a:br>
            <a:r>
              <a:rPr sz="2800" dirty="0">
                <a:latin typeface="Courier"/>
              </a:rPr>
              <a:t>Get-</a:t>
            </a:r>
            <a:r>
              <a:rPr sz="2800" dirty="0" err="1">
                <a:latin typeface="Courier"/>
              </a:rPr>
              <a:t>RDUserSession</a:t>
            </a:r>
            <a:r>
              <a:rPr sz="2800" dirty="0">
                <a:latin typeface="Courier"/>
              </a:rPr>
              <a:t>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ConnectionBroker</a:t>
            </a:r>
            <a:r>
              <a:rPr sz="2800" dirty="0">
                <a:latin typeface="Courier"/>
              </a:rPr>
              <a:t> </a:t>
            </a:r>
            <a:r>
              <a:rPr sz="2800" dirty="0" err="1">
                <a:latin typeface="Courier"/>
              </a:rPr>
              <a:t>rds-farm</a:t>
            </a:r>
            <a:r>
              <a:rPr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 err="1">
                <a:solidFill>
                  <a:srgbClr val="06287E"/>
                </a:solidFill>
                <a:latin typeface="Courier"/>
              </a:rPr>
              <a:t>avaedos</a:t>
            </a:r>
            <a:r>
              <a:rPr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 err="1">
                <a:solidFill>
                  <a:srgbClr val="06287E"/>
                </a:solidFill>
                <a:latin typeface="Courier"/>
              </a:rPr>
              <a:t>lan</a:t>
            </a:r>
            <a:endParaRPr lang="fr-FR" sz="2800" dirty="0">
              <a:solidFill>
                <a:srgbClr val="06287E"/>
              </a:solidFill>
              <a:latin typeface="Courier"/>
            </a:endParaRPr>
          </a:p>
          <a:p>
            <a:pPr lvl="0" indent="0">
              <a:buNone/>
            </a:pPr>
            <a:br>
              <a:rPr sz="2800" dirty="0"/>
            </a:br>
            <a:r>
              <a:rPr sz="2800" dirty="0">
                <a:latin typeface="Courier"/>
              </a:rPr>
              <a:t>Set-</a:t>
            </a:r>
            <a:r>
              <a:rPr sz="2800" dirty="0" err="1">
                <a:latin typeface="Courier"/>
              </a:rPr>
              <a:t>RDSessionHost</a:t>
            </a:r>
            <a:r>
              <a:rPr sz="2800" dirty="0">
                <a:latin typeface="Courier"/>
              </a:rPr>
              <a:t>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SessionHost</a:t>
            </a:r>
            <a:r>
              <a:rPr sz="2800" dirty="0">
                <a:latin typeface="Courier"/>
              </a:rPr>
              <a:t> RDS-SESSION1</a:t>
            </a:r>
            <a:r>
              <a:rPr sz="2800" dirty="0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2800" dirty="0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>
                <a:solidFill>
                  <a:srgbClr val="06287E"/>
                </a:solidFill>
                <a:latin typeface="Courier"/>
              </a:rPr>
              <a:t>lan</a:t>
            </a:r>
            <a:r>
              <a:rPr sz="2800" dirty="0">
                <a:latin typeface="Courier"/>
              </a:rPr>
              <a:t> `</a:t>
            </a:r>
            <a:br>
              <a:rPr sz="2800" dirty="0"/>
            </a:br>
            <a:r>
              <a:rPr sz="2800" dirty="0">
                <a:latin typeface="Courier"/>
              </a:rPr>
              <a:t>   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NewConnectionAllowed</a:t>
            </a:r>
            <a:r>
              <a:rPr sz="2800" dirty="0">
                <a:latin typeface="Courier"/>
              </a:rPr>
              <a:t> Yes </a:t>
            </a:r>
            <a:r>
              <a:rPr sz="2800" dirty="0">
                <a:solidFill>
                  <a:srgbClr val="666666"/>
                </a:solidFill>
                <a:latin typeface="Courier"/>
              </a:rPr>
              <a:t>-</a:t>
            </a:r>
            <a:r>
              <a:rPr sz="2800" dirty="0" err="1">
                <a:latin typeface="Courier"/>
              </a:rPr>
              <a:t>ConnectionBroker</a:t>
            </a:r>
            <a:r>
              <a:rPr sz="2800" dirty="0">
                <a:latin typeface="Courier"/>
              </a:rPr>
              <a:t> </a:t>
            </a:r>
            <a:r>
              <a:rPr sz="2800" dirty="0" err="1">
                <a:latin typeface="Courier"/>
              </a:rPr>
              <a:t>rds-farm</a:t>
            </a:r>
            <a:r>
              <a:rPr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 err="1">
                <a:solidFill>
                  <a:srgbClr val="06287E"/>
                </a:solidFill>
                <a:latin typeface="Courier"/>
              </a:rPr>
              <a:t>avaedos</a:t>
            </a:r>
            <a:r>
              <a:rPr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800" dirty="0" err="1">
                <a:solidFill>
                  <a:srgbClr val="06287E"/>
                </a:solidFill>
                <a:latin typeface="Courier"/>
              </a:rPr>
              <a:t>lan</a:t>
            </a:r>
            <a:endParaRPr sz="2800" dirty="0">
              <a:solidFill>
                <a:srgbClr val="06287E"/>
              </a:solidFill>
              <a:latin typeface="Courier"/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Sauvegarder la plateforme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Base du Connection Broker sur SQL Server</a:t>
            </a:r>
          </a:p>
          <a:p>
            <a:pPr lvl="0"/>
            <a:r>
              <a:t>Configuration du déploiement documentée par script PowerShell</a:t>
            </a:r>
          </a:p>
          <a:p>
            <a:pPr lvl="0"/>
            <a:r>
              <a:t>Partage des profils FSLogix</a:t>
            </a:r>
          </a:p>
          <a:p>
            <a:pPr lvl="0"/>
            <a:r>
              <a:t>Serveur de licences : base des CAL et informations d’activation</a:t>
            </a:r>
          </a:p>
          <a:p>
            <a:pPr lvl="0"/>
            <a:r>
              <a:t>Images ou procédures de reconstruction des hôtes de session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Superviser l’expérience utilisateur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Délai d’entrée utilisateur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Compteurs </a:t>
                      </a:r>
                      <a:r>
                        <a:rPr>
                          <a:latin typeface="Courier"/>
                        </a:rPr>
                        <a:t>User Input Delay per Session</a:t>
                      </a:r>
                      <a:r>
                        <a:t> et </a:t>
                      </a:r>
                      <a:r>
                        <a:rPr>
                          <a:latin typeface="Courier"/>
                        </a:rPr>
                        <a:t>per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Sessions actives et inactives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Compteurs </a:t>
                      </a:r>
                      <a:r>
                        <a:rPr>
                          <a:latin typeface="Courier"/>
                        </a:rPr>
                        <a:t>Terminal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Qualité graphique et réseau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Compteurs </a:t>
                      </a:r>
                      <a:r>
                        <a:rPr>
                          <a:latin typeface="Courier"/>
                        </a:rPr>
                        <a:t>RemoteFX Graphics</a:t>
                      </a:r>
                      <a:r>
                        <a:t> et </a:t>
                      </a:r>
                      <a:r>
                        <a:rPr>
                          <a:latin typeface="Courier"/>
                        </a:rPr>
                        <a:t>RemoteFX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Processeur, mémoire, disque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Compteurs système de l’hôte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journaux utiles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sz="2800" dirty="0" err="1">
                <a:latin typeface="Courier"/>
              </a:rPr>
              <a:t>TerminalServices-RemoteConnectionManager</a:t>
            </a:r>
            <a:r>
              <a:rPr sz="2800" dirty="0"/>
              <a:t> : </a:t>
            </a:r>
            <a:r>
              <a:rPr sz="2800" dirty="0" err="1"/>
              <a:t>connexions</a:t>
            </a:r>
            <a:r>
              <a:rPr sz="2800" dirty="0"/>
              <a:t> </a:t>
            </a:r>
            <a:r>
              <a:rPr sz="2800" dirty="0" err="1"/>
              <a:t>entrantes</a:t>
            </a:r>
            <a:r>
              <a:rPr sz="2800" dirty="0"/>
              <a:t> et </a:t>
            </a:r>
            <a:r>
              <a:rPr sz="2800" dirty="0" err="1"/>
              <a:t>authentification</a:t>
            </a:r>
            <a:endParaRPr sz="2800" dirty="0"/>
          </a:p>
          <a:p>
            <a:pPr lvl="0"/>
            <a:r>
              <a:rPr sz="2800" dirty="0" err="1">
                <a:latin typeface="Courier"/>
              </a:rPr>
              <a:t>TerminalServices-LocalSessionManager</a:t>
            </a:r>
            <a:r>
              <a:rPr sz="2800" dirty="0"/>
              <a:t> : ouverture, </a:t>
            </a:r>
            <a:r>
              <a:rPr sz="2800" dirty="0" err="1"/>
              <a:t>déconnexion</a:t>
            </a:r>
            <a:r>
              <a:rPr sz="2800" dirty="0"/>
              <a:t>, fermeture de session</a:t>
            </a:r>
          </a:p>
          <a:p>
            <a:pPr lvl="0"/>
            <a:r>
              <a:rPr sz="2800" dirty="0" err="1">
                <a:latin typeface="Courier"/>
              </a:rPr>
              <a:t>TerminalServices-SessionBroker</a:t>
            </a:r>
            <a:r>
              <a:rPr sz="2800" dirty="0"/>
              <a:t> : </a:t>
            </a:r>
            <a:r>
              <a:rPr sz="2800" dirty="0" err="1"/>
              <a:t>décisions</a:t>
            </a:r>
            <a:r>
              <a:rPr sz="2800" dirty="0"/>
              <a:t> du Connection Broker</a:t>
            </a:r>
          </a:p>
          <a:p>
            <a:pPr lvl="0"/>
            <a:r>
              <a:rPr sz="2800" dirty="0" err="1">
                <a:latin typeface="Courier"/>
              </a:rPr>
              <a:t>TerminalServices</a:t>
            </a:r>
            <a:r>
              <a:rPr sz="2800" dirty="0">
                <a:latin typeface="Courier"/>
              </a:rPr>
              <a:t>-Licensing</a:t>
            </a:r>
            <a:r>
              <a:rPr sz="2800" dirty="0"/>
              <a:t> : </a:t>
            </a:r>
            <a:r>
              <a:rPr sz="2800" dirty="0" err="1"/>
              <a:t>délivrance</a:t>
            </a:r>
            <a:r>
              <a:rPr sz="2800" dirty="0"/>
              <a:t> des CAL</a:t>
            </a:r>
          </a:p>
          <a:p>
            <a:pPr lvl="0"/>
            <a:r>
              <a:rPr sz="2800" dirty="0" err="1">
                <a:latin typeface="Courier"/>
              </a:rPr>
              <a:t>TerminalServices</a:t>
            </a:r>
            <a:r>
              <a:rPr sz="2800" dirty="0">
                <a:latin typeface="Courier"/>
              </a:rPr>
              <a:t>-Gateway</a:t>
            </a:r>
            <a:r>
              <a:rPr sz="2800" dirty="0"/>
              <a:t> : </a:t>
            </a:r>
            <a:r>
              <a:rPr sz="2800" dirty="0" err="1"/>
              <a:t>accès</a:t>
            </a:r>
            <a:r>
              <a:rPr sz="2800" dirty="0"/>
              <a:t> externes</a:t>
            </a:r>
          </a:p>
          <a:p>
            <a:pPr lvl="0"/>
            <a:r>
              <a:rPr sz="2800" dirty="0" err="1"/>
              <a:t>Journaux</a:t>
            </a:r>
            <a:r>
              <a:rPr sz="2800" dirty="0"/>
              <a:t> </a:t>
            </a:r>
            <a:r>
              <a:rPr sz="2800" dirty="0" err="1"/>
              <a:t>FSLogix</a:t>
            </a:r>
            <a:r>
              <a:rPr sz="2800" dirty="0"/>
              <a:t> : montage des </a:t>
            </a:r>
            <a:r>
              <a:rPr sz="2800" dirty="0" err="1"/>
              <a:t>profils</a:t>
            </a:r>
            <a:endParaRPr sz="280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20</a:t>
            </a:fld>
            <a:endParaRPr lang="fr-B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Une méthode de diagnostic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t>Reproduire : qui, depuis où, vers quelle ressource</a:t>
            </a:r>
          </a:p>
          <a:p>
            <a:pPr marL="457200" lvl="0" indent="-457200">
              <a:buAutoNum type="arabicPeriod"/>
            </a:pPr>
            <a:r>
              <a:t>Suivre le parcours de connexion étape par étape</a:t>
            </a:r>
          </a:p>
          <a:p>
            <a:pPr lvl="1"/>
            <a:r>
              <a:t>DNS, passerelle, Connection Broker, hôte, licence, profil</a:t>
            </a:r>
          </a:p>
          <a:p>
            <a:pPr marL="457200" lvl="0" indent="-457200">
              <a:buAutoNum type="arabicPeriod"/>
            </a:pPr>
            <a:r>
              <a:t>Lire le journal de l’étape qui échoue</a:t>
            </a:r>
          </a:p>
          <a:p>
            <a:pPr marL="457200" lvl="0" indent="-457200">
              <a:buAutoNum type="arabicPeriod"/>
            </a:pPr>
            <a:r>
              <a:t>Corriger, puis vérifier avec l’utilisateur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21</a:t>
            </a:fld>
            <a:endParaRPr lang="fr-B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Atelier 4 – Haute disponibilité et diagnostic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sz="2800" dirty="0"/>
              <a:t>Installer SQL Server Express sur RDS-DC1 et le </a:t>
            </a:r>
            <a:r>
              <a:rPr sz="2800" dirty="0" err="1"/>
              <a:t>pilote</a:t>
            </a:r>
            <a:r>
              <a:rPr sz="2800" dirty="0"/>
              <a:t> ODBC sur les Connection Brokers</a:t>
            </a:r>
          </a:p>
          <a:p>
            <a:pPr lvl="0"/>
            <a:r>
              <a:rPr sz="2800" dirty="0" err="1"/>
              <a:t>Configurer</a:t>
            </a:r>
            <a:r>
              <a:rPr sz="2800" dirty="0"/>
              <a:t> la haute </a:t>
            </a:r>
            <a:r>
              <a:rPr sz="2800" dirty="0" err="1"/>
              <a:t>disponibilité</a:t>
            </a:r>
            <a:r>
              <a:rPr sz="2800" dirty="0"/>
              <a:t> avec </a:t>
            </a:r>
            <a:r>
              <a:rPr sz="2800" dirty="0" err="1">
                <a:latin typeface="Courier"/>
              </a:rPr>
              <a:t>rds-farm.avaedos.lan</a:t>
            </a:r>
            <a:endParaRPr sz="2800" dirty="0">
              <a:latin typeface="Courier"/>
            </a:endParaRPr>
          </a:p>
          <a:p>
            <a:pPr lvl="0"/>
            <a:r>
              <a:rPr sz="2800" dirty="0" err="1"/>
              <a:t>Ajouter</a:t>
            </a:r>
            <a:r>
              <a:rPr sz="2800" dirty="0"/>
              <a:t> RDS-CBROKER2 au </a:t>
            </a:r>
            <a:r>
              <a:rPr sz="2800" dirty="0" err="1"/>
              <a:t>déploiement</a:t>
            </a:r>
            <a:r>
              <a:rPr sz="2800" dirty="0"/>
              <a:t> et tester la </a:t>
            </a:r>
            <a:r>
              <a:rPr sz="2800" dirty="0" err="1"/>
              <a:t>perte</a:t>
            </a:r>
            <a:r>
              <a:rPr sz="2800" dirty="0"/>
              <a:t> de RDS-CBROKER1</a:t>
            </a:r>
          </a:p>
          <a:p>
            <a:pPr lvl="0"/>
            <a:r>
              <a:rPr sz="2800" dirty="0" err="1"/>
              <a:t>Ajouter</a:t>
            </a:r>
            <a:r>
              <a:rPr sz="2800" dirty="0"/>
              <a:t> RDS-GATEWAY2 et former la </a:t>
            </a:r>
            <a:r>
              <a:rPr sz="2800" dirty="0" err="1"/>
              <a:t>ferme</a:t>
            </a:r>
            <a:r>
              <a:rPr sz="2800" dirty="0"/>
              <a:t> de </a:t>
            </a:r>
            <a:r>
              <a:rPr sz="2800" dirty="0" err="1"/>
              <a:t>passerelles</a:t>
            </a:r>
            <a:r>
              <a:rPr sz="2800" dirty="0"/>
              <a:t> NLB </a:t>
            </a:r>
            <a:r>
              <a:rPr sz="2800" dirty="0" err="1">
                <a:latin typeface="Courier"/>
              </a:rPr>
              <a:t>rds.avaedos.lan</a:t>
            </a:r>
            <a:endParaRPr sz="2800" dirty="0">
              <a:latin typeface="Courier"/>
            </a:endParaRPr>
          </a:p>
          <a:p>
            <a:pPr lvl="0"/>
            <a:r>
              <a:rPr sz="2800" dirty="0"/>
              <a:t>Drainer RDS-SESSION1 et </a:t>
            </a:r>
            <a:r>
              <a:rPr sz="2800" dirty="0" err="1"/>
              <a:t>vérifier</a:t>
            </a:r>
            <a:r>
              <a:rPr sz="2800" dirty="0"/>
              <a:t> </a:t>
            </a:r>
            <a:r>
              <a:rPr sz="2800" dirty="0" err="1"/>
              <a:t>que</a:t>
            </a:r>
            <a:r>
              <a:rPr sz="2800" dirty="0"/>
              <a:t> les </a:t>
            </a:r>
            <a:r>
              <a:rPr sz="2800" dirty="0" err="1"/>
              <a:t>nouvelles</a:t>
            </a:r>
            <a:r>
              <a:rPr sz="2800" dirty="0"/>
              <a:t> sessions </a:t>
            </a:r>
            <a:r>
              <a:rPr sz="2800" dirty="0" err="1"/>
              <a:t>vont</a:t>
            </a:r>
            <a:r>
              <a:rPr sz="2800" dirty="0"/>
              <a:t> sur RDS-SESSION2</a:t>
            </a:r>
          </a:p>
          <a:p>
            <a:pPr lvl="0"/>
            <a:r>
              <a:rPr sz="2800" dirty="0" err="1"/>
              <a:t>Diagnostiquer</a:t>
            </a:r>
            <a:r>
              <a:rPr sz="2800" dirty="0"/>
              <a:t> la panne </a:t>
            </a:r>
            <a:r>
              <a:rPr sz="2800" dirty="0" err="1"/>
              <a:t>injectée</a:t>
            </a:r>
            <a:r>
              <a:rPr sz="2800" dirty="0"/>
              <a:t> par le </a:t>
            </a:r>
            <a:r>
              <a:rPr sz="2800" dirty="0" err="1"/>
              <a:t>formateur</a:t>
            </a:r>
            <a:endParaRPr sz="2800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22</a:t>
            </a:fld>
            <a:endParaRPr lang="fr-B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Avez-vous des questions ?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23</a:t>
            </a:fld>
            <a:endParaRPr lang="fr-BE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èle EGIL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_EGILIA-Template.potx" id="{308816F5-4877-444A-9C2E-10E8B589F71D}" vid="{A8E82A1B-84CC-4282-8223-F7357AEA6CE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Office PowerPoint</Application>
  <PresentationFormat>Affichage à l'écran (4:3)</PresentationFormat>
  <Paragraphs>271</Paragraphs>
  <Slides>23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Corbel</vt:lpstr>
      <vt:lpstr>Courier</vt:lpstr>
      <vt:lpstr>Wingdings</vt:lpstr>
      <vt:lpstr>Wingdings 2</vt:lpstr>
      <vt:lpstr>Wingdings 3</vt:lpstr>
      <vt:lpstr>Modèle EGILIA</vt:lpstr>
      <vt:lpstr>Module 5 : Haute disponibilité et exploitation</vt:lpstr>
      <vt:lpstr>Agenda</vt:lpstr>
      <vt:lpstr>Les risques d’une architecture centralisée</vt:lpstr>
      <vt:lpstr>Les points de défaillance de la plateforme</vt:lpstr>
      <vt:lpstr>Une infrastructure tolérante aux pannes</vt:lpstr>
      <vt:lpstr>Le Connection Broker : répartition des sessions</vt:lpstr>
      <vt:lpstr>Les critères de répartition</vt:lpstr>
      <vt:lpstr>Exemple de répartition pondérée</vt:lpstr>
      <vt:lpstr>Le parcours d’une reconnexion</vt:lpstr>
      <vt:lpstr>Le Connection Broker en haute disponibilité</vt:lpstr>
      <vt:lpstr>L’architecture de la haute disponibilité</vt:lpstr>
      <vt:lpstr>Les prérequis de la haute disponibilité</vt:lpstr>
      <vt:lpstr>Configurer la haute disponibilité</vt:lpstr>
      <vt:lpstr>Redonder l’accès et les licences</vt:lpstr>
      <vt:lpstr>Mettre à jour un hôte sans interruption</vt:lpstr>
      <vt:lpstr>Le drainage d’un hôte</vt:lpstr>
      <vt:lpstr>Le mode drainage en PowerShell</vt:lpstr>
      <vt:lpstr>Sauvegarder la plateforme</vt:lpstr>
      <vt:lpstr>Superviser l’expérience utilisateur</vt:lpstr>
      <vt:lpstr>Les journaux utiles</vt:lpstr>
      <vt:lpstr>Une méthode de diagnostic</vt:lpstr>
      <vt:lpstr>Atelier 4 – Haute disponibilité et diagnostic</vt:lpstr>
      <vt:lpstr>Avez-vous des questions 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EGILIA-Template%20v2.5</Template>
  <TotalTime>0</TotalTime>
  <Words>0</Words>
  <Application>Microsoft Office PowerPoint</Application>
  <PresentationFormat>Affichage à l'écran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Arial</vt:lpstr>
      <vt:lpstr>Calibri</vt:lpstr>
      <vt:lpstr>Corbel</vt:lpstr>
      <vt:lpstr>Wingdings</vt:lpstr>
      <vt:lpstr>Wingdings 2</vt:lpstr>
      <vt:lpstr>Wingdings 3</vt:lpstr>
      <vt:lpstr>Modèle EGILIA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revision>1</cp:revision>
  <dcterms:created xsi:type="dcterms:W3CDTF">2026-09-22T19:57:06Z</dcterms:created>
  <dcterms:modified xsi:type="dcterms:W3CDTF">2026-09-24T07:49:07Z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ion">
    <vt:lpwstr>Remote Desktop Services sous Windows Server 2025</vt:lpwstr>
  </property>
</Properties>
</file>