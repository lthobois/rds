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package/2006/relationships/metadata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removePersonalInfoOnSave="1" saveSubsetFonts="1" showSpecialPlsOnTitleSld="0">
  <p:sldMasterIdLst>
    <p:sldMasterId id="2147484057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00"/>
    <a:srgbClr val="FF6600"/>
    <a:srgbClr val="003366"/>
    <a:srgbClr val="1C40A4"/>
    <a:srgbClr val="B48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4994"/>
    <p:restoredTop autoAdjust="0" sz="99642"/>
  </p:normalViewPr>
  <p:slideViewPr>
    <p:cSldViewPr>
      <p:cViewPr varScale="1">
        <p:scale>
          <a:sx d="100" n="111"/>
          <a:sy d="100" n="111"/>
        </p:scale>
        <p:origin x="1650" y="108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notesViewPr>
    <p:cSldViewPr>
      <p:cViewPr varScale="1">
        <p:scale>
          <a:sx d="100" n="71"/>
          <a:sy d="100" n="71"/>
        </p:scale>
        <p:origin x="3222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37F6F-E004-4414-8178-04C7568A565A}" type="datetimeFigureOut">
              <a:rPr lang="fr-FR" smtClean="0"/>
              <a:pPr/>
              <a:t>03/04/2020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274BD-2225-430E-B195-718FE1CD5BB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65456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 présenter en quelques phrases, en insistant sur l’expérience terrain des infrastructures RDS : c’est elle qui donne du poids aux recommandations de la 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Présenter rapidement le plan de la séquence d’ouverture avant d’entrer dans le détail.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Ces deux ambitions structurent toute la formation : comprendre avant de construire. Chaque module commence par les concepts, puis les met en pratique dans un atelier.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Ces objectifs reprennent ceux du programme, regroupés par verbe d’action. Chaque objectif correspond à un module et, sauf pour le premier, à un atelier.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Chaque participant dispose de son propre environnement : les ateliers se réalisent individuellement, du début à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Toute la formation construit cette plateforme. Chaque atelier ajoute une brique à l’infrastructure du précédent : il est donc important de terminer chaque atelier, ou de repartir du point de reprise fourni.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Schéma : l’infrastructure complète du laboratoire sur le réseau Reseau Salle, 172.16.0.0/16.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Les noms reprennent la structure de l’atelier : </a:t>
            </a:r>
            <a:r>
              <a:rPr>
                <a:latin typeface="Courier"/>
              </a:rPr>
              <a:t>RDS-&lt;rôle&gt;&lt;numéro&gt;</a:t>
            </a:r>
            <a:r>
              <a:rPr/>
              <a:t>. Ils sont identiques dans les supports, les ateliers et les commandes PowerShell, ce qui permet de copier les exemples sans les adapter.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Les utilisateurs accèdent à la plateforme par </a:t>
            </a:r>
            <a:r>
              <a:rPr>
                <a:latin typeface="Courier"/>
              </a:rPr>
              <a:t>rds.avaedos.lan</a:t>
            </a:r>
            <a:r>
              <a:rPr/>
              <a:t>, nom de la ferme de passerelles ; la ferme de Connection Brokers répond au nom </a:t>
            </a:r>
            <a:r>
              <a:rPr>
                <a:latin typeface="Courier"/>
              </a:rPr>
              <a:t>rds-farm.avaedos.lan</a:t>
            </a:r>
            <a:r>
              <a:rPr/>
              <a:t>. Les machines sont créées au fil des ateliers.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progression suit la vie d’une plateforme : comprendre, construire, rendre utilisable, protéger, fiabiliser, puis étendre au VDI.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Vérifier que chaque participant accède à son environnement Hyper-V avant le premier atelier.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Noter les projets et les usages VDI cités : ils serviront d’exemples tout au long de la formation, en particulier au module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Vérifier rapidement le niveau PowerShell : les ateliers fournissent les commandes, mais il faut savoir les lire et les adapter.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Faire le lien entre l’agenda et le déroulé : chaque ligne correspond à un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Répondre aux questions d’organisation avant d’entrer dans le module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14</a:t>
            </a:fld>
            <a:endParaRPr lang="en-US"/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re 18"/>
          <p:cNvSpPr>
            <a:spLocks noGrp="1"/>
          </p:cNvSpPr>
          <p:nvPr>
            <p:ph type="title" hasCustomPrompt="1"/>
          </p:nvPr>
        </p:nvSpPr>
        <p:spPr>
          <a:xfrm>
            <a:off x="71406" y="5286388"/>
            <a:ext cx="9001188" cy="571504"/>
          </a:xfr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 marL="0" algn="r" defTabSz="914400" rtl="0" eaLnBrk="1" latinLnBrk="0" hangingPunct="1">
              <a:defRPr lang="fr-FR" sz="2800" b="0" kern="1200" cap="none" spc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fr-FR" dirty="0"/>
              <a:t>MODULE : Titre du module</a:t>
            </a:r>
          </a:p>
        </p:txBody>
      </p:sp>
      <p:sp>
        <p:nvSpPr>
          <p:cNvPr id="7" name="Espace réservé du pied de page 13"/>
          <p:cNvSpPr txBox="1">
            <a:spLocks/>
          </p:cNvSpPr>
          <p:nvPr userDrawn="1"/>
        </p:nvSpPr>
        <p:spPr>
          <a:xfrm>
            <a:off x="6000728" y="6476998"/>
            <a:ext cx="3070678" cy="381002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Copyright © AVAEDOS. All rights reserved</a:t>
            </a:r>
            <a:endParaRPr kumimoji="0" lang="fr-BE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1406" y="5893635"/>
            <a:ext cx="9000000" cy="360000"/>
          </a:xfrm>
        </p:spPr>
        <p:txBody>
          <a:bodyPr>
            <a:noAutofit/>
          </a:bodyPr>
          <a:lstStyle>
            <a:lvl1pPr marL="0" indent="0" algn="r" defTabSz="900000">
              <a:buNone/>
              <a:defRPr lang="en-US" sz="1600" b="1" kern="1200" dirty="0" smtClean="0">
                <a:solidFill>
                  <a:srgbClr val="FF99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 sz="1100" b="1"/>
            </a:lvl2pPr>
            <a:lvl3pPr>
              <a:defRPr sz="105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fr-FR" noProof="0" dirty="0"/>
              <a:t>Titre de la formation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5759"/>
            <a:ext cx="9144000" cy="50572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588" y="1635622"/>
            <a:ext cx="4033636" cy="149898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4" grpId="0" build="p">
        <p:tmplLst>
          <p:tmpl lvl="1">
            <p:tnLst>
              <p:par>
                <p:cTn presetID="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71406" y="1500174"/>
            <a:ext cx="9001188" cy="4929221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4320000" cy="492922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750388" y="1500174"/>
            <a:ext cx="4320000" cy="49292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1 colonne à gauche et 2 blocs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6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4320000" cy="492922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contenu 3"/>
          <p:cNvSpPr>
            <a:spLocks noGrp="1"/>
          </p:cNvSpPr>
          <p:nvPr>
            <p:ph sz="half" idx="2"/>
          </p:nvPr>
        </p:nvSpPr>
        <p:spPr>
          <a:xfrm>
            <a:off x="4750388" y="1500174"/>
            <a:ext cx="4320000" cy="242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8" name="Espace réservé du contenu 3"/>
          <p:cNvSpPr>
            <a:spLocks noGrp="1"/>
          </p:cNvSpPr>
          <p:nvPr>
            <p:ph sz="half" idx="14"/>
          </p:nvPr>
        </p:nvSpPr>
        <p:spPr>
          <a:xfrm>
            <a:off x="4750388" y="4000504"/>
            <a:ext cx="4320000" cy="242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1 colonne à droite et 2 blocs à gau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5" name="Espace réservé du contenu 3"/>
          <p:cNvSpPr>
            <a:spLocks noGrp="1"/>
          </p:cNvSpPr>
          <p:nvPr>
            <p:ph sz="half" idx="2"/>
          </p:nvPr>
        </p:nvSpPr>
        <p:spPr>
          <a:xfrm>
            <a:off x="4750388" y="1500174"/>
            <a:ext cx="4320000" cy="49292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6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4320000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contenu 2"/>
          <p:cNvSpPr>
            <a:spLocks noGrp="1"/>
          </p:cNvSpPr>
          <p:nvPr>
            <p:ph sz="half" idx="13"/>
          </p:nvPr>
        </p:nvSpPr>
        <p:spPr>
          <a:xfrm>
            <a:off x="71406" y="4000504"/>
            <a:ext cx="4320000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10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4320000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1" name="Espace réservé du contenu 3"/>
          <p:cNvSpPr>
            <a:spLocks noGrp="1"/>
          </p:cNvSpPr>
          <p:nvPr>
            <p:ph sz="half" idx="2"/>
          </p:nvPr>
        </p:nvSpPr>
        <p:spPr>
          <a:xfrm>
            <a:off x="4750388" y="1500174"/>
            <a:ext cx="4320000" cy="242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2" name="Espace réservé du contenu 2"/>
          <p:cNvSpPr>
            <a:spLocks noGrp="1"/>
          </p:cNvSpPr>
          <p:nvPr>
            <p:ph sz="half" idx="13"/>
          </p:nvPr>
        </p:nvSpPr>
        <p:spPr>
          <a:xfrm>
            <a:off x="71406" y="4000504"/>
            <a:ext cx="4320000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3" name="Espace réservé du contenu 3"/>
          <p:cNvSpPr>
            <a:spLocks noGrp="1"/>
          </p:cNvSpPr>
          <p:nvPr>
            <p:ph sz="half" idx="14"/>
          </p:nvPr>
        </p:nvSpPr>
        <p:spPr>
          <a:xfrm>
            <a:off x="4750388" y="4000504"/>
            <a:ext cx="4320000" cy="242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5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9001188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contenu 2"/>
          <p:cNvSpPr>
            <a:spLocks noGrp="1"/>
          </p:cNvSpPr>
          <p:nvPr>
            <p:ph sz="half" idx="13"/>
          </p:nvPr>
        </p:nvSpPr>
        <p:spPr>
          <a:xfrm>
            <a:off x="71406" y="4000504"/>
            <a:ext cx="9001188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1 ligne en haut et 2 blocs en b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5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9001188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6" name="Espace réservé du contenu 2"/>
          <p:cNvSpPr>
            <a:spLocks noGrp="1"/>
          </p:cNvSpPr>
          <p:nvPr>
            <p:ph sz="half" idx="13"/>
          </p:nvPr>
        </p:nvSpPr>
        <p:spPr>
          <a:xfrm>
            <a:off x="71406" y="4000504"/>
            <a:ext cx="4320000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contenu 3"/>
          <p:cNvSpPr>
            <a:spLocks noGrp="1"/>
          </p:cNvSpPr>
          <p:nvPr>
            <p:ph sz="half" idx="14"/>
          </p:nvPr>
        </p:nvSpPr>
        <p:spPr>
          <a:xfrm>
            <a:off x="4750388" y="4000504"/>
            <a:ext cx="4320000" cy="242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1 ligne en bas et 2 blocs en ha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5" name="Espace réservé du contenu 2"/>
          <p:cNvSpPr>
            <a:spLocks noGrp="1"/>
          </p:cNvSpPr>
          <p:nvPr>
            <p:ph sz="half" idx="13"/>
          </p:nvPr>
        </p:nvSpPr>
        <p:spPr>
          <a:xfrm>
            <a:off x="71406" y="4000504"/>
            <a:ext cx="9001188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6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4320000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contenu 3"/>
          <p:cNvSpPr>
            <a:spLocks noGrp="1"/>
          </p:cNvSpPr>
          <p:nvPr>
            <p:ph sz="half" idx="2"/>
          </p:nvPr>
        </p:nvSpPr>
        <p:spPr>
          <a:xfrm>
            <a:off x="4750388" y="1500174"/>
            <a:ext cx="4320000" cy="242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27556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noProof="0" dirty="0"/>
              <a:t>Avez-vous des questions ?</a:t>
            </a:r>
          </a:p>
        </p:txBody>
      </p:sp>
      <p:pic>
        <p:nvPicPr>
          <p:cNvPr id="4" name="Picture 5" descr="questionmark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407" y="1500188"/>
            <a:ext cx="4929187" cy="492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32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9"/>
          <p:cNvGrpSpPr/>
          <p:nvPr userDrawn="1"/>
        </p:nvGrpSpPr>
        <p:grpSpPr>
          <a:xfrm>
            <a:off x="285720" y="428604"/>
            <a:ext cx="8643998" cy="5929354"/>
            <a:chOff x="285720" y="428604"/>
            <a:chExt cx="8643998" cy="5929354"/>
          </a:xfrm>
        </p:grpSpPr>
        <p:pic>
          <p:nvPicPr>
            <p:cNvPr id="5" name="Picture 4" descr="C:\Users\EGILIAlearning\Desktop\EGILIA ACADEMY Marie\LOGOS\fond diplome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85720" y="428604"/>
              <a:ext cx="8643998" cy="59293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71"/>
            <p:cNvSpPr>
              <a:spLocks noChangeArrowheads="1"/>
            </p:cNvSpPr>
            <p:nvPr/>
          </p:nvSpPr>
          <p:spPr bwMode="auto">
            <a:xfrm>
              <a:off x="1285853" y="1214422"/>
              <a:ext cx="6715172" cy="4429156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Rectangle 2"/>
          <p:cNvSpPr txBox="1">
            <a:spLocks noChangeArrowheads="1"/>
          </p:cNvSpPr>
          <p:nvPr userDrawn="1"/>
        </p:nvSpPr>
        <p:spPr bwMode="auto">
          <a:xfrm>
            <a:off x="1357290" y="2691466"/>
            <a:ext cx="6586538" cy="55399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R="0" lvl="0" indent="0" algn="ctr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3000" b="1" dirty="0">
                <a:latin typeface="Arial" pitchFamily="34" charset="0"/>
                <a:cs typeface="Arial" pitchFamily="34" charset="0"/>
              </a:rPr>
              <a:t>Félicitations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1357290" y="4383107"/>
            <a:ext cx="6586538" cy="928694"/>
          </a:xfrm>
        </p:spPr>
        <p:txBody>
          <a:bodyPr/>
          <a:lstStyle>
            <a:lvl1pPr algn="ctr">
              <a:defRPr b="0" i="0" baseline="0">
                <a:ln w="18415" cmpd="sng">
                  <a:noFill/>
                  <a:prstDash val="solid"/>
                </a:ln>
                <a:solidFill>
                  <a:srgbClr val="FF9900"/>
                </a:solidFill>
                <a:effectLst>
                  <a:reflection blurRad="6350" stA="55000" endA="50" endPos="85000" dir="5400000" sy="-100000" algn="bl" rotWithShape="0"/>
                </a:effectLst>
              </a:defRPr>
            </a:lvl1pPr>
          </a:lstStyle>
          <a:p>
            <a:pPr algn="ctr">
              <a:spcBef>
                <a:spcPct val="50000"/>
              </a:spcBef>
            </a:pPr>
            <a:r>
              <a:rPr lang="fr-FR" sz="3200" b="1" dirty="0">
                <a:solidFill>
                  <a:srgbClr val="FF9900"/>
                </a:solidFill>
                <a:latin typeface="Arial" pitchFamily="34" charset="0"/>
                <a:cs typeface="Arial" pitchFamily="34" charset="0"/>
              </a:rPr>
              <a:t>Titre du Module</a:t>
            </a:r>
            <a:endParaRPr lang="fr-FR" sz="3200" dirty="0">
              <a:solidFill>
                <a:srgbClr val="FF99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 Box 77"/>
          <p:cNvSpPr txBox="1">
            <a:spLocks noChangeArrowheads="1"/>
          </p:cNvSpPr>
          <p:nvPr userDrawn="1"/>
        </p:nvSpPr>
        <p:spPr bwMode="auto">
          <a:xfrm>
            <a:off x="1928024" y="3429000"/>
            <a:ext cx="5329237" cy="95410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sz="2800" u="none" dirty="0">
                <a:latin typeface="Arial" pitchFamily="34" charset="0"/>
                <a:cs typeface="Arial" pitchFamily="34" charset="0"/>
              </a:rPr>
              <a:t>Vous avez suivi avec succès le module</a:t>
            </a:r>
            <a:endParaRPr lang="fr-FR" sz="3200" u="none" dirty="0">
              <a:solidFill>
                <a:srgbClr val="FF99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588" y="1635622"/>
            <a:ext cx="4033636" cy="149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3331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2.png"/><Relationship Id="rId15" Type="http://schemas.openxmlformats.org/officeDocument/2006/relationships/image" Target="../media/image3.jpeg"/><Relationship Id="rId16" Type="http://schemas.openxmlformats.org/officeDocument/2006/relationships/image" Target="../media/image4.jpeg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760"/>
            <a:ext cx="9144000" cy="135153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fr-FR"/>
          </a:p>
        </p:txBody>
      </p:sp>
      <p:pic>
        <p:nvPicPr>
          <p:cNvPr descr="C:\Users\EGILIAlearning\Desktop\EGILIA ACADEMY Marie\LOGOS\Essai bandeau bas 1.png" id="11" name="Picture 10"/>
          <p:cNvPicPr>
            <a:picLocks noChangeArrowheads="1"/>
          </p:cNvPicPr>
          <p:nvPr userDrawn="1"/>
        </p:nvPicPr>
        <p:blipFill>
          <a:blip cstate="print"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00834"/>
            <a:ext cx="9144000" cy="3600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 userDrawn="1"/>
        </p:nvSpPr>
        <p:spPr>
          <a:xfrm>
            <a:off x="0" y="6596390"/>
            <a:ext cx="9144000" cy="261610"/>
          </a:xfrm>
          <a:prstGeom prst="rect">
            <a:avLst/>
          </a:prstGeom>
          <a:noFill/>
        </p:spPr>
        <p:txBody>
          <a:bodyPr anchor="b" rtlCol="0" wrap="square">
            <a:spAutoFit/>
          </a:bodyPr>
          <a:lstStyle/>
          <a:p>
            <a:pPr algn="ctr" defTabSz="914400" eaLnBrk="1" fontAlgn="auto" hangingPunct="1" indent="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lang="en-US" noProof="0" sz="1100">
                <a:solidFill>
                  <a:schemeClr val="bg1"/>
                </a:solidFill>
              </a:rPr>
              <a:t>Copyright © AVAEDOS. All rights reserved</a:t>
            </a:r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1406" y="428604"/>
            <a:ext cx="7715304" cy="928694"/>
          </a:xfrm>
          <a:prstGeom prst="rect">
            <a:avLst/>
          </a:prstGeom>
          <a:noFill/>
        </p:spPr>
        <p:txBody>
          <a:bodyPr anchor="ctr" lIns="91440" rIns="45720" rtlCol="0" vert="horz">
            <a:noAutofit/>
          </a:bodyPr>
          <a:lstStyle/>
          <a:p>
            <a:r>
              <a:rPr dirty="0" kumimoji="0" lang="fr-FR"/>
              <a:t>Cliquez pour modifier le style du titre</a:t>
            </a:r>
            <a:endParaRPr dirty="0"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idx="1" type="body"/>
          </p:nvPr>
        </p:nvSpPr>
        <p:spPr>
          <a:xfrm>
            <a:off x="71406" y="1500174"/>
            <a:ext cx="9001188" cy="4929222"/>
          </a:xfrm>
          <a:prstGeom prst="rect">
            <a:avLst/>
          </a:prstGeom>
        </p:spPr>
        <p:txBody>
          <a:bodyPr lIns="54864" rtlCol="0" tIns="91440" vert="horz">
            <a:normAutofit/>
          </a:bodyPr>
          <a:lstStyle/>
          <a:p>
            <a:pPr eaLnBrk="1" hangingPunct="1" latinLnBrk="0" lvl="0"/>
            <a:r>
              <a:rPr dirty="0" kumimoji="0" lang="fr-FR"/>
              <a:t>Cliquez pour modifier les styles du texte du masque</a:t>
            </a:r>
          </a:p>
          <a:p>
            <a:pPr eaLnBrk="1" hangingPunct="1" latinLnBrk="0" lvl="1"/>
            <a:r>
              <a:rPr dirty="0" kumimoji="0" lang="fr-FR"/>
              <a:t>Deuxième niveau</a:t>
            </a:r>
          </a:p>
          <a:p>
            <a:pPr eaLnBrk="1" hangingPunct="1" latinLnBrk="0" lvl="2"/>
            <a:r>
              <a:rPr dirty="0" kumimoji="0" lang="fr-FR"/>
              <a:t>Troisième niveau</a:t>
            </a:r>
          </a:p>
          <a:p>
            <a:pPr eaLnBrk="1" hangingPunct="1" latinLnBrk="0" lvl="3"/>
            <a:r>
              <a:rPr dirty="0" kumimoji="0" lang="fr-FR"/>
              <a:t>Quatrième niveau</a:t>
            </a:r>
          </a:p>
          <a:p>
            <a:pPr eaLnBrk="1" hangingPunct="1" latinLnBrk="0" lvl="4"/>
            <a:r>
              <a:rPr dirty="0" kumimoji="0" lang="fr-FR"/>
              <a:t>Cinquième niveau</a:t>
            </a:r>
            <a:endParaRPr dirty="0"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idx="4" sz="quarter" type="sldNum"/>
          </p:nvPr>
        </p:nvSpPr>
        <p:spPr>
          <a:xfrm>
            <a:off x="8338730" y="6593556"/>
            <a:ext cx="733864" cy="214290"/>
          </a:xfrm>
          <a:prstGeom prst="rect">
            <a:avLst/>
          </a:prstGeom>
        </p:spPr>
        <p:txBody>
          <a:bodyPr anchor="b" bIns="0" rtlCol="0" vert="horz"/>
          <a:lstStyle>
            <a:lvl1pPr algn="r" eaLnBrk="1" hangingPunct="1" latinLnBrk="0">
              <a:defRPr kumimoji="0" sz="1200">
                <a:solidFill>
                  <a:schemeClr val="bg1"/>
                </a:solidFill>
              </a:defRPr>
            </a:lvl1pPr>
            <a:extLst/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cstate="screen"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871" y="44624"/>
            <a:ext cx="1490633" cy="55395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cstate="screen"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504136"/>
            <a:ext cx="971600" cy="361068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lt2" folHlink="folHlink" hlink="hlink" tx1="dk1" tx2="dk2"/>
  <p:sldLayoutIdLst>
    <p:sldLayoutId id="2147484058" r:id="rId1"/>
    <p:sldLayoutId id="2147484059" r:id="rId2"/>
    <p:sldLayoutId id="2147484061" r:id="rId3"/>
    <p:sldLayoutId id="2147484063" r:id="rId4"/>
    <p:sldLayoutId id="2147484068" r:id="rId5"/>
    <p:sldLayoutId id="2147484062" r:id="rId6"/>
    <p:sldLayoutId id="2147484069" r:id="rId7"/>
    <p:sldLayoutId id="2147484070" r:id="rId8"/>
    <p:sldLayoutId id="2147484071" r:id="rId9"/>
    <p:sldLayoutId id="2147484074" r:id="rId10"/>
    <p:sldLayoutId id="2147484073" r:id="rId11"/>
    <p:sldLayoutId id="2147484072" r:id="rId12"/>
  </p:sldLayoutIdLst>
  <p:hf dt="0" hdr="0"/>
  <p:txStyles>
    <p:titleStyle>
      <a:lvl1pPr algn="l" eaLnBrk="1" hangingPunct="1" latinLnBrk="0" rtl="0">
        <a:spcBef>
          <a:spcPct val="0"/>
        </a:spcBef>
        <a:buNone/>
        <a:defRPr b="0" cap="none" kern="1200" kumimoji="0" spc="0" sz="3200">
          <a:ln cmpd="sng" w="18415">
            <a:solidFill>
              <a:srgbClr val="FFFFFF"/>
            </a:solidFill>
            <a:prstDash val="solid"/>
          </a:ln>
          <a:solidFill>
            <a:srgbClr val="FFFFFF"/>
          </a:solidFill>
          <a:effectLst>
            <a:outerShdw algn="tl" blurRad="63500" dir="3600000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algn="l" eaLnBrk="1" hangingPunct="1" indent="-320040" latinLnBrk="0" marL="438912" rtl="0">
        <a:spcBef>
          <a:spcPts val="0"/>
        </a:spcBef>
        <a:buClr>
          <a:schemeClr val="accent1"/>
        </a:buClr>
        <a:buSzPct val="80000"/>
        <a:buFont typeface="Wingdings 2"/>
        <a:buChar char=""/>
        <a:defRPr kern="1200" kumimoji="0" sz="3200">
          <a:solidFill>
            <a:schemeClr val="tx1"/>
          </a:solidFill>
          <a:latin typeface="+mn-lt"/>
          <a:ea typeface="+mn-ea"/>
          <a:cs typeface="+mn-cs"/>
        </a:defRPr>
      </a:lvl1pPr>
      <a:lvl2pPr algn="l" eaLnBrk="1" hangingPunct="1" indent="-274320" latinLnBrk="0" marL="731520" rtl="0">
        <a:spcBef>
          <a:spcPct val="20000"/>
        </a:spcBef>
        <a:buClr>
          <a:schemeClr val="accent2"/>
        </a:buClr>
        <a:buSzPct val="90000"/>
        <a:buFont typeface="Wingdings"/>
        <a:buChar char=""/>
        <a:defRPr kern="1200" kumimoji="0" sz="2800">
          <a:solidFill>
            <a:schemeClr val="tx1"/>
          </a:solidFill>
          <a:latin typeface="+mn-lt"/>
          <a:ea typeface="+mn-ea"/>
          <a:cs typeface="+mn-cs"/>
        </a:defRPr>
      </a:lvl2pPr>
      <a:lvl3pPr algn="l" eaLnBrk="1" hangingPunct="1" indent="-228600" latinLnBrk="0" marL="996696" rtl="0">
        <a:spcBef>
          <a:spcPct val="20000"/>
        </a:spcBef>
        <a:buClr>
          <a:schemeClr val="accent3"/>
        </a:buClr>
        <a:buFont typeface="Arial"/>
        <a:buChar char="▪"/>
        <a:defRPr kern="1200" kumimoji="0" sz="2400">
          <a:solidFill>
            <a:schemeClr val="tx1"/>
          </a:solidFill>
          <a:latin typeface="+mn-lt"/>
          <a:ea typeface="+mn-ea"/>
          <a:cs typeface="+mn-cs"/>
        </a:defRPr>
      </a:lvl3pPr>
      <a:lvl4pPr algn="l" eaLnBrk="1" hangingPunct="1" indent="-182880" latinLnBrk="0" marL="1216152" rtl="0">
        <a:spcBef>
          <a:spcPct val="20000"/>
        </a:spcBef>
        <a:buClr>
          <a:schemeClr val="accent4"/>
        </a:buClr>
        <a:buFont typeface="Arial"/>
        <a:buChar char="▪"/>
        <a:defRPr kern="1200" kumimoji="0" sz="2000">
          <a:solidFill>
            <a:schemeClr val="tx1"/>
          </a:solidFill>
          <a:latin typeface="+mn-lt"/>
          <a:ea typeface="+mn-ea"/>
          <a:cs typeface="+mn-cs"/>
        </a:defRPr>
      </a:lvl4pPr>
      <a:lvl5pPr algn="l" eaLnBrk="1" hangingPunct="1" indent="-182880" latinLnBrk="0" marL="1426464" rtl="0">
        <a:spcBef>
          <a:spcPct val="20000"/>
        </a:spcBef>
        <a:buClr>
          <a:schemeClr val="accent5"/>
        </a:buClr>
        <a:buFont typeface="Wingdings 3"/>
        <a:buChar char=""/>
        <a:defRPr kern="1200" kumimoji="0" lang="en-US" smtClean="0" sz="2000">
          <a:solidFill>
            <a:schemeClr val="tx1"/>
          </a:solidFill>
          <a:latin typeface="+mn-lt"/>
          <a:ea typeface="+mn-ea"/>
          <a:cs typeface="+mn-cs"/>
        </a:defRPr>
      </a:lvl5pPr>
      <a:lvl6pPr algn="l" eaLnBrk="1" hangingPunct="1" indent="-182880" latinLnBrk="0" marL="1627632" rtl="0">
        <a:spcBef>
          <a:spcPct val="20000"/>
        </a:spcBef>
        <a:buClr>
          <a:schemeClr val="accent6"/>
        </a:buClr>
        <a:buSzPct val="100000"/>
        <a:buFont typeface="Wingdings 2"/>
        <a:buChar char=""/>
        <a:defRPr kern="1200" kumimoji="0" sz="2000">
          <a:solidFill>
            <a:schemeClr val="tx1"/>
          </a:solidFill>
          <a:latin typeface="+mn-lt"/>
          <a:ea typeface="+mn-ea"/>
          <a:cs typeface="+mn-cs"/>
        </a:defRPr>
      </a:lvl6pPr>
      <a:lvl7pPr algn="l" eaLnBrk="1" hangingPunct="1" indent="-182880" latinLnBrk="0" marL="1828800" rtl="0">
        <a:spcBef>
          <a:spcPct val="20000"/>
        </a:spcBef>
        <a:buClr>
          <a:schemeClr val="accent1"/>
        </a:buClr>
        <a:buSzPct val="100000"/>
        <a:buFont typeface="Wingdings 2"/>
        <a:buChar char=""/>
        <a:defRPr kern="1200" kumimoji="0" sz="1800">
          <a:solidFill>
            <a:schemeClr val="tx1"/>
          </a:solidFill>
          <a:latin typeface="+mn-lt"/>
          <a:ea typeface="+mn-ea"/>
          <a:cs typeface="+mn-cs"/>
        </a:defRPr>
      </a:lvl7pPr>
      <a:lvl8pPr algn="l" eaLnBrk="1" hangingPunct="1" indent="-182880" latinLnBrk="0" marL="2029968" rtl="0">
        <a:spcBef>
          <a:spcPct val="20000"/>
        </a:spcBef>
        <a:buClr>
          <a:schemeClr val="accent2"/>
        </a:buClr>
        <a:buFont charset="2" pitchFamily="18" typeface="Wingdings 2"/>
        <a:buChar char=""/>
        <a:defRPr kern="1200" kumimoji="0" sz="1800">
          <a:solidFill>
            <a:schemeClr val="tx1"/>
          </a:solidFill>
          <a:latin typeface="+mn-lt"/>
          <a:ea typeface="+mn-ea"/>
          <a:cs typeface="+mn-cs"/>
        </a:defRPr>
      </a:lvl8pPr>
      <a:lvl9pPr algn="l" eaLnBrk="1" hangingPunct="1" indent="-182880" latinLnBrk="0" marL="2231136" rtl="0">
        <a:spcBef>
          <a:spcPct val="20000"/>
        </a:spcBef>
        <a:buClr>
          <a:schemeClr val="accent3"/>
        </a:buClr>
        <a:buFont charset="2" pitchFamily="18" typeface="Wingdings 2"/>
        <a:buChar char=""/>
        <a:defRPr baseline="0" kern="1200" kumimoji="0" sz="18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algn="l" eaLnBrk="1" hangingPunct="1" latinLnBrk="0" marL="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1pPr>
      <a:lvl2pPr algn="l" eaLnBrk="1" hangingPunct="1" latinLnBrk="0" marL="4572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2pPr>
      <a:lvl3pPr algn="l" eaLnBrk="1" hangingPunct="1" latinLnBrk="0" marL="9144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3pPr>
      <a:lvl4pPr algn="l" eaLnBrk="1" hangingPunct="1" latinLnBrk="0" marL="13716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4pPr>
      <a:lvl5pPr algn="l" eaLnBrk="1" hangingPunct="1" latinLnBrk="0" marL="18288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5pPr>
      <a:lvl6pPr algn="l" eaLnBrk="1" hangingPunct="1" latinLnBrk="0" marL="22860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6pPr>
      <a:lvl7pPr algn="l" eaLnBrk="1" hangingPunct="1" latinLnBrk="0" marL="27432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7pPr>
      <a:lvl8pPr algn="l" eaLnBrk="1" hangingPunct="1" latinLnBrk="0" marL="32004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8pPr>
      <a:lvl9pPr algn="l" eaLnBrk="1" hangingPunct="1" latinLnBrk="0" marL="3657600" rtl="0">
        <a:defRPr kern="1200" kumimoji="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re 18"/>
          <p:cNvSpPr>
            <a:spLocks noGrp="1"/>
          </p:cNvSpPr>
          <p:nvPr>
            <p:ph hasCustomPrompt="1" type="title"/>
          </p:nvPr>
        </p:nvSpPr>
        <p:spPr>
          <a:xfrm>
            <a:off x="71406" y="5286388"/>
            <a:ext cx="9001188" cy="571504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Présentation de la formation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Remote Desktop Services sous Windows Server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Loïc THOBOIS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Consultant et formateur depuis 2001</a:t>
            </a:r>
          </a:p>
          <a:p>
            <a:pPr lvl="1"/>
            <a:r>
              <a:rPr/>
              <a:t>Infrastructure Microsoft, développement, données</a:t>
            </a:r>
          </a:p>
          <a:p>
            <a:pPr lvl="0"/>
            <a:r>
              <a:rPr/>
              <a:t>Auteur technique</a:t>
            </a:r>
          </a:p>
          <a:p>
            <a:pPr lvl="1"/>
            <a:r>
              <a:rPr/>
              <a:t>Windows IT Pro, Avaedos</a:t>
            </a:r>
          </a:p>
          <a:p>
            <a:pPr lvl="1"/>
            <a:r>
              <a:rPr/>
              <a:t>Livres IIS et Exchange aux éditions ENI</a:t>
            </a:r>
          </a:p>
          <a:p>
            <a:pPr lvl="0"/>
            <a:r>
              <a:rPr/>
              <a:t>Certifications</a:t>
            </a:r>
          </a:p>
          <a:p>
            <a:pPr lvl="1"/>
            <a:r>
              <a:rPr/>
              <a:t>Microsoft : MVP, NT4 à Windows 10 et Windows Server 2012</a:t>
            </a:r>
          </a:p>
          <a:p>
            <a:pPr lvl="1"/>
            <a:r>
              <a:rPr/>
              <a:t>Cisco : CCNA, CCAI</a:t>
            </a:r>
          </a:p>
          <a:p>
            <a:pPr lvl="1"/>
            <a:r>
              <a:rPr/>
              <a:t>Sun : SCSA, SCNA</a:t>
            </a:r>
          </a:p>
          <a:p>
            <a:pPr lvl="0"/>
            <a:r>
              <a:rPr/>
              <a:t>Contact : lthobois@live.com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Contenu de cette présentation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 formateur</a:t>
            </a:r>
          </a:p>
          <a:p>
            <a:pPr lvl="0"/>
            <a:r>
              <a:rPr/>
              <a:t>Les objectifs de la formation</a:t>
            </a:r>
          </a:p>
          <a:p>
            <a:pPr lvl="0"/>
            <a:r>
              <a:rPr/>
              <a:t>Le déroulement et les ressources</a:t>
            </a:r>
          </a:p>
          <a:p>
            <a:pPr lvl="0"/>
            <a:r>
              <a:rPr/>
              <a:t>La logistique</a:t>
            </a:r>
          </a:p>
          <a:p>
            <a:pPr lvl="0"/>
            <a:r>
              <a:rPr/>
              <a:t>Le tour de table</a:t>
            </a:r>
          </a:p>
          <a:p>
            <a:pPr lvl="0"/>
            <a:r>
              <a:rPr/>
              <a:t>Les prérequis</a:t>
            </a:r>
          </a:p>
          <a:p>
            <a:pPr lvl="0"/>
            <a:r>
              <a:rPr/>
              <a:t>L’agenda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 suivant cette formation, vous allez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Avoir une vision générale de la technologie RDS</a:t>
            </a:r>
          </a:p>
          <a:p>
            <a:pPr lvl="1"/>
            <a:r>
              <a:rPr/>
              <a:t>Découvrir les concepts des services Bureau à distance</a:t>
            </a:r>
          </a:p>
          <a:p>
            <a:pPr lvl="1"/>
            <a:r>
              <a:rPr/>
              <a:t>Connaître les services proposés autour de RDS</a:t>
            </a:r>
          </a:p>
          <a:p>
            <a:pPr lvl="1"/>
            <a:r>
              <a:rPr/>
              <a:t>Comprendre l’intégration de RDS dans son écosystème</a:t>
            </a:r>
          </a:p>
          <a:p>
            <a:pPr lvl="0"/>
            <a:r>
              <a:rPr/>
              <a:t>Acquérir les compétences techniques pour construire une infrastructure</a:t>
            </a:r>
          </a:p>
          <a:p>
            <a:pPr lvl="1"/>
            <a:r>
              <a:rPr/>
              <a:t>Déployer, configurer et sécuriser</a:t>
            </a:r>
          </a:p>
          <a:p>
            <a:pPr lvl="1"/>
            <a:r>
              <a:rPr/>
              <a:t>Rendre hautement disponible et exploiter</a:t>
            </a:r>
          </a:p>
          <a:p>
            <a:pPr lvl="1"/>
            <a:r>
              <a:rPr/>
              <a:t>Étendre aux postes de travail virtuels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Objectifs de la formation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Concevoir</a:t>
            </a:r>
            <a:r>
              <a:rPr/>
              <a:t> une infrastructure RDS et choisir ses licences</a:t>
            </a:r>
          </a:p>
          <a:p>
            <a:pPr lvl="0"/>
            <a:r>
              <a:rPr b="1"/>
              <a:t>Déployer</a:t>
            </a:r>
            <a:r>
              <a:rPr/>
              <a:t> les rôles, les collections et les RemoteApp</a:t>
            </a:r>
          </a:p>
          <a:p>
            <a:pPr lvl="0"/>
            <a:r>
              <a:rPr b="1"/>
              <a:t>Configurer</a:t>
            </a:r>
            <a:r>
              <a:rPr/>
              <a:t> l’expérience utilisateur</a:t>
            </a:r>
          </a:p>
          <a:p>
            <a:pPr lvl="0"/>
            <a:r>
              <a:rPr b="1"/>
              <a:t>Sécuriser</a:t>
            </a:r>
            <a:r>
              <a:rPr/>
              <a:t> l’accès interne et externe</a:t>
            </a:r>
          </a:p>
          <a:p>
            <a:pPr lvl="0"/>
            <a:r>
              <a:rPr b="1"/>
              <a:t>Rendre hautement disponible</a:t>
            </a:r>
            <a:r>
              <a:rPr/>
              <a:t> et </a:t>
            </a:r>
            <a:r>
              <a:rPr b="1"/>
              <a:t>exploiter</a:t>
            </a:r>
            <a:r>
              <a:rPr/>
              <a:t> la plateforme</a:t>
            </a:r>
          </a:p>
          <a:p>
            <a:pPr lvl="0"/>
            <a:r>
              <a:rPr b="1"/>
              <a:t>Déployer</a:t>
            </a:r>
            <a:r>
              <a:rPr/>
              <a:t> des postes de travail virtuels Windows 11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Ressources de formation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Infrastructure de formation</a:t>
            </a:r>
          </a:p>
          <a:p>
            <a:pPr lvl="1"/>
            <a:r>
              <a:rPr/>
              <a:t>Un environnement Hyper-V par participant</a:t>
            </a:r>
          </a:p>
          <a:p>
            <a:pPr lvl="1"/>
            <a:r>
              <a:rPr/>
              <a:t>Machines virtuelles Windows Server 2025 et Windows 11</a:t>
            </a:r>
          </a:p>
          <a:p>
            <a:pPr lvl="0"/>
            <a:r>
              <a:rPr/>
              <a:t>Supports de formation</a:t>
            </a:r>
          </a:p>
          <a:p>
            <a:pPr lvl="1"/>
            <a:r>
              <a:rPr/>
              <a:t>Supports de présentation</a:t>
            </a:r>
          </a:p>
          <a:p>
            <a:pPr lvl="1"/>
            <a:r>
              <a:rPr/>
              <a:t>Ateliers pratiques détaillés</a:t>
            </a:r>
          </a:p>
          <a:p>
            <a:pPr lvl="1"/>
            <a:r>
              <a:rPr/>
              <a:t>Commandes PowerShell de référence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fil rouge : Avaedos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600 collaborateurs, un domaine </a:t>
            </a:r>
            <a:r>
              <a:rPr>
                <a:latin typeface="Courier"/>
              </a:rPr>
              <a:t>avaedos.lan</a:t>
            </a:r>
          </a:p>
          <a:p>
            <a:pPr lvl="0"/>
            <a:r>
              <a:rPr/>
              <a:t>Objectif : une plateforme RDS Windows Server 2025 sûre et hautement disponible</a:t>
            </a:r>
          </a:p>
          <a:p>
            <a:pPr lvl="0"/>
            <a:r>
              <a:rPr/>
              <a:t>Bureaux et applications métier pour les services administratifs</a:t>
            </a:r>
          </a:p>
          <a:p>
            <a:pPr lvl="0"/>
            <a:r>
              <a:rPr/>
              <a:t>Postes virtuels Windows 11 pour le bureau d’études</a:t>
            </a:r>
          </a:p>
          <a:p>
            <a:pPr lvl="0"/>
            <a:r>
              <a:rPr/>
              <a:t>Accès depuis Internet pour les collaborateurs nomades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L’infrastructure construite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13" name="Rounded Rectangle 12"/>
          <p:cNvSpPr/>
          <p:nvPr/>
        </p:nvSpPr>
        <p:spPr>
          <a:xfrm>
            <a:off x="216000" y="1656000"/>
            <a:ext cx="8712000" cy="42840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A5A5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88000" y="1674000"/>
            <a:ext cx="8568000" cy="216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spAutoFit/>
          </a:bodyPr>
          <a:lstStyle/>
          <a:p>
            <a:pPr algn="l"/>
            <a:r>
              <a:rPr sz="900" b="1">
                <a:solidFill>
                  <a:srgbClr val="A5A5A5"/>
                </a:solidFill>
                <a:latin typeface="Corbel"/>
              </a:rPr>
              <a:t>Reseau Salle – 172.16.0.0/16 – domaine avaedos.lan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00" y="1944000"/>
            <a:ext cx="1656000" cy="684000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 w="15875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RDS-EXT1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poste hors domaine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2736000"/>
            <a:ext cx="1656000" cy="684000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 w="15875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RDS-CLI1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poste du domaine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0000" y="3960000"/>
            <a:ext cx="1656000" cy="936000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 w="15875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RDS-DC1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AD, DNS, DHCP, RDS-CA, profils, 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32000" y="1944000"/>
            <a:ext cx="1944000" cy="684000"/>
          </a:xfrm>
          <a:prstGeom prst="roundRect">
            <a:avLst>
              <a:gd name="adj" fmla="val 8000"/>
            </a:avLst>
          </a:prstGeom>
          <a:solidFill>
            <a:srgbClr val="FFC000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RDS-GATEWAY1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accès Web, passerelle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32000" y="2736000"/>
            <a:ext cx="1944000" cy="684000"/>
          </a:xfrm>
          <a:prstGeom prst="roundRect">
            <a:avLst>
              <a:gd name="adj" fmla="val 8000"/>
            </a:avLst>
          </a:prstGeom>
          <a:solidFill>
            <a:srgbClr val="FFC000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RDS-GATEWAY2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accès Web, passerelle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2000" y="3456000"/>
            <a:ext cx="1944000" cy="25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44546A"/>
                </a:solidFill>
                <a:latin typeface="Corbel"/>
              </a:rPr>
              <a:t>rds.avaedos.lan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92000" y="1944000"/>
            <a:ext cx="1944000" cy="684000"/>
          </a:xfrm>
          <a:prstGeom prst="roundRect">
            <a:avLst>
              <a:gd name="adj" fmla="val 8000"/>
            </a:avLst>
          </a:prstGeom>
          <a:solidFill>
            <a:srgbClr val="5B9BD5"/>
          </a:solidFill>
          <a:ln w="15875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Corbel"/>
              </a:rPr>
              <a:t>RDS-CBROKER1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orbel"/>
              </a:rPr>
              <a:t>Connection Broker, licences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92000" y="2736000"/>
            <a:ext cx="1944000" cy="684000"/>
          </a:xfrm>
          <a:prstGeom prst="roundRect">
            <a:avLst>
              <a:gd name="adj" fmla="val 8000"/>
            </a:avLst>
          </a:prstGeom>
          <a:solidFill>
            <a:srgbClr val="5B9BD5"/>
          </a:solidFill>
          <a:ln w="15875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Corbel"/>
              </a:rPr>
              <a:t>RDS-CBROKER2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orbel"/>
              </a:rPr>
              <a:t>Connection Broker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92000" y="3456000"/>
            <a:ext cx="1944000" cy="252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44546A"/>
                </a:solidFill>
                <a:latin typeface="Corbel"/>
              </a:rPr>
              <a:t>rds-farm.avaedos.lan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52000" y="1944000"/>
            <a:ext cx="2196000" cy="57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1">
                <a:solidFill>
                  <a:srgbClr val="44546A"/>
                </a:solidFill>
                <a:latin typeface="Corbel"/>
              </a:rPr>
              <a:t>RDS-SESSION1</a:t>
            </a:r>
          </a:p>
          <a:p>
            <a:pPr algn="ctr"/>
            <a:r>
              <a:rPr sz="850" b="0">
                <a:solidFill>
                  <a:srgbClr val="44546A"/>
                </a:solidFill>
                <a:latin typeface="Corbel"/>
              </a:rPr>
              <a:t>RdsSesColl1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2000" y="2592000"/>
            <a:ext cx="2196000" cy="57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1">
                <a:solidFill>
                  <a:srgbClr val="44546A"/>
                </a:solidFill>
                <a:latin typeface="Corbel"/>
              </a:rPr>
              <a:t>RDS-SESSION2</a:t>
            </a:r>
          </a:p>
          <a:p>
            <a:pPr algn="ctr"/>
            <a:r>
              <a:rPr sz="850" b="0">
                <a:solidFill>
                  <a:srgbClr val="44546A"/>
                </a:solidFill>
                <a:latin typeface="Corbel"/>
              </a:rPr>
              <a:t>RdsSesColl1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52000" y="3240000"/>
            <a:ext cx="2196000" cy="57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1">
                <a:solidFill>
                  <a:srgbClr val="44546A"/>
                </a:solidFill>
                <a:latin typeface="Corbel"/>
              </a:rPr>
              <a:t>RDS-SESSION3</a:t>
            </a:r>
          </a:p>
          <a:p>
            <a:pPr algn="ctr"/>
            <a:r>
              <a:rPr sz="850" b="0">
                <a:solidFill>
                  <a:srgbClr val="44546A"/>
                </a:solidFill>
                <a:latin typeface="Corbel"/>
              </a:rPr>
              <a:t>RdsAppColl1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52000" y="3888000"/>
            <a:ext cx="2196000" cy="57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1">
                <a:solidFill>
                  <a:srgbClr val="44546A"/>
                </a:solidFill>
                <a:latin typeface="Corbel"/>
              </a:rPr>
              <a:t>RDS-SESSION4</a:t>
            </a:r>
          </a:p>
          <a:p>
            <a:pPr algn="ctr"/>
            <a:r>
              <a:rPr sz="850" b="0">
                <a:solidFill>
                  <a:srgbClr val="44546A"/>
                </a:solidFill>
                <a:latin typeface="Corbel"/>
              </a:rPr>
              <a:t>RdsAppColl1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52000" y="4608000"/>
            <a:ext cx="2196000" cy="57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1">
                <a:solidFill>
                  <a:srgbClr val="44546A"/>
                </a:solidFill>
                <a:latin typeface="Corbel"/>
              </a:rPr>
              <a:t>RDS-HYPERV1</a:t>
            </a:r>
          </a:p>
          <a:p>
            <a:pPr algn="ctr"/>
            <a:r>
              <a:rPr sz="850" b="0">
                <a:solidFill>
                  <a:srgbClr val="44546A"/>
                </a:solidFill>
                <a:latin typeface="Corbel"/>
              </a:rPr>
              <a:t>postes virtuels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52000" y="5256000"/>
            <a:ext cx="2196000" cy="57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18000" bIns="18000"/>
          <a:lstStyle/>
          <a:p>
            <a:pPr algn="ctr"/>
            <a:r>
              <a:rPr sz="1100" b="1">
                <a:solidFill>
                  <a:srgbClr val="44546A"/>
                </a:solidFill>
                <a:latin typeface="Corbel"/>
              </a:rPr>
              <a:t>RDS-HYPERV2</a:t>
            </a:r>
          </a:p>
          <a:p>
            <a:pPr algn="ctr"/>
            <a:r>
              <a:rPr sz="850" b="0">
                <a:solidFill>
                  <a:srgbClr val="44546A"/>
                </a:solidFill>
                <a:latin typeface="Corbel"/>
              </a:rPr>
              <a:t>postes virtuels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016000" y="2286000"/>
            <a:ext cx="216000" cy="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16000" y="3078000"/>
            <a:ext cx="216000" cy="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176000" y="2286000"/>
            <a:ext cx="216000" cy="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336000" y="2286000"/>
            <a:ext cx="216000" cy="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88000" y="6048000"/>
            <a:ext cx="8568000" cy="324000"/>
          </a:xfrm>
          <a:prstGeom prst="rect">
            <a:avLst/>
          </a:prstGeom>
          <a:noFill/>
        </p:spPr>
        <p:txBody>
          <a:bodyPr wrap="square" lIns="43200" rIns="43200" tIns="18000" bIns="18000" anchor="ctr">
            <a:spAutoFit/>
          </a:bodyPr>
          <a:lstStyle/>
          <a:p>
            <a:pPr algn="ctr"/>
            <a:r>
              <a:rPr sz="1050" b="0" i="1">
                <a:solidFill>
                  <a:srgbClr val="A5A5A5"/>
                </a:solidFill>
                <a:latin typeface="Corbel"/>
              </a:rPr>
              <a:t>Noms des serveurs : RDS-&lt;rôle&gt;&lt;numéro&gt;, créés au fil des ateliers.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Déroulé de la formation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3500" y="1498600"/>
          <a:ext cx="8991600" cy="492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7200"/>
                <a:gridCol w="2997200"/>
                <a:gridCol w="2997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Atelier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Concepts, licences et positionnement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Déploiement et publication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Ferme de sessions et RemoteApp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Expérience utilisateur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FSLogix et stratégies de groupe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Sécurisation et accès externe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Passerelle RDS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Haute disponibilité et exploitation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Connection Broker HA et diagnostic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Postes de travail virtuels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Collection VDI Windows 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Clôture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—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Logistique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Pauses selon les besoins</a:t>
            </a:r>
          </a:p>
          <a:p>
            <a:pPr lvl="0"/>
            <a:r>
              <a:rPr/>
              <a:t>Accès à l’environnement de formation</a:t>
            </a:r>
          </a:p>
          <a:p>
            <a:pPr lvl="0"/>
            <a:r>
              <a:rPr/>
              <a:t>Questions bienvenues à tout moment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Tour de table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Nom, société, fonction</a:t>
            </a:r>
          </a:p>
          <a:p>
            <a:pPr lvl="0"/>
            <a:r>
              <a:rPr/>
              <a:t>Expérience de RDS : taille de la ferme, usages</a:t>
            </a:r>
          </a:p>
          <a:p>
            <a:pPr lvl="0"/>
            <a:r>
              <a:rPr/>
              <a:t>Projet en cours : sessions, RemoteApp, accès externe, VDI</a:t>
            </a:r>
          </a:p>
          <a:p>
            <a:pPr lvl="0"/>
            <a:r>
              <a:rPr/>
              <a:t>Attentes vis-à-vis de la formation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Prérequis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Connaissances de base des technologies réseau : DNS, certificats, pare-feu</a:t>
            </a:r>
          </a:p>
          <a:p>
            <a:pPr lvl="0"/>
            <a:r>
              <a:rPr/>
              <a:t>Expérience d’utilisation</a:t>
            </a:r>
          </a:p>
          <a:p>
            <a:pPr lvl="1"/>
            <a:r>
              <a:rPr/>
              <a:t>d’un environnement de virtualisation, idéalement Hyper-V</a:t>
            </a:r>
          </a:p>
          <a:p>
            <a:pPr lvl="1"/>
            <a:r>
              <a:rPr/>
              <a:t>du système d’exploitation Windows Server</a:t>
            </a:r>
          </a:p>
          <a:p>
            <a:pPr lvl="1"/>
            <a:r>
              <a:rPr/>
              <a:t>de l’annuaire Active Directory et des stratégies de groupe</a:t>
            </a:r>
          </a:p>
          <a:p>
            <a:pPr lvl="1"/>
            <a:r>
              <a:rPr/>
              <a:t>des outils de gestion, d’analyse et de dépannage réseau</a:t>
            </a:r>
          </a:p>
          <a:p>
            <a:pPr lvl="0"/>
            <a:r>
              <a:rPr/>
              <a:t>Commandes PowerShell simples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Présentation des services Bureau à distance</a:t>
            </a:r>
          </a:p>
          <a:p>
            <a:pPr lvl="0"/>
            <a:r>
              <a:rPr/>
              <a:t>Déploiement de l’infrastructure et applications distantes</a:t>
            </a:r>
          </a:p>
          <a:p>
            <a:pPr lvl="0"/>
            <a:r>
              <a:rPr/>
              <a:t>Configuration de l’expérience utilisateur</a:t>
            </a:r>
          </a:p>
          <a:p>
            <a:pPr lvl="0"/>
            <a:r>
              <a:rPr/>
              <a:t>Sécurisation et passerelle des services Bureau à distance</a:t>
            </a:r>
          </a:p>
          <a:p>
            <a:pPr lvl="0"/>
            <a:r>
              <a:rPr/>
              <a:t>Haute disponibilité et exploitation</a:t>
            </a:r>
          </a:p>
          <a:p>
            <a:pPr lvl="0"/>
            <a:r>
              <a:rPr/>
              <a:t>Infrastructure de postes de travail virtuels (VDI)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Avez-vous des questions ?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èle EGILI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_EGILIA-Template.potx" id="{308816F5-4877-444A-9C2E-10E8B589F71D}" vid="{A8E82A1B-84CC-4282-8223-F7357AEA6CE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EGILIA-Template%20v2.5</Template>
  <TotalTime>0</TotalTime>
  <Words>0</Words>
  <Application>Microsoft Office PowerPoint</Application>
  <PresentationFormat>Affichage à l'écran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7" baseType="lpstr">
      <vt:lpstr>Arial</vt:lpstr>
      <vt:lpstr>Calibri</vt:lpstr>
      <vt:lpstr>Corbel</vt:lpstr>
      <vt:lpstr>Wingdings</vt:lpstr>
      <vt:lpstr>Wingdings 2</vt:lpstr>
      <vt:lpstr>Wingdings 3</vt:lpstr>
      <vt:lpstr>Modèle EGILIA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2026-09-22T19:57:05Z</dcterms:created>
  <dcterms:modified xsi:type="dcterms:W3CDTF">2026-09-22T19:57:05Z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ion">
    <vt:lpwstr>Remote Desktop Services sous Windows Server 2025</vt:lpwstr>
  </property>
</Properties>
</file>