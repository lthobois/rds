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 showSpecialPlsOnTitleSld="0">
  <p:sldMasterIdLst>
    <p:sldMasterId id="2147484057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FF6600"/>
    <a:srgbClr val="003366"/>
    <a:srgbClr val="1C40A4"/>
    <a:srgbClr val="B48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94"/>
    <p:restoredTop autoAdjust="0" sz="99642"/>
  </p:normalViewPr>
  <p:slideViewPr>
    <p:cSldViewPr>
      <p:cViewPr varScale="1">
        <p:scale>
          <a:sx d="100" n="111"/>
          <a:sy d="100" n="111"/>
        </p:scale>
        <p:origin x="1650" y="108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notesViewPr>
    <p:cSldViewPr>
      <p:cViewPr varScale="1">
        <p:scale>
          <a:sx d="100" n="71"/>
          <a:sy d="100" n="71"/>
        </p:scale>
        <p:origin x="3222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7F6F-E004-4414-8178-04C7568A565A}" type="datetimeFigureOut">
              <a:rPr lang="fr-FR" smtClean="0"/>
              <a:pPr/>
              <a:t>03/04/2020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274BD-2225-430E-B195-718FE1CD5BB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5456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 module construit la ferme de sessions d’Avaedos. Il se termine par l’atelier 1, qui en reprend toutes les étapes.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Schéma : les serveurs du déploiement de l’atelier 1 et leurs rôles, avec le poste client.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La passerelle, la haute disponibilité et le VDI viendront s’ajouter aux ateliers suivants.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déploiement se pilote depuis un seul serveur, qui installe les rôles à distance sur les autres : la gestion à distance (WinRM) doit donc fonctionner avant de lancer l’assistant.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Chez Avaedos, le compte </a:t>
            </a:r>
            <a:r>
              <a:rPr>
                <a:latin typeface="Courier"/>
              </a:rPr>
              <a:t>AVAEDOS\Administrator</a:t>
            </a:r>
            <a:r>
              <a:rPr/>
              <a:t> membre de </a:t>
            </a:r>
            <a:r>
              <a:rPr>
                <a:latin typeface="Courier"/>
              </a:rPr>
              <a:t>Domain Admins</a:t>
            </a:r>
            <a:r>
              <a:rPr/>
              <a:t> sert à tous les ateliers.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L’exemple montre la logique du calcul, pas une valeur de référence : les navigateurs et Microsoft 365 Apps consomment beaucoup de mémoire par session. Il faut mesurer sur un pilote représentatif.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Préférer plusieurs hôtes moyens à un seul gros serveur : la perte d’un hôte n’affecte alors qu’une partie des utilisateurs.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démarrage rapide installe tous les rôles sur un seul serveur et crée une collection : utile pour une démonstration, jamais pour la production.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Le scénario basé sur les machines virtuelles correspond au VDI, traité au module 6. Un même déploiement peut contenir des collections des deux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Capture à refaire sous Windows Server 2025.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Après l’installation, la vue d’ensemble des services Bureau à distance dans Server Manager montre le schéma du déploiement : c’est depuis cet écran qu’on ajoute les autres rôles.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PowerShell rend le déploiement reproductible et documenté. La plupart des commandes du module prennent le paramètre </a:t>
            </a:r>
            <a:r>
              <a:rPr>
                <a:latin typeface="Courier"/>
              </a:rPr>
              <a:t>-ConnectionBroker</a:t>
            </a:r>
            <a:r>
              <a:rPr/>
              <a:t>, qui désigne le déploiement ciblé.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Chez Avaedos, le serveur de licences est installé sur RDS-CBROKER1. Pour des CAL 2025, il doit être en Windows Server 2025.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L’activation et l’installation des CAL se font dans le Gestionnaire de licences des services Bureau à distance. Le serveur est ajouté au groupe Active Directory « Terminal Server License Servers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Capture du Gestionnaire de licences à refaire sous Windows Server 2025.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Le diagnostic des licences (</a:t>
            </a:r>
            <a:r>
              <a:rPr>
                <a:latin typeface="Courier"/>
              </a:rPr>
              <a:t>lsdiag.msc</a:t>
            </a:r>
            <a:r>
              <a:rPr/>
              <a:t>) vérifie ensuite la cohérence entre le mode déclaré, le serveur et les CAL installées.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Capture à refaire sous Windows Server 2025.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Windows Admin Center ne propose pas de gestion complète des déploiements RDS : Server Manager et PowerShell restent les outils de référence.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Ces outils restent très utiles en dépannage, notamment directement sur un hôte de session. </a:t>
            </a:r>
            <a:r>
              <a:rPr>
                <a:latin typeface="Courier"/>
              </a:rPr>
              <a:t>change logon /drain</a:t>
            </a:r>
            <a:r>
              <a:rPr/>
              <a:t> est l’équivalent local du mode drainage vu au module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Faire exécuter </a:t>
            </a:r>
            <a:r>
              <a:rPr>
                <a:latin typeface="Courier"/>
              </a:rPr>
              <a:t>Get-Command -Module RemoteDesktop</a:t>
            </a:r>
            <a:r>
              <a:rPr/>
              <a:t> pendant l’atelier : le module couvre l’ensemble du cycle de vie, du déploiement à la gestion des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collection est l’unité de configuration et d’exploitation. Des collections distinctes se justifient lorsque les applications, les utilisateurs ou les paramètres de sécurité diffèrent.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Schéma : la collection RdsSesColl1 regroupe RDS-SESSION1 et RDS-SESSION2 et publie le bureau ; la collection RdsAppColl1 regroupe RDS-SESSION3 et RDS-SESSION4 et publie les RemoteApp ; toutes deux sont ouvertes au groupe RDS Users.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Chaque collection est typée et chaque hôte n’appartient qu’à une collection. Les utilisateurs ne choisissent jamais l’hôte : le Connection Broker s’en 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Capture à refaire sous Windows Server 2025.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La collection ajoute automatiquement le groupe autorisé au groupe local Remote Desktop Users de chaque hôte.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Parcourir ces onglets dans Server Manager pendant l’atelier. Au module 3, une partie de ces paramètres sera centralisée par stratégie de groupe, qui l’emporte sur la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mode installation capture les écritures dans le profil et le registre utilisateur pour les rejouer à chaque session. Les installateurs MSI récents le déclenchent automatiquement.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Une application installée sur un seul hôte provoque des erreurs aléatoires selon le serveur choisi par le Connection Broker : c’est un grand classique du dépannage. Automatiser l’installation par script garantit l’identité des hôtes.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Chez Avaedos, les RemoteApp sont publiées dans une collection dédiée, RdsAppColl1 : le bureau de RdsSesColl1 reste visible. Dans une collection qui publie les deux, </a:t>
            </a:r>
            <a:r>
              <a:rPr>
                <a:latin typeface="Courier"/>
              </a:rPr>
              <a:t>Set-RDRemoteDesktop -ShowInWebAccess $true</a:t>
            </a:r>
            <a:r>
              <a:rPr/>
              <a:t> rend le bureau de nouveau visible.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Le Bloc-notes et la Table des caractères sont publiés à l’atelier 1 : ils sont présents sur tous les hôtes. WordPad n’existe plus dans Windows Server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Capture à refaire sous Windows Server 2025.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Le paramètre </a:t>
            </a:r>
            <a:r>
              <a:rPr>
                <a:latin typeface="Courier"/>
              </a:rPr>
              <a:t>-UserGroups</a:t>
            </a:r>
            <a:r>
              <a:rPr/>
              <a:t> limite la visibilité d’une application à certains groupes.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flux d’abonnement (</a:t>
            </a:r>
            <a:r>
              <a:rPr>
                <a:latin typeface="Courier"/>
              </a:rPr>
              <a:t>https://rds.avaedos.lan/RDWeb/Feed/webfeed.aspx</a:t>
            </a:r>
            <a:r>
              <a:rPr/>
              <a:t>) peut être découvert automatiquement par adresse de messagerie grâce à un enregistrement DNS, ou poussé par stratégie de groupe sur les postes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Schéma : les différents points d’accès des utilisateurs convergent vers l’accès Web et le Connection Broker.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Quel que soit le point d’accès, la décision de connexion revient au Connection Broker.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client web s’installe sur le serveur d’accès Web, ici RDS-GATEWAY1. Il passe obligatoirement par la passerelle RDS : chez Avaedos, il est donc installé à l’atelier 3, une fois la passerelle déployée. Il exige aussi un certificat du Connection Broker approuvé par les navigateurs, à réimporter à chaque renouvellement avec </a:t>
            </a:r>
            <a:r>
              <a:rPr>
                <a:latin typeface="Courier"/>
              </a:rPr>
              <a:t>Import-RDWebClientBrokerCert</a:t>
            </a:r>
            <a:r>
              <a:rPr/>
              <a:t>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Sans accès Internet sur le serveur d’accès Web, le module et le paquet se téléchargent depuis un autre poste (</a:t>
            </a:r>
            <a:r>
              <a:rPr>
                <a:latin typeface="Courier"/>
              </a:rPr>
              <a:t>Save-RDWebClientPackage</a:t>
            </a:r>
            <a:r>
              <a:rPr/>
              <a:t>, </a:t>
            </a:r>
            <a:r>
              <a:rPr>
                <a:latin typeface="Courier"/>
              </a:rPr>
              <a:t>Save-Module</a:t>
            </a:r>
            <a:r>
              <a:rPr/>
              <a:t>) puis s’installent avec </a:t>
            </a:r>
            <a:r>
              <a:rPr>
                <a:latin typeface="Courier"/>
              </a:rPr>
              <a:t>Install-RDWebClientPackage -Source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 Windows, Windows App ne se connecte pas aujourd’hui à RDS sur site : on utilise le client intégré </a:t>
            </a:r>
            <a:r>
              <a:rPr>
                <a:latin typeface="Courier"/>
              </a:rPr>
              <a:t>mstsc</a:t>
            </a:r>
            <a:r>
              <a:rPr/>
              <a:t>. Le client Bureau à distance MSRDC est en fin de support depuis mars 2026, ce qui ne concerne pas </a:t>
            </a:r>
            <a:r>
              <a:rPr>
                <a:latin typeface="Courier"/>
              </a:rPr>
              <a:t>mstsc</a:t>
            </a:r>
            <a:r>
              <a:rPr/>
              <a:t>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Sur les autres plateformes, Windows App accepte l’URL du flux d’abonnement.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Capture à refaire sous Windows Server 2025.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>
                <a:latin typeface="Courier"/>
              </a:rPr>
              <a:t>mstsc /span</a:t>
            </a:r>
            <a:r>
              <a:rPr/>
              <a:t> étend la session sur plusieurs écrans comme un seul grand écran ; </a:t>
            </a:r>
            <a:r>
              <a:rPr>
                <a:latin typeface="Courier"/>
              </a:rPr>
              <a:t>/multimon</a:t>
            </a:r>
            <a:r>
              <a:rPr/>
              <a:t> présente chaque écran séparément à la session, ce qui est plus confortable.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Résultat attendu : Loïc THOBOIS ouvre un bureau de session et lance une RemoteApp depuis le portail d’accès Web. Vérification : </a:t>
            </a:r>
            <a:r>
              <a:rPr>
                <a:latin typeface="Courier"/>
              </a:rPr>
              <a:t>Get-RDUserSession</a:t>
            </a:r>
            <a:r>
              <a:rPr/>
              <a:t> affiche les sessions et leur hôte.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Cette infrastructure sert de base à tous les ateliers suivants.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Faire formuler le rôle d’une collection avant de passer à la configuration de l’expérience 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27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18"/>
          <p:cNvSpPr>
            <a:spLocks noGrp="1"/>
          </p:cNvSpPr>
          <p:nvPr>
            <p:ph type="title" hasCustomPrompt="1"/>
          </p:nvPr>
        </p:nvSpPr>
        <p:spPr>
          <a:xfrm>
            <a:off x="71406" y="5286388"/>
            <a:ext cx="9001188" cy="571504"/>
          </a:xfr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marL="0" algn="r" defTabSz="914400" rtl="0" eaLnBrk="1" latinLnBrk="0" hangingPunct="1">
              <a:defRPr lang="fr-FR" sz="2800" b="0" kern="1200" cap="none" spc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dirty="0"/>
              <a:t>MODULE : Titre du module</a:t>
            </a:r>
          </a:p>
        </p:txBody>
      </p:sp>
      <p:sp>
        <p:nvSpPr>
          <p:cNvPr id="7" name="Espace réservé du pied de page 13"/>
          <p:cNvSpPr txBox="1">
            <a:spLocks/>
          </p:cNvSpPr>
          <p:nvPr userDrawn="1"/>
        </p:nvSpPr>
        <p:spPr>
          <a:xfrm>
            <a:off x="6000728" y="6476998"/>
            <a:ext cx="3070678" cy="381002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Copyright © AVAEDOS. All rights reserved</a:t>
            </a:r>
            <a:endParaRPr kumimoji="0" lang="fr-BE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1406" y="5893635"/>
            <a:ext cx="9000000" cy="360000"/>
          </a:xfrm>
        </p:spPr>
        <p:txBody>
          <a:bodyPr>
            <a:noAutofit/>
          </a:bodyPr>
          <a:lstStyle>
            <a:lvl1pPr marL="0" indent="0" algn="r" defTabSz="900000">
              <a:buNone/>
              <a:defRPr lang="en-US" sz="1600" b="1" kern="1200" dirty="0" smtClean="0">
                <a:solidFill>
                  <a:srgbClr val="FF99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fr-FR" noProof="0" dirty="0"/>
              <a:t>Titre de la formation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5759"/>
            <a:ext cx="9144000" cy="50572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588" y="1635622"/>
            <a:ext cx="4033636" cy="149898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" grpId="0" build="p">
        <p:tmplLst>
          <p:tmpl lvl="1">
            <p:tnLst>
              <p:par>
                <p:cTn presetID="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71406" y="1500174"/>
            <a:ext cx="9001188" cy="4929221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492922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colonne à gauche et 2 blocs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492922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8" name="Espace réservé du contenu 3"/>
          <p:cNvSpPr>
            <a:spLocks noGrp="1"/>
          </p:cNvSpPr>
          <p:nvPr>
            <p:ph sz="half" idx="14"/>
          </p:nvPr>
        </p:nvSpPr>
        <p:spPr>
          <a:xfrm>
            <a:off x="4750388" y="400050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colonne à droite et 2 blocs à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0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1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3" name="Espace réservé du contenu 3"/>
          <p:cNvSpPr>
            <a:spLocks noGrp="1"/>
          </p:cNvSpPr>
          <p:nvPr>
            <p:ph sz="half" idx="14"/>
          </p:nvPr>
        </p:nvSpPr>
        <p:spPr>
          <a:xfrm>
            <a:off x="4750388" y="400050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ligne en haut et 2 blocs en b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14"/>
          </p:nvPr>
        </p:nvSpPr>
        <p:spPr>
          <a:xfrm>
            <a:off x="4750388" y="400050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ligne en bas et 2 blocs en h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2755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/>
              <a:t>Avez-vous des questions ?</a:t>
            </a:r>
          </a:p>
        </p:txBody>
      </p:sp>
      <p:pic>
        <p:nvPicPr>
          <p:cNvPr id="4" name="Picture 5" descr="questionmark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407" y="1500188"/>
            <a:ext cx="4929187" cy="492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32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9"/>
          <p:cNvGrpSpPr/>
          <p:nvPr userDrawn="1"/>
        </p:nvGrpSpPr>
        <p:grpSpPr>
          <a:xfrm>
            <a:off x="285720" y="428604"/>
            <a:ext cx="8643998" cy="5929354"/>
            <a:chOff x="285720" y="428604"/>
            <a:chExt cx="8643998" cy="5929354"/>
          </a:xfrm>
        </p:grpSpPr>
        <p:pic>
          <p:nvPicPr>
            <p:cNvPr id="5" name="Picture 4" descr="C:\Users\EGILIAlearning\Desktop\EGILIA ACADEMY Marie\LOGOS\fond diplome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85720" y="428604"/>
              <a:ext cx="8643998" cy="59293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71"/>
            <p:cNvSpPr>
              <a:spLocks noChangeArrowheads="1"/>
            </p:cNvSpPr>
            <p:nvPr/>
          </p:nvSpPr>
          <p:spPr bwMode="auto">
            <a:xfrm>
              <a:off x="1285853" y="1214422"/>
              <a:ext cx="6715172" cy="4429156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Rectangle 2"/>
          <p:cNvSpPr txBox="1">
            <a:spLocks noChangeArrowheads="1"/>
          </p:cNvSpPr>
          <p:nvPr userDrawn="1"/>
        </p:nvSpPr>
        <p:spPr bwMode="auto">
          <a:xfrm>
            <a:off x="1357290" y="2691466"/>
            <a:ext cx="6586538" cy="55399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3000" b="1" dirty="0">
                <a:latin typeface="Arial" pitchFamily="34" charset="0"/>
                <a:cs typeface="Arial" pitchFamily="34" charset="0"/>
              </a:rPr>
              <a:t>Félicitations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1357290" y="4383107"/>
            <a:ext cx="6586538" cy="928694"/>
          </a:xfrm>
        </p:spPr>
        <p:txBody>
          <a:bodyPr/>
          <a:lstStyle>
            <a:lvl1pPr algn="ctr">
              <a:defRPr b="0" i="0" baseline="0">
                <a:ln w="18415" cmpd="sng">
                  <a:noFill/>
                  <a:prstDash val="solid"/>
                </a:ln>
                <a:solidFill>
                  <a:srgbClr val="FF9900"/>
                </a:solidFill>
                <a:effectLst>
                  <a:reflection blurRad="6350" stA="55000" endA="50" endPos="85000" dir="5400000" sy="-100000" algn="bl" rotWithShape="0"/>
                </a:effectLst>
              </a:defRPr>
            </a:lvl1pPr>
          </a:lstStyle>
          <a:p>
            <a:pPr algn="ctr">
              <a:spcBef>
                <a:spcPct val="50000"/>
              </a:spcBef>
            </a:pPr>
            <a:r>
              <a:rPr lang="fr-FR" sz="3200" b="1" dirty="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Titre du Module</a:t>
            </a:r>
            <a:endParaRPr lang="fr-FR" sz="3200" dirty="0">
              <a:solidFill>
                <a:srgbClr val="FF99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 Box 77"/>
          <p:cNvSpPr txBox="1">
            <a:spLocks noChangeArrowheads="1"/>
          </p:cNvSpPr>
          <p:nvPr userDrawn="1"/>
        </p:nvSpPr>
        <p:spPr bwMode="auto">
          <a:xfrm>
            <a:off x="1928024" y="3429000"/>
            <a:ext cx="5329237" cy="95410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2800" u="none" dirty="0">
                <a:latin typeface="Arial" pitchFamily="34" charset="0"/>
                <a:cs typeface="Arial" pitchFamily="34" charset="0"/>
              </a:rPr>
              <a:t>Vous avez suivi avec succès le module</a:t>
            </a:r>
            <a:endParaRPr lang="fr-FR" sz="3200" u="none" dirty="0">
              <a:solidFill>
                <a:srgbClr val="FF99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588" y="1635622"/>
            <a:ext cx="4033636" cy="14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331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2.png"/><Relationship Id="rId15" Type="http://schemas.openxmlformats.org/officeDocument/2006/relationships/image" Target="../media/image3.jpeg"/><Relationship Id="rId16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760"/>
            <a:ext cx="9144000" cy="135153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fr-FR"/>
          </a:p>
        </p:txBody>
      </p:sp>
      <p:pic>
        <p:nvPicPr>
          <p:cNvPr descr="C:\Users\EGILIAlearning\Desktop\EGILIA ACADEMY Marie\LOGOS\Essai bandeau bas 1.png" id="11" name="Picture 10"/>
          <p:cNvPicPr>
            <a:picLocks noChangeArrowheads="1"/>
          </p:cNvPicPr>
          <p:nvPr userDrawn="1"/>
        </p:nvPicPr>
        <p:blipFill>
          <a:blip cstate="print"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00834"/>
            <a:ext cx="9144000" cy="360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 userDrawn="1"/>
        </p:nvSpPr>
        <p:spPr>
          <a:xfrm>
            <a:off x="0" y="6596390"/>
            <a:ext cx="9144000" cy="261610"/>
          </a:xfrm>
          <a:prstGeom prst="rect">
            <a:avLst/>
          </a:prstGeom>
          <a:noFill/>
        </p:spPr>
        <p:txBody>
          <a:bodyPr anchor="b" rtlCol="0" wrap="square">
            <a:spAutoFit/>
          </a:bodyPr>
          <a:lstStyle/>
          <a:p>
            <a:pPr algn="ctr" defTabSz="914400" eaLnBrk="1" fontAlgn="auto" hangingPunct="1" indent="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lang="en-US" noProof="0" sz="1100">
                <a:solidFill>
                  <a:schemeClr val="bg1"/>
                </a:solidFill>
              </a:rPr>
              <a:t>Copyright © AVAEDOS. All rights reserved</a:t>
            </a: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406" y="428604"/>
            <a:ext cx="7715304" cy="928694"/>
          </a:xfrm>
          <a:prstGeom prst="rect">
            <a:avLst/>
          </a:prstGeom>
          <a:noFill/>
        </p:spPr>
        <p:txBody>
          <a:bodyPr anchor="ctr" lIns="91440" rIns="45720" rtlCol="0" vert="horz">
            <a:noAutofit/>
          </a:bodyPr>
          <a:lstStyle/>
          <a:p>
            <a:r>
              <a:rPr dirty="0" kumimoji="0" lang="fr-FR"/>
              <a:t>Cliquez pour modifier le style du titre</a:t>
            </a:r>
            <a:endParaRPr dirty="0"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idx="1" type="body"/>
          </p:nvPr>
        </p:nvSpPr>
        <p:spPr>
          <a:xfrm>
            <a:off x="71406" y="1500174"/>
            <a:ext cx="9001188" cy="4929222"/>
          </a:xfrm>
          <a:prstGeom prst="rect">
            <a:avLst/>
          </a:prstGeom>
        </p:spPr>
        <p:txBody>
          <a:bodyPr lIns="54864" rtlCol="0" tIns="91440" vert="horz">
            <a:normAutofit/>
          </a:bodyPr>
          <a:lstStyle/>
          <a:p>
            <a:pPr eaLnBrk="1" hangingPunct="1" latinLnBrk="0" lvl="0"/>
            <a:r>
              <a:rPr dirty="0" kumimoji="0" lang="fr-FR"/>
              <a:t>Cliquez pour modifier les styles du texte du masque</a:t>
            </a:r>
          </a:p>
          <a:p>
            <a:pPr eaLnBrk="1" hangingPunct="1" latinLnBrk="0" lvl="1"/>
            <a:r>
              <a:rPr dirty="0" kumimoji="0" lang="fr-FR"/>
              <a:t>Deuxième niveau</a:t>
            </a:r>
          </a:p>
          <a:p>
            <a:pPr eaLnBrk="1" hangingPunct="1" latinLnBrk="0" lvl="2"/>
            <a:r>
              <a:rPr dirty="0" kumimoji="0" lang="fr-FR"/>
              <a:t>Troisième niveau</a:t>
            </a:r>
          </a:p>
          <a:p>
            <a:pPr eaLnBrk="1" hangingPunct="1" latinLnBrk="0" lvl="3"/>
            <a:r>
              <a:rPr dirty="0" kumimoji="0" lang="fr-FR"/>
              <a:t>Quatrième niveau</a:t>
            </a:r>
          </a:p>
          <a:p>
            <a:pPr eaLnBrk="1" hangingPunct="1" latinLnBrk="0" lvl="4"/>
            <a:r>
              <a:rPr dirty="0" kumimoji="0" lang="fr-FR"/>
              <a:t>Cinquième niveau</a:t>
            </a:r>
            <a:endParaRPr dirty="0"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idx="4" sz="quarter" type="sldNum"/>
          </p:nvPr>
        </p:nvSpPr>
        <p:spPr>
          <a:xfrm>
            <a:off x="8338730" y="6593556"/>
            <a:ext cx="733864" cy="214290"/>
          </a:xfrm>
          <a:prstGeom prst="rect">
            <a:avLst/>
          </a:prstGeom>
        </p:spPr>
        <p:txBody>
          <a:bodyPr anchor="b" bIns="0" rtlCol="0" vert="horz"/>
          <a:lstStyle>
            <a:lvl1pPr algn="r" eaLnBrk="1" hangingPunct="1" latinLnBrk="0">
              <a:defRPr kumimoji="0" sz="1200">
                <a:solidFill>
                  <a:schemeClr val="bg1"/>
                </a:solidFill>
              </a:defRPr>
            </a:lvl1pPr>
            <a:extLst/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cstate="screen"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871" y="44624"/>
            <a:ext cx="1490633" cy="55395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cstate="screen"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504136"/>
            <a:ext cx="971600" cy="361068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lt2" folHlink="folHlink" hlink="hlink" tx1="dk1" tx2="dk2"/>
  <p:sldLayoutIdLst>
    <p:sldLayoutId id="2147484058" r:id="rId1"/>
    <p:sldLayoutId id="2147484059" r:id="rId2"/>
    <p:sldLayoutId id="2147484061" r:id="rId3"/>
    <p:sldLayoutId id="2147484063" r:id="rId4"/>
    <p:sldLayoutId id="2147484068" r:id="rId5"/>
    <p:sldLayoutId id="2147484062" r:id="rId6"/>
    <p:sldLayoutId id="2147484069" r:id="rId7"/>
    <p:sldLayoutId id="2147484070" r:id="rId8"/>
    <p:sldLayoutId id="2147484071" r:id="rId9"/>
    <p:sldLayoutId id="2147484074" r:id="rId10"/>
    <p:sldLayoutId id="2147484073" r:id="rId11"/>
    <p:sldLayoutId id="2147484072" r:id="rId12"/>
  </p:sldLayoutIdLst>
  <p:hf dt="0" hdr="0"/>
  <p:txStyles>
    <p:titleStyle>
      <a:lvl1pPr algn="l" eaLnBrk="1" hangingPunct="1" latinLnBrk="0" rtl="0">
        <a:spcBef>
          <a:spcPct val="0"/>
        </a:spcBef>
        <a:buNone/>
        <a:defRPr b="0" cap="none" kern="1200" kumimoji="0" spc="0" sz="3200">
          <a:ln cmpd="sng" w="18415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algn="tl" blurRad="63500" dir="3600000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algn="l" eaLnBrk="1" hangingPunct="1" indent="-320040" latinLnBrk="0" marL="438912" rtl="0">
        <a:spcBef>
          <a:spcPts val="0"/>
        </a:spcBef>
        <a:buClr>
          <a:schemeClr val="accent1"/>
        </a:buClr>
        <a:buSzPct val="80000"/>
        <a:buFont typeface="Wingdings 2"/>
        <a:buChar char=""/>
        <a:defRPr kern="1200" kumimoji="0" sz="320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indent="-274320" latinLnBrk="0" marL="731520" rtl="0">
        <a:spcBef>
          <a:spcPct val="20000"/>
        </a:spcBef>
        <a:buClr>
          <a:schemeClr val="accent2"/>
        </a:buClr>
        <a:buSzPct val="90000"/>
        <a:buFont typeface="Wingdings"/>
        <a:buChar char=""/>
        <a:defRPr kern="1200" kumimoji="0" sz="280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indent="-228600" latinLnBrk="0" marL="996696" rtl="0">
        <a:spcBef>
          <a:spcPct val="20000"/>
        </a:spcBef>
        <a:buClr>
          <a:schemeClr val="accent3"/>
        </a:buClr>
        <a:buFont typeface="Arial"/>
        <a:buChar char="▪"/>
        <a:defRPr kern="1200" kumimoji="0" sz="240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indent="-182880" latinLnBrk="0" marL="1216152" rtl="0">
        <a:spcBef>
          <a:spcPct val="20000"/>
        </a:spcBef>
        <a:buClr>
          <a:schemeClr val="accent4"/>
        </a:buClr>
        <a:buFont typeface="Arial"/>
        <a:buChar char="▪"/>
        <a:defRPr kern="1200" kumimoji="0" sz="200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indent="-182880" latinLnBrk="0" marL="1426464" rtl="0">
        <a:spcBef>
          <a:spcPct val="20000"/>
        </a:spcBef>
        <a:buClr>
          <a:schemeClr val="accent5"/>
        </a:buClr>
        <a:buFont typeface="Wingdings 3"/>
        <a:buChar char=""/>
        <a:defRPr kern="1200" kumimoji="0" lang="en-US" smtClean="0" sz="200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indent="-182880" latinLnBrk="0" marL="1627632" rtl="0">
        <a:spcBef>
          <a:spcPct val="20000"/>
        </a:spcBef>
        <a:buClr>
          <a:schemeClr val="accent6"/>
        </a:buClr>
        <a:buSzPct val="100000"/>
        <a:buFont typeface="Wingdings 2"/>
        <a:buChar char=""/>
        <a:defRPr kern="1200" kumimoji="0" sz="200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indent="-182880" latinLnBrk="0" marL="1828800" rtl="0">
        <a:spcBef>
          <a:spcPct val="20000"/>
        </a:spcBef>
        <a:buClr>
          <a:schemeClr val="accent1"/>
        </a:buClr>
        <a:buSzPct val="100000"/>
        <a:buFont typeface="Wingdings 2"/>
        <a:buChar char=""/>
        <a:defRPr kern="1200" kumimoji="0" sz="180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indent="-182880" latinLnBrk="0" marL="2029968" rtl="0">
        <a:spcBef>
          <a:spcPct val="20000"/>
        </a:spcBef>
        <a:buClr>
          <a:schemeClr val="accent2"/>
        </a:buClr>
        <a:buFont charset="2" pitchFamily="18" typeface="Wingdings 2"/>
        <a:buChar char=""/>
        <a:defRPr kern="1200" kumimoji="0" sz="180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indent="-182880" latinLnBrk="0" marL="2231136" rtl="0">
        <a:spcBef>
          <a:spcPct val="20000"/>
        </a:spcBef>
        <a:buClr>
          <a:schemeClr val="accent3"/>
        </a:buClr>
        <a:buFont charset="2" pitchFamily="18" typeface="Wingdings 2"/>
        <a:buChar char=""/>
        <a:defRPr baseline="0" kern="1200" kumimoji="0" sz="18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algn="l" eaLnBrk="1" hangingPunct="1" latinLnBrk="0" marL="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latinLnBrk="0" marL="457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latinLnBrk="0" marL="914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latinLnBrk="0" marL="1371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latinLnBrk="0" marL="18288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latinLnBrk="0" marL="22860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latinLnBrk="0" marL="2743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latinLnBrk="0" marL="3200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latinLnBrk="0" marL="3657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18"/>
          <p:cNvSpPr>
            <a:spLocks noGrp="1"/>
          </p:cNvSpPr>
          <p:nvPr>
            <p:ph hasCustomPrompt="1" type="title"/>
          </p:nvPr>
        </p:nvSpPr>
        <p:spPr>
          <a:xfrm>
            <a:off x="71406" y="5286388"/>
            <a:ext cx="9001188" cy="571504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Module 2 : Déploiement et publication des ressources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Remote Desktop Services sous Windows Server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Prérequis et dimensionnement</a:t>
            </a:r>
          </a:p>
          <a:p>
            <a:pPr lvl="0"/>
            <a:r>
              <a:rPr/>
              <a:t>Méthodes de déploiement</a:t>
            </a:r>
          </a:p>
          <a:p>
            <a:pPr lvl="0"/>
            <a:r>
              <a:rPr/>
              <a:t>Le serveur de licences</a:t>
            </a:r>
          </a:p>
          <a:p>
            <a:pPr lvl="0"/>
            <a:r>
              <a:rPr/>
              <a:t>Administration de l’infrastructure</a:t>
            </a:r>
          </a:p>
          <a:p>
            <a:pPr lvl="0"/>
            <a:r>
              <a:rPr/>
              <a:t>Les collections</a:t>
            </a:r>
          </a:p>
          <a:p>
            <a:pPr lvl="0"/>
            <a:r>
              <a:rPr/>
              <a:t>Installation et publication des applications</a:t>
            </a:r>
          </a:p>
          <a:p>
            <a:pPr lvl="0"/>
            <a:r>
              <a:rPr/>
              <a:t>Distribution des ressources et clients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déploiement cible d’Avaedos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3" name="Rounded Rectangle 12"/>
          <p:cNvSpPr/>
          <p:nvPr/>
        </p:nvSpPr>
        <p:spPr>
          <a:xfrm>
            <a:off x="288000" y="3024000"/>
            <a:ext cx="1584000" cy="792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RDS-CLI1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lthobois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6000" y="3024000"/>
            <a:ext cx="1872000" cy="792000"/>
          </a:xfrm>
          <a:prstGeom prst="roundRect">
            <a:avLst>
              <a:gd name="adj" fmla="val 8000"/>
            </a:avLst>
          </a:prstGeom>
          <a:solidFill>
            <a:srgbClr val="FFC000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RDS-GATEWAY1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accès Web, rds.avaedos.lan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2000" y="3024000"/>
            <a:ext cx="1872000" cy="792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RDS-CBROKER1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rbel"/>
              </a:rPr>
              <a:t>Connection Broker, licences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000" y="1728000"/>
            <a:ext cx="2016000" cy="2016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84000" y="1746000"/>
            <a:ext cx="1872000" cy="21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l"/>
            <a:r>
              <a:rPr sz="900" b="1">
                <a:solidFill>
                  <a:srgbClr val="A5A5A5"/>
                </a:solidFill>
                <a:latin typeface="Corbel"/>
              </a:rPr>
              <a:t>RdsSesColl1 – bureau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6000" y="2016000"/>
            <a:ext cx="1728000" cy="6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RDS-SESSION1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56000" y="2844000"/>
            <a:ext cx="1728000" cy="6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RDS-SESSION2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12000" y="3888000"/>
            <a:ext cx="2016000" cy="2016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84000" y="3906000"/>
            <a:ext cx="1872000" cy="21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l"/>
            <a:r>
              <a:rPr sz="900" b="1">
                <a:solidFill>
                  <a:srgbClr val="A5A5A5"/>
                </a:solidFill>
                <a:latin typeface="Corbel"/>
              </a:rPr>
              <a:t>RdsAppColl1 – RemoteApp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6000" y="4176000"/>
            <a:ext cx="1728000" cy="6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RDS-SESSION3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56000" y="5004000"/>
            <a:ext cx="1728000" cy="6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RDS-SESSION4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72000" y="3420000"/>
            <a:ext cx="50400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48000" y="3420000"/>
            <a:ext cx="50400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24000" y="2736000"/>
            <a:ext cx="288000" cy="540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24000" y="3564000"/>
            <a:ext cx="288000" cy="1332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8000" y="6048000"/>
            <a:ext cx="8568000" cy="32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ctr"/>
            <a:r>
              <a:rPr sz="1050" b="0" i="1">
                <a:solidFill>
                  <a:srgbClr val="A5A5A5"/>
                </a:solidFill>
                <a:latin typeface="Corbel"/>
              </a:rPr>
              <a:t>Viendront ensuite : la passerelle (atelier 3), la haute disponibilité (atelier 4), le VDI (atelier 5).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prérequis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Serveurs Windows Server 2025 membres du domaine</a:t>
            </a:r>
          </a:p>
          <a:p>
            <a:pPr lvl="0"/>
            <a:r>
              <a:rPr/>
              <a:t>Hôtes de session installés avec l’expérience de bureau</a:t>
            </a:r>
          </a:p>
          <a:p>
            <a:pPr lvl="0"/>
            <a:r>
              <a:rPr/>
              <a:t>Active Directory et DNS opérationnels</a:t>
            </a:r>
          </a:p>
          <a:p>
            <a:pPr lvl="0"/>
            <a:r>
              <a:rPr/>
              <a:t>Un compte d’administration membre des administrateurs locaux de chaque serveur</a:t>
            </a:r>
          </a:p>
          <a:p>
            <a:pPr lvl="0"/>
            <a:r>
              <a:rPr/>
              <a:t>Gestion à distance activée sur tous les serveurs</a:t>
            </a:r>
          </a:p>
          <a:p>
            <a:pPr lvl="0"/>
            <a:r>
              <a:rPr/>
              <a:t>Des certificats pour l’accès Web, la passerelle et le Connection Broker</a:t>
            </a:r>
          </a:p>
          <a:p>
            <a:pPr lvl="0"/>
            <a:r>
              <a:rPr/>
              <a:t>SQL Server pour la haute disponibilité du Connection Broker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Dimensionner les hôtes de session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 besoin dépend</a:t>
            </a:r>
          </a:p>
          <a:p>
            <a:pPr lvl="1"/>
            <a:r>
              <a:rPr/>
              <a:t>du nombre d’utilisateurs simultanés</a:t>
            </a:r>
          </a:p>
          <a:p>
            <a:pPr lvl="1"/>
            <a:r>
              <a:rPr/>
              <a:t>du nombre d’applications</a:t>
            </a:r>
          </a:p>
          <a:p>
            <a:pPr lvl="1"/>
            <a:r>
              <a:rPr/>
              <a:t>des ressources consommées par chaque application</a:t>
            </a:r>
          </a:p>
          <a:p>
            <a:pPr lvl="0"/>
            <a:r>
              <a:rPr/>
              <a:t>Exemple : 10 utilisateurs × 5 applications × 200 Mo par application</a:t>
            </a:r>
          </a:p>
          <a:p>
            <a:pPr lvl="1"/>
            <a:r>
              <a:rPr/>
              <a:t>environ 10 Go de mémoire pour les applications</a:t>
            </a:r>
          </a:p>
          <a:p>
            <a:pPr lvl="0"/>
            <a:r>
              <a:rPr/>
              <a:t>Mesurer sur un pilote avant de généraliser</a:t>
            </a:r>
          </a:p>
          <a:p>
            <a:pPr lvl="0"/>
            <a:r>
              <a:rPr/>
              <a:t>Prévoir une marge pour la perte d’un hôte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modes et scénarios de déploiement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3500" y="1498600"/>
          <a:ext cx="8991600" cy="492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/>
                <a:gridCol w="4495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Choix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Déploiement standard (plusieurs serveurs) ou démarrage rapide (un seul serveur)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Scénario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Basé sur les sessions ou basé sur les machines virtuelles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Assistant de Server Manager ou module PowerShell </a:t>
                      </a:r>
                      <a:r>
                        <a:rPr>
                          <a:latin typeface="Courier"/>
                        </a:rPr>
                        <a:t>RemoteDesktop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L’assistant de Server Manager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Ajouter tous les serveurs au pool de Server Manager</a:t>
            </a:r>
          </a:p>
          <a:p>
            <a:pPr lvl="0"/>
            <a:r>
              <a:rPr/>
              <a:t>Installation des services Bureau à distance</a:t>
            </a:r>
          </a:p>
          <a:p>
            <a:pPr lvl="0"/>
            <a:r>
              <a:rPr/>
              <a:t>Désigner le Connection Broker, l’accès Web et les hôtes de session</a:t>
            </a:r>
          </a:p>
          <a:p>
            <a:pPr lvl="0"/>
            <a:r>
              <a:rPr/>
              <a:t>Redémarrage automatique des hôtes de session</a:t>
            </a:r>
          </a:p>
          <a:p>
            <a:pPr lvl="0"/>
            <a:r>
              <a:rPr/>
              <a:t>Dépendances installées automatiquement : IIS pour l’accès Web</a:t>
            </a:r>
          </a:p>
        </p:txBody>
      </p:sp>
      <p:pic>
        <p:nvPicPr>
          <p:cNvPr descr="images/diapo-037-0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2425700"/>
            <a:ext cx="4318000" cy="307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Espace réservé du numéro de diapositive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même déploiement en PowerShell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Import-Module</a:t>
            </a:r>
            <a:r>
              <a:rPr>
                <a:latin typeface="Courier"/>
              </a:rPr>
              <a:t> RemoteDesktop</a:t>
            </a:r>
            <a:br/>
            <a:r>
              <a:rPr>
                <a:latin typeface="Courier"/>
              </a:rPr>
              <a:t>New-RDSessionDeployment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ConnectionBroker RDS-CBROKER1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WebAccessServer RDS-GATEWAY1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SessionHost RDS-SESSION1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RDS-SESSION2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             RDS-SESSION3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RDS-SESSION4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  <a:br/>
            <a:r>
              <a:rPr>
                <a:latin typeface="Courier"/>
              </a:rPr>
              <a:t>Get-RDServer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ConnectionBroker RDS-CBROKER1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Déployer le serveur de licences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Peu de ressources utilisées : un serveur existant suffit</a:t>
            </a:r>
          </a:p>
          <a:p>
            <a:pPr lvl="0"/>
            <a:r>
              <a:rPr/>
              <a:t>Ajouter le rôle au déploiement</a:t>
            </a:r>
          </a:p>
          <a:p>
            <a:pPr lvl="0"/>
            <a:r>
              <a:rPr/>
              <a:t>Activer le serveur auprès de Microsoft</a:t>
            </a:r>
          </a:p>
          <a:p>
            <a:pPr lvl="0"/>
            <a:r>
              <a:rPr/>
              <a:t>Installer les CAL à partir des informations de l’accord</a:t>
            </a:r>
          </a:p>
          <a:p>
            <a:pPr lvl="0"/>
            <a:r>
              <a:rPr/>
              <a:t>Déclarer le serveur et le mode de licence dans le déploiement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serveur de licences en PowerShell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Add-RDServer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Server RDS-CBROKER1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Role RDS-LICENSING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ConnectionBroker RDS-CBROKER1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  <a:br/>
            <a:r>
              <a:rPr>
                <a:latin typeface="Courier"/>
              </a:rPr>
              <a:t>Set-RDLicenseConfiguration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LicenseServer RDS-CBROKER1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Mode PerUser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ConnectionBroker RDS-CBROKER1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</a:p>
        </p:txBody>
      </p:sp>
      <p:pic>
        <p:nvPicPr>
          <p:cNvPr descr="images/diapo-048-0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3022600"/>
            <a:ext cx="43180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Espace réservé du numéro de diapositive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Administrer l’infrastructure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Intégré à Server Manager</a:t>
            </a:r>
          </a:p>
          <a:p>
            <a:pPr lvl="1"/>
            <a:r>
              <a:rPr/>
              <a:t>ajout et supervision des serveurs</a:t>
            </a:r>
          </a:p>
          <a:p>
            <a:pPr lvl="1"/>
            <a:r>
              <a:rPr/>
              <a:t>configuration du déploiement</a:t>
            </a:r>
          </a:p>
          <a:p>
            <a:pPr lvl="1"/>
            <a:r>
              <a:rPr/>
              <a:t>gestion des collections et des sessions</a:t>
            </a:r>
          </a:p>
          <a:p>
            <a:pPr lvl="0"/>
            <a:r>
              <a:rPr/>
              <a:t>Gestionnaire et diagnostic des licences</a:t>
            </a:r>
          </a:p>
          <a:p>
            <a:pPr lvl="0"/>
            <a:r>
              <a:rPr/>
              <a:t>Module PowerShell </a:t>
            </a:r>
            <a:r>
              <a:rPr>
                <a:latin typeface="Courier"/>
              </a:rPr>
              <a:t>RemoteDesktop</a:t>
            </a:r>
          </a:p>
        </p:txBody>
      </p:sp>
      <p:pic>
        <p:nvPicPr>
          <p:cNvPr descr="images/diapo-039-0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2311400"/>
            <a:ext cx="4318000" cy="328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Espace réservé du numéro de diapositive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outils en ligne de commande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3500" y="1498600"/>
          <a:ext cx="8991600" cy="492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/>
                <a:gridCol w="4495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Commande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msg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Envoyer un message aux utilisateurs connectés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query session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Lister les sessions d’un hôte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query process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Lister les processus des sessions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logoff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Fermer une session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tsdiscon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Déconnecter une session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tscon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Rattacher une session à une autre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reset session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Réinitialiser une session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change user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Passer en mode installation ou exécution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change logon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Autoriser ou bloquer les nouvelles connexions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module PowerShell RemoteDesktop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3500" y="1498600"/>
          <a:ext cx="8991600" cy="492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/>
                <a:gridCol w="4495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Commande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Get-RDServer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Rôles installés dans le déploiement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Get-RDSessionCollection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Collections de sessions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Get-RDRemoteApp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Applications publiées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Get-RDUserSession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Sessions ouvertes et leur hôte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Get-RDCertificate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Certificats du déploiement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Get-Command -Module RemoteDesktop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Liste complète des commandes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Administration par les collections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Une collection regroupe des hôtes identiques sous forme de ferme</a:t>
            </a:r>
          </a:p>
          <a:p>
            <a:pPr lvl="1"/>
            <a:r>
              <a:rPr/>
              <a:t>chaque hôte appartient à une seule collection</a:t>
            </a:r>
          </a:p>
          <a:p>
            <a:pPr lvl="1"/>
            <a:r>
              <a:rPr/>
              <a:t>tous les hôtes d’une collection au même niveau de Windows Server</a:t>
            </a:r>
          </a:p>
          <a:p>
            <a:pPr lvl="0"/>
            <a:r>
              <a:rPr/>
              <a:t>Chaque collection est typée</a:t>
            </a:r>
          </a:p>
          <a:p>
            <a:pPr lvl="1"/>
            <a:r>
              <a:rPr/>
              <a:t>sessions : bureau et RemoteApp</a:t>
            </a:r>
          </a:p>
          <a:p>
            <a:pPr lvl="1"/>
            <a:r>
              <a:rPr/>
              <a:t>postes virtuels : regroupés ou personnels</a:t>
            </a:r>
          </a:p>
          <a:p>
            <a:pPr lvl="0"/>
            <a:r>
              <a:rPr/>
              <a:t>Elle définit qui peut se connecter et avec quels paramètres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collections d’Avaedos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3" name="Rounded Rectangle 12"/>
          <p:cNvSpPr/>
          <p:nvPr/>
        </p:nvSpPr>
        <p:spPr>
          <a:xfrm>
            <a:off x="288000" y="1728000"/>
            <a:ext cx="4212000" cy="3456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0000" y="1746000"/>
            <a:ext cx="4068000" cy="21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l"/>
            <a:r>
              <a:rPr sz="900" b="1">
                <a:solidFill>
                  <a:srgbClr val="A5A5A5"/>
                </a:solidFill>
                <a:latin typeface="Corbel"/>
              </a:rPr>
              <a:t>Collection RdsSesColl1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" y="2052000"/>
            <a:ext cx="3780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RDS-SESSION1</a:t>
            </a:r>
          </a:p>
          <a:p>
            <a:pPr algn="ctr"/>
            <a:r>
              <a:rPr sz="850" b="0">
                <a:solidFill>
                  <a:srgbClr val="44546A"/>
                </a:solidFill>
                <a:latin typeface="Corbel"/>
              </a:rPr>
              <a:t>hôte de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000" y="2736000"/>
            <a:ext cx="3780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RDS-SESSION2</a:t>
            </a:r>
          </a:p>
          <a:p>
            <a:pPr algn="ctr"/>
            <a:r>
              <a:rPr sz="850" b="0">
                <a:solidFill>
                  <a:srgbClr val="44546A"/>
                </a:solidFill>
                <a:latin typeface="Corbel"/>
              </a:rPr>
              <a:t>hôte de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" y="3420000"/>
            <a:ext cx="3780000" cy="25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44546A"/>
                </a:solidFill>
                <a:latin typeface="Corbel"/>
              </a:rPr>
              <a:t>Publie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000" y="3708000"/>
            <a:ext cx="3780000" cy="540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>
                <a:solidFill>
                  <a:srgbClr val="FFFFFF"/>
                </a:solidFill>
                <a:latin typeface="Corbel"/>
              </a:rPr>
              <a:t>Bureau de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4000" y="1728000"/>
            <a:ext cx="4212000" cy="3456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16000" y="1746000"/>
            <a:ext cx="4068000" cy="21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l"/>
            <a:r>
              <a:rPr sz="900" b="1">
                <a:solidFill>
                  <a:srgbClr val="A5A5A5"/>
                </a:solidFill>
                <a:latin typeface="Corbel"/>
              </a:rPr>
              <a:t>Collection RdsAppColl1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60000" y="2052000"/>
            <a:ext cx="3780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RDS-SESSION3</a:t>
            </a:r>
          </a:p>
          <a:p>
            <a:pPr algn="ctr"/>
            <a:r>
              <a:rPr sz="850" b="0">
                <a:solidFill>
                  <a:srgbClr val="44546A"/>
                </a:solidFill>
                <a:latin typeface="Corbel"/>
              </a:rPr>
              <a:t>hôte de session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60000" y="2736000"/>
            <a:ext cx="3780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RDS-SESSION4</a:t>
            </a:r>
          </a:p>
          <a:p>
            <a:pPr algn="ctr"/>
            <a:r>
              <a:rPr sz="850" b="0">
                <a:solidFill>
                  <a:srgbClr val="44546A"/>
                </a:solidFill>
                <a:latin typeface="Corbel"/>
              </a:rPr>
              <a:t>hôte de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0000" y="3420000"/>
            <a:ext cx="3780000" cy="25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44546A"/>
                </a:solidFill>
                <a:latin typeface="Corbel"/>
              </a:rPr>
              <a:t>Publie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0000" y="3708000"/>
            <a:ext cx="3780000" cy="540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>
                <a:solidFill>
                  <a:srgbClr val="FFFFFF"/>
                </a:solidFill>
                <a:latin typeface="Corbel"/>
              </a:rPr>
              <a:t>Bloc-notes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60000" y="4392000"/>
            <a:ext cx="3780000" cy="540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>
                <a:solidFill>
                  <a:srgbClr val="FFFFFF"/>
                </a:solidFill>
                <a:latin typeface="Corbel"/>
              </a:rPr>
              <a:t>Table des caractères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28000" y="5400000"/>
            <a:ext cx="3888000" cy="612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 Users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lthobois, bnedjimi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2376000" y="5184000"/>
            <a:ext cx="864000" cy="216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904000" y="5184000"/>
            <a:ext cx="864000" cy="216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Créer une collection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New-RDSessionCollection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CollectionName </a:t>
            </a:r>
            <a:r>
              <a:rPr>
                <a:solidFill>
                  <a:srgbClr val="4070A0"/>
                </a:solidFill>
                <a:latin typeface="Courier"/>
              </a:rPr>
              <a:t>"RdsSesColl1"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SessionHost RDS-SESSION1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             RDS-SESSION2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ConnectionBroker RDS-CBROKER1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  <a:br/>
            <a:r>
              <a:rPr>
                <a:latin typeface="Courier"/>
              </a:rPr>
              <a:t>Set-RDSessionCollectionConfiguration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CollectionName </a:t>
            </a:r>
            <a:r>
              <a:rPr>
                <a:solidFill>
                  <a:srgbClr val="4070A0"/>
                </a:solidFill>
                <a:latin typeface="Courier"/>
              </a:rPr>
              <a:t>"RdsSesColl1"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UserGroup </a:t>
            </a:r>
            <a:r>
              <a:rPr>
                <a:solidFill>
                  <a:srgbClr val="4070A0"/>
                </a:solidFill>
                <a:latin typeface="Courier"/>
              </a:rPr>
              <a:t>"AVAEDOS\RDS Users"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ConnectionBroker RDS-CBROKER1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</a:p>
        </p:txBody>
      </p:sp>
      <p:pic>
        <p:nvPicPr>
          <p:cNvPr descr="images/diapo-042-0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2374900"/>
            <a:ext cx="43180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Espace réservé du numéro de diapositive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propriétés d’une collection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Général : nom, description, visibilité dans l’accès Web</a:t>
            </a:r>
          </a:p>
          <a:p>
            <a:pPr lvl="0"/>
            <a:r>
              <a:rPr/>
              <a:t>Groupes d’utilisateurs autorisés</a:t>
            </a:r>
          </a:p>
          <a:p>
            <a:pPr lvl="0"/>
            <a:r>
              <a:rPr/>
              <a:t>Session : délais de déconnexion et d’inactivité</a:t>
            </a:r>
          </a:p>
          <a:p>
            <a:pPr lvl="0"/>
            <a:r>
              <a:rPr/>
              <a:t>Sécurité : couche de sécurité, niveau de chiffrement, NLA</a:t>
            </a:r>
          </a:p>
          <a:p>
            <a:pPr lvl="0"/>
            <a:r>
              <a:rPr/>
              <a:t>Équilibrage de charge : poids et limite de sessions par hôte</a:t>
            </a:r>
          </a:p>
          <a:p>
            <a:pPr lvl="0"/>
            <a:r>
              <a:rPr/>
              <a:t>Client : redirections autorisées</a:t>
            </a:r>
          </a:p>
          <a:p>
            <a:pPr lvl="0"/>
            <a:r>
              <a:rPr/>
              <a:t>Profils utilisateur : disques de profil utilisateur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Installer une application sur un hôte de session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 serveur doit être en mode « installation »</a:t>
            </a:r>
          </a:p>
          <a:p>
            <a:pPr lvl="1"/>
            <a:r>
              <a:rPr>
                <a:latin typeface="Courier"/>
              </a:rPr>
              <a:t>change user /install</a:t>
            </a:r>
            <a:r>
              <a:rPr/>
              <a:t> avant l’installation</a:t>
            </a:r>
          </a:p>
          <a:p>
            <a:pPr lvl="1"/>
            <a:r>
              <a:rPr>
                <a:latin typeface="Courier"/>
              </a:rPr>
              <a:t>change user /execute</a:t>
            </a:r>
            <a:r>
              <a:rPr/>
              <a:t> après l’installation</a:t>
            </a:r>
          </a:p>
          <a:p>
            <a:pPr lvl="0"/>
            <a:r>
              <a:rPr/>
              <a:t>Ou l’outil « Installer une application sur un serveur Bureau à distance » du Panneau de configuration</a:t>
            </a:r>
          </a:p>
          <a:p>
            <a:pPr lvl="0"/>
            <a:r>
              <a:rPr/>
              <a:t>Installer la même application sur tous les hôtes de la collection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Publier des programmes RemoteApp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Choix des applications à publier</a:t>
            </a:r>
          </a:p>
          <a:p>
            <a:pPr lvl="1"/>
            <a:r>
              <a:rPr/>
              <a:t>installées sur tous les hôtes de la collection</a:t>
            </a:r>
          </a:p>
          <a:p>
            <a:pPr lvl="1"/>
            <a:r>
              <a:rPr/>
              <a:t>visibilité limitable par groupe d’utilisateurs</a:t>
            </a:r>
          </a:p>
          <a:p>
            <a:pPr lvl="0"/>
            <a:r>
              <a:rPr/>
              <a:t>Fichiers de connexion signés par le certificat de publication</a:t>
            </a:r>
          </a:p>
          <a:p>
            <a:pPr lvl="0"/>
            <a:r>
              <a:rPr/>
              <a:t>Associations de fichiers : ouvrir un document local avec une RemoteApp</a:t>
            </a:r>
          </a:p>
          <a:p>
            <a:pPr lvl="0"/>
            <a:r>
              <a:rPr/>
              <a:t>Publier une RemoteApp masque par défaut le bureau de la collection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RemoteApp en PowerShell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New-RDRemoteApp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CollectionName </a:t>
            </a:r>
            <a:r>
              <a:rPr>
                <a:solidFill>
                  <a:srgbClr val="4070A0"/>
                </a:solidFill>
                <a:latin typeface="Courier"/>
              </a:rPr>
              <a:t>"RdsAppColl1"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DisplayName </a:t>
            </a:r>
            <a:r>
              <a:rPr>
                <a:solidFill>
                  <a:srgbClr val="4070A0"/>
                </a:solidFill>
                <a:latin typeface="Courier"/>
              </a:rPr>
              <a:t>"Bloc-notes"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FilePath </a:t>
            </a:r>
            <a:r>
              <a:rPr>
                <a:solidFill>
                  <a:srgbClr val="4070A0"/>
                </a:solidFill>
                <a:latin typeface="Courier"/>
              </a:rPr>
              <a:t>"C:\Windows\System32\notepad.exe"</a:t>
            </a:r>
            <a:r>
              <a:rPr>
                <a:latin typeface="Courier"/>
              </a:rPr>
              <a:t> `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ConnectionBroker RDS-CBROKER1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lan</a:t>
            </a:r>
          </a:p>
        </p:txBody>
      </p:sp>
      <p:pic>
        <p:nvPicPr>
          <p:cNvPr descr="images/diapo-044-0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2374900"/>
            <a:ext cx="43180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Espace réservé du numéro de diapositive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distribution des ressources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Portail d’accès Web : liste des ressources, lancement par fichier RDP</a:t>
            </a:r>
          </a:p>
          <a:p>
            <a:pPr lvl="0"/>
            <a:r>
              <a:rPr/>
              <a:t>Client web HTML5 : tout dans le navigateur</a:t>
            </a:r>
          </a:p>
          <a:p>
            <a:pPr lvl="0"/>
            <a:r>
              <a:rPr/>
              <a:t>Flux d’abonnement : ressources intégrées au menu Démarrer</a:t>
            </a:r>
          </a:p>
          <a:p>
            <a:pPr lvl="0"/>
            <a:r>
              <a:rPr/>
              <a:t>Fichiers RDP : raccourcis distribués, signés</a:t>
            </a:r>
          </a:p>
          <a:p>
            <a:pPr lvl="0"/>
            <a:r>
              <a:rPr/>
              <a:t>Windows App : sur macOS, iOS, iPadOS et Android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points d’accès des utilisateurs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3" name="Rounded Rectangle 12"/>
          <p:cNvSpPr/>
          <p:nvPr/>
        </p:nvSpPr>
        <p:spPr>
          <a:xfrm>
            <a:off x="288000" y="1764000"/>
            <a:ext cx="2304000" cy="6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>
                <a:solidFill>
                  <a:srgbClr val="44546A"/>
                </a:solidFill>
                <a:latin typeface="Corbel"/>
              </a:rPr>
              <a:t>Portail RD Web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" y="2610000"/>
            <a:ext cx="2304000" cy="6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>
                <a:solidFill>
                  <a:srgbClr val="44546A"/>
                </a:solidFill>
                <a:latin typeface="Corbel"/>
              </a:rPr>
              <a:t>Client web HTML5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00" y="3456000"/>
            <a:ext cx="2304000" cy="6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>
                <a:solidFill>
                  <a:srgbClr val="44546A"/>
                </a:solidFill>
                <a:latin typeface="Corbel"/>
              </a:rPr>
              <a:t>Flux d'abonnement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00" y="4302000"/>
            <a:ext cx="2304000" cy="6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>
                <a:solidFill>
                  <a:srgbClr val="44546A"/>
                </a:solidFill>
                <a:latin typeface="Corbel"/>
              </a:rPr>
              <a:t>Windows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00" y="5148000"/>
            <a:ext cx="2304000" cy="6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>
                <a:solidFill>
                  <a:srgbClr val="44546A"/>
                </a:solidFill>
                <a:latin typeface="Corbel"/>
              </a:rPr>
              <a:t>Fichier RDP signé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0" y="2016000"/>
            <a:ext cx="1872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Accès Web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rds.avaedos.lan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0" y="3960000"/>
            <a:ext cx="1872000" cy="936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Connection Broker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rbel"/>
              </a:rPr>
              <a:t>RDS-CBROKER1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6000" y="3024000"/>
            <a:ext cx="2160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Collections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RdsSesColl1, RdsAppColl1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92000" y="2070000"/>
            <a:ext cx="1008000" cy="414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592000" y="2484000"/>
            <a:ext cx="1008000" cy="432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592000" y="2484000"/>
            <a:ext cx="1008000" cy="1278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592000" y="2484000"/>
            <a:ext cx="1008000" cy="2124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92000" y="4428000"/>
            <a:ext cx="1008000" cy="1026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36000" y="2952000"/>
            <a:ext cx="0" cy="1008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472000" y="3492000"/>
            <a:ext cx="1224000" cy="936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8000" y="5976000"/>
            <a:ext cx="8568000" cy="32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ctr"/>
            <a:r>
              <a:rPr sz="1050" b="0" i="1">
                <a:solidFill>
                  <a:srgbClr val="A5A5A5"/>
                </a:solidFill>
                <a:latin typeface="Corbel"/>
              </a:rPr>
              <a:t>Quel que soit le point d'accès, la décision de connexion revient au Connection Broker.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client web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Install-Module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Name RDWebClientManagement</a:t>
            </a:r>
            <a:br/>
            <a:r>
              <a:rPr>
                <a:latin typeface="Courier"/>
              </a:rPr>
              <a:t>Install-RDWebClientPackage</a:t>
            </a:r>
            <a:br/>
            <a:r>
              <a:rPr>
                <a:latin typeface="Courier"/>
              </a:rPr>
              <a:t>Import-RDWebClientBrokerCert 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\Certificats\rds-avaedos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cer</a:t>
            </a:r>
            <a:br/>
            <a:r>
              <a:rPr>
                <a:latin typeface="Courier"/>
              </a:rPr>
              <a:t>Publish-RDWebClientPackage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Type Production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Latest</a:t>
            </a:r>
          </a:p>
          <a:p>
            <a:pPr lvl="0"/>
            <a:r>
              <a:rPr/>
              <a:t>Accès : </a:t>
            </a:r>
            <a:r>
              <a:rPr>
                <a:latin typeface="Courier"/>
              </a:rPr>
              <a:t>https://rds.avaedos.lan/RDWeb/webclient/index.html</a:t>
            </a:r>
          </a:p>
          <a:p>
            <a:pPr lvl="0"/>
            <a:r>
              <a:rPr/>
              <a:t>Exige une passerelle RDS dans le déploiement</a:t>
            </a:r>
          </a:p>
          <a:p>
            <a:pPr lvl="0"/>
            <a:r>
              <a:rPr/>
              <a:t>Exige des certificats approuvés et des CAL par utilisateur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clients Bureau à distance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3500" y="1498600"/>
          <a:ext cx="8991600" cy="492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/>
                <a:gridCol w="4495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Plateforme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 pour RDS sur site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Connexion Bureau à distance (</a:t>
                      </a:r>
                      <a:r>
                        <a:rPr>
                          <a:latin typeface="Courier"/>
                        </a:rPr>
                        <a:t>mstsc</a:t>
                      </a:r>
                      <a:r>
                        <a:rPr/>
                        <a:t>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macOS, iOS, iPadOS, Android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Windows App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Navigateur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 web RDS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fonctionnalités du client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Multi-écran : </a:t>
            </a:r>
            <a:r>
              <a:rPr>
                <a:latin typeface="Courier"/>
              </a:rPr>
              <a:t>mstsc /multimon</a:t>
            </a:r>
          </a:p>
          <a:p>
            <a:pPr lvl="0"/>
            <a:r>
              <a:rPr/>
              <a:t>Adaptation dynamique de la résolution</a:t>
            </a:r>
          </a:p>
          <a:p>
            <a:pPr lvl="0"/>
            <a:r>
              <a:rPr/>
              <a:t>Redirection des périphériques locaux</a:t>
            </a:r>
          </a:p>
          <a:p>
            <a:pPr lvl="0"/>
            <a:r>
              <a:rPr/>
              <a:t>Transport UDP</a:t>
            </a:r>
          </a:p>
          <a:p>
            <a:pPr lvl="0"/>
            <a:r>
              <a:rPr/>
              <a:t>Signature des fichiers RDP vérifiée à l’ouverture</a:t>
            </a:r>
          </a:p>
        </p:txBody>
      </p:sp>
      <p:pic>
        <p:nvPicPr>
          <p:cNvPr descr="images/diapo-046-0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943100"/>
            <a:ext cx="4318000" cy="402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Espace réservé du numéro de diapositive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1 – Ferme de sessions et RemoteApp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Déployer RDS-CBROKER1, RDS-GATEWAY1 et les hôtes RDS-SESSION1 à RDS-SESSION4</a:t>
            </a:r>
          </a:p>
          <a:p>
            <a:pPr lvl="0"/>
            <a:r>
              <a:rPr/>
              <a:t>Installer le serveur de licences et les certificats du déploiement</a:t>
            </a:r>
          </a:p>
          <a:p>
            <a:pPr lvl="0"/>
            <a:r>
              <a:rPr/>
              <a:t>Créer les collections </a:t>
            </a:r>
            <a:r>
              <a:rPr>
                <a:latin typeface="Courier"/>
              </a:rPr>
              <a:t>RdsSesColl1</a:t>
            </a:r>
            <a:r>
              <a:rPr/>
              <a:t> (bureau) et </a:t>
            </a:r>
            <a:r>
              <a:rPr>
                <a:latin typeface="Courier"/>
              </a:rPr>
              <a:t>RdsAppColl1</a:t>
            </a:r>
            <a:r>
              <a:rPr/>
              <a:t> (RemoteApp)</a:t>
            </a:r>
          </a:p>
          <a:p>
            <a:pPr lvl="0"/>
            <a:r>
              <a:rPr/>
              <a:t>Publier le Bloc-notes et la Table des caractères dans </a:t>
            </a:r>
            <a:r>
              <a:rPr>
                <a:latin typeface="Courier"/>
              </a:rPr>
              <a:t>RdsAppColl1</a:t>
            </a:r>
          </a:p>
          <a:p>
            <a:pPr lvl="0"/>
            <a:r>
              <a:rPr/>
              <a:t>Se connecter en tant que </a:t>
            </a:r>
            <a:r>
              <a:rPr>
                <a:latin typeface="Courier"/>
              </a:rPr>
              <a:t>lthobois</a:t>
            </a:r>
            <a:r>
              <a:rPr/>
              <a:t> par </a:t>
            </a:r>
            <a:r>
              <a:rPr>
                <a:latin typeface="Courier"/>
              </a:rPr>
              <a:t>mstsc</a:t>
            </a:r>
            <a:r>
              <a:rPr/>
              <a:t>, par le portail d’accès Web et par le flux d’abonnement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Avez-vous des questions ?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èle EGILI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_EGILIA-Template.potx" id="{308816F5-4877-444A-9C2E-10E8B589F71D}" vid="{A8E82A1B-84CC-4282-8223-F7357AEA6CE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EGILIA-Template%20v2.5</Template>
  <TotalTime>0</TotalTime>
  <Words>0</Words>
  <Application>Microsoft Office PowerPoint</Application>
  <PresentationFormat>Affichage à l'écran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7" baseType="lpstr">
      <vt:lpstr>Arial</vt:lpstr>
      <vt:lpstr>Calibri</vt:lpstr>
      <vt:lpstr>Corbel</vt:lpstr>
      <vt:lpstr>Wingdings</vt:lpstr>
      <vt:lpstr>Wingdings 2</vt:lpstr>
      <vt:lpstr>Wingdings 3</vt:lpstr>
      <vt:lpstr>Modèle EGILIA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2026-09-22T19:57:05Z</dcterms:created>
  <dcterms:modified xsi:type="dcterms:W3CDTF">2026-09-22T19:57:05Z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ion">
    <vt:lpwstr>Remote Desktop Services sous Windows Server 2025</vt:lpwstr>
  </property>
</Properties>
</file>